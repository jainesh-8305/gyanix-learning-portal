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slides/charts/chart1.xml" ContentType="application/vnd.openxmlformats-officedocument.drawingml.chart+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e0b4b16a84d94468" /><Relationship Type="http://schemas.openxmlformats.org/officeDocument/2006/relationships/extended-properties" Target="/docProps/app.xml" Id="R4229dca449134a7d" /><Relationship Type="http://schemas.openxmlformats.org/officeDocument/2006/relationships/officeDocument" Target="/ppt/presentation.xml" Id="R160f09c60b034013" /></Relationships>
</file>

<file path=ppt/presentation.xml><?xml version="1.0" encoding="utf-8"?>
<p:presentation xmlns:p="http://schemas.openxmlformats.org/presentationml/2006/main">
  <p:sldMasterIdLst>
    <p:sldMasterId xmlns:r="http://schemas.openxmlformats.org/officeDocument/2006/relationships" id="2147483648" r:id="R764d75e511da4481"/>
  </p:sldMasterIdLst>
  <p:notesMasterIdLst>
    <p:notesMasterId xmlns:r="http://schemas.openxmlformats.org/officeDocument/2006/relationships" r:id="Rf3b0fce0cb014c55"/>
  </p:notesMasterIdLst>
  <p:sldIdLst>
    <p:sldId xmlns:r="http://schemas.openxmlformats.org/officeDocument/2006/relationships" id="256" r:id="Rb1f7cb1e2c8f4c06"/>
    <p:sldId xmlns:r="http://schemas.openxmlformats.org/officeDocument/2006/relationships" id="257" r:id="R7aeebcde20a34932"/>
    <p:sldId xmlns:r="http://schemas.openxmlformats.org/officeDocument/2006/relationships" id="258" r:id="R55ffe09591b14566"/>
    <p:sldId xmlns:r="http://schemas.openxmlformats.org/officeDocument/2006/relationships" id="259" r:id="R73cfb5a5c80847a6"/>
    <p:sldId xmlns:r="http://schemas.openxmlformats.org/officeDocument/2006/relationships" id="260" r:id="R8ecd0ab835274634"/>
    <p:sldId xmlns:r="http://schemas.openxmlformats.org/officeDocument/2006/relationships" id="261" r:id="Rbcc59185c86e4732"/>
    <p:sldId xmlns:r="http://schemas.openxmlformats.org/officeDocument/2006/relationships" id="262" r:id="Re63a57b4b52b424e"/>
    <p:sldId xmlns:r="http://schemas.openxmlformats.org/officeDocument/2006/relationships" id="263" r:id="R36bb03b2245a4456"/>
    <p:sldId xmlns:r="http://schemas.openxmlformats.org/officeDocument/2006/relationships" id="264" r:id="R99db7f0074814fd8"/>
    <p:sldId xmlns:r="http://schemas.openxmlformats.org/officeDocument/2006/relationships" id="265" r:id="Rcb7dcb2446d14e80"/>
    <p:sldId xmlns:r="http://schemas.openxmlformats.org/officeDocument/2006/relationships" id="266" r:id="R21b0313a36e6421d"/>
    <p:sldId xmlns:r="http://schemas.openxmlformats.org/officeDocument/2006/relationships" id="267" r:id="R005b0279dd4d4328"/>
    <p:sldId xmlns:r="http://schemas.openxmlformats.org/officeDocument/2006/relationships" id="268" r:id="Rebe0786bc45b4c14"/>
    <p:sldId xmlns:r="http://schemas.openxmlformats.org/officeDocument/2006/relationships" id="269" r:id="R163774080f5847a2"/>
    <p:sldId xmlns:r="http://schemas.openxmlformats.org/officeDocument/2006/relationships" id="270" r:id="Rb7f18ff8eefb4832"/>
    <p:sldId xmlns:r="http://schemas.openxmlformats.org/officeDocument/2006/relationships" id="271" r:id="R7a4f04bb4f0740b2"/>
    <p:sldId xmlns:r="http://schemas.openxmlformats.org/officeDocument/2006/relationships" id="272" r:id="R66890b08a9e34d20"/>
    <p:sldId xmlns:r="http://schemas.openxmlformats.org/officeDocument/2006/relationships" id="273" r:id="R0d2b3c9744124e8a"/>
    <p:sldId xmlns:r="http://schemas.openxmlformats.org/officeDocument/2006/relationships" id="274" r:id="R241696dcf2b24315"/>
    <p:sldId xmlns:r="http://schemas.openxmlformats.org/officeDocument/2006/relationships" id="275" r:id="Rf518011c4f8b4163"/>
    <p:sldId xmlns:r="http://schemas.openxmlformats.org/officeDocument/2006/relationships" id="276" r:id="R636c1cf74f0a4563"/>
    <p:sldId xmlns:r="http://schemas.openxmlformats.org/officeDocument/2006/relationships" id="277" r:id="Rb404215996bc4d63"/>
    <p:sldId xmlns:r="http://schemas.openxmlformats.org/officeDocument/2006/relationships" id="278" r:id="R6af3b5db2fb04102"/>
    <p:sldId xmlns:r="http://schemas.openxmlformats.org/officeDocument/2006/relationships" id="279" r:id="R315d6d1fc4a84f1f"/>
    <p:sldId xmlns:r="http://schemas.openxmlformats.org/officeDocument/2006/relationships" id="280" r:id="R061b17420c7549fe"/>
    <p:sldId xmlns:r="http://schemas.openxmlformats.org/officeDocument/2006/relationships" id="281" r:id="R82f03bed16864b1f"/>
    <p:sldId xmlns:r="http://schemas.openxmlformats.org/officeDocument/2006/relationships" id="282" r:id="Rc7a995f44e7342d5"/>
    <p:sldId xmlns:r="http://schemas.openxmlformats.org/officeDocument/2006/relationships" id="283" r:id="R7e2eab61c6084189"/>
    <p:sldId xmlns:r="http://schemas.openxmlformats.org/officeDocument/2006/relationships" id="284" r:id="R0a3422c8e30d40f4"/>
    <p:sldId xmlns:r="http://schemas.openxmlformats.org/officeDocument/2006/relationships" id="285" r:id="R61df5afd9c8f408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a856e5ae894538" /><Relationship Type="http://schemas.openxmlformats.org/officeDocument/2006/relationships/slideMaster" Target="/ppt/slideMasters/slideMaster1.xml" Id="R764d75e511da4481" /><Relationship Type="http://schemas.openxmlformats.org/officeDocument/2006/relationships/notesMaster" Target="/ppt/notesMasters/notesMaster1.xml" Id="Rf3b0fce0cb014c55" /><Relationship Type="http://schemas.openxmlformats.org/officeDocument/2006/relationships/presProps" Target="/ppt/presProps.xml" Id="R53ae81198e034c9e" /><Relationship Type="http://schemas.openxmlformats.org/officeDocument/2006/relationships/tableStyles" Target="/ppt/tableStyles.xml" Id="Rd54b9fb97ad949e3" /><Relationship Type="http://schemas.openxmlformats.org/officeDocument/2006/relationships/slide" Target="/ppt/slides/slide1.xml" Id="Rb1f7cb1e2c8f4c06" /><Relationship Type="http://schemas.openxmlformats.org/officeDocument/2006/relationships/slide" Target="/ppt/slides/slide2.xml" Id="R7aeebcde20a34932" /><Relationship Type="http://schemas.openxmlformats.org/officeDocument/2006/relationships/slide" Target="/ppt/slides/slide3.xml" Id="R55ffe09591b14566" /><Relationship Type="http://schemas.openxmlformats.org/officeDocument/2006/relationships/slide" Target="/ppt/slides/slide4.xml" Id="R73cfb5a5c80847a6" /><Relationship Type="http://schemas.openxmlformats.org/officeDocument/2006/relationships/slide" Target="/ppt/slides/slide5.xml" Id="R8ecd0ab835274634" /><Relationship Type="http://schemas.openxmlformats.org/officeDocument/2006/relationships/slide" Target="/ppt/slides/slide6.xml" Id="Rbcc59185c86e4732" /><Relationship Type="http://schemas.openxmlformats.org/officeDocument/2006/relationships/slide" Target="/ppt/slides/slide7.xml" Id="Re63a57b4b52b424e" /><Relationship Type="http://schemas.openxmlformats.org/officeDocument/2006/relationships/slide" Target="/ppt/slides/slide8.xml" Id="R36bb03b2245a4456" /><Relationship Type="http://schemas.openxmlformats.org/officeDocument/2006/relationships/slide" Target="/ppt/slides/slide9.xml" Id="R99db7f0074814fd8" /><Relationship Type="http://schemas.openxmlformats.org/officeDocument/2006/relationships/slide" Target="/ppt/slides/slide10.xml" Id="Rcb7dcb2446d14e80" /><Relationship Type="http://schemas.openxmlformats.org/officeDocument/2006/relationships/slide" Target="/ppt/slides/slide11.xml" Id="R21b0313a36e6421d" /><Relationship Type="http://schemas.openxmlformats.org/officeDocument/2006/relationships/slide" Target="/ppt/slides/slide12.xml" Id="R005b0279dd4d4328" /><Relationship Type="http://schemas.openxmlformats.org/officeDocument/2006/relationships/slide" Target="/ppt/slides/slide13.xml" Id="Rebe0786bc45b4c14" /><Relationship Type="http://schemas.openxmlformats.org/officeDocument/2006/relationships/slide" Target="/ppt/slides/slide14.xml" Id="R163774080f5847a2" /><Relationship Type="http://schemas.openxmlformats.org/officeDocument/2006/relationships/slide" Target="/ppt/slides/slide15.xml" Id="Rb7f18ff8eefb4832" /><Relationship Type="http://schemas.openxmlformats.org/officeDocument/2006/relationships/slide" Target="/ppt/slides/slide16.xml" Id="R7a4f04bb4f0740b2" /><Relationship Type="http://schemas.openxmlformats.org/officeDocument/2006/relationships/slide" Target="/ppt/slides/slide17.xml" Id="R66890b08a9e34d20" /><Relationship Type="http://schemas.openxmlformats.org/officeDocument/2006/relationships/slide" Target="/ppt/slides/slide18.xml" Id="R0d2b3c9744124e8a" /><Relationship Type="http://schemas.openxmlformats.org/officeDocument/2006/relationships/slide" Target="/ppt/slides/slide19.xml" Id="R241696dcf2b24315" /><Relationship Type="http://schemas.openxmlformats.org/officeDocument/2006/relationships/slide" Target="/ppt/slides/slide20.xml" Id="Rf518011c4f8b4163" /><Relationship Type="http://schemas.openxmlformats.org/officeDocument/2006/relationships/slide" Target="/ppt/slides/slide21.xml" Id="R636c1cf74f0a4563" /><Relationship Type="http://schemas.openxmlformats.org/officeDocument/2006/relationships/slide" Target="/ppt/slides/slide22.xml" Id="Rb404215996bc4d63" /><Relationship Type="http://schemas.openxmlformats.org/officeDocument/2006/relationships/slide" Target="/ppt/slides/slide23.xml" Id="R6af3b5db2fb04102" /><Relationship Type="http://schemas.openxmlformats.org/officeDocument/2006/relationships/slide" Target="/ppt/slides/slide24.xml" Id="R315d6d1fc4a84f1f" /><Relationship Type="http://schemas.openxmlformats.org/officeDocument/2006/relationships/slide" Target="/ppt/slides/slide25.xml" Id="R061b17420c7549fe" /><Relationship Type="http://schemas.openxmlformats.org/officeDocument/2006/relationships/slide" Target="/ppt/slides/slide26.xml" Id="R82f03bed16864b1f" /><Relationship Type="http://schemas.openxmlformats.org/officeDocument/2006/relationships/slide" Target="/ppt/slides/slide27.xml" Id="Rc7a995f44e7342d5" /><Relationship Type="http://schemas.openxmlformats.org/officeDocument/2006/relationships/slide" Target="/ppt/slides/slide28.xml" Id="R7e2eab61c6084189" /><Relationship Type="http://schemas.openxmlformats.org/officeDocument/2006/relationships/slide" Target="/ppt/slides/slide29.xml" Id="R0a3422c8e30d40f4" /><Relationship Type="http://schemas.openxmlformats.org/officeDocument/2006/relationships/slide" Target="/ppt/slides/slide30.xml" Id="R61df5afd9c8f408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7298fa302fd441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2cacdb84034cdc" /><Relationship Type="http://schemas.openxmlformats.org/officeDocument/2006/relationships/notesMaster" Target="/ppt/notesMasters/notesMaster1.xml" Id="R7fdc34cc43c0449d"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9a0cb555124323" /><Relationship Type="http://schemas.openxmlformats.org/officeDocument/2006/relationships/notesMaster" Target="/ppt/notesMasters/notesMaster1.xml" Id="Rb9b9253f2a274d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7f5638f89e57458f" /><Relationship Type="http://schemas.openxmlformats.org/officeDocument/2006/relationships/notesMaster" Target="/ppt/notesMasters/notesMaster1.xml" Id="Rb8a4021af7be42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a7f301662d45a4" /><Relationship Type="http://schemas.openxmlformats.org/officeDocument/2006/relationships/notesMaster" Target="/ppt/notesMasters/notesMaster1.xml" Id="R940cad4bafed4f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db4d45f7f26c41ab" /><Relationship Type="http://schemas.openxmlformats.org/officeDocument/2006/relationships/notesMaster" Target="/ppt/notesMasters/notesMaster1.xml" Id="Rdccdbb3ce773469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64f26f41a2c458c" /><Relationship Type="http://schemas.openxmlformats.org/officeDocument/2006/relationships/notesMaster" Target="/ppt/notesMasters/notesMaster1.xml" Id="R90195f63f7894d05"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8783fde8354bcc" /><Relationship Type="http://schemas.openxmlformats.org/officeDocument/2006/relationships/notesMaster" Target="/ppt/notesMasters/notesMaster1.xml" Id="R2d0b8d470b864d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5445118c89431f" /><Relationship Type="http://schemas.openxmlformats.org/officeDocument/2006/relationships/notesMaster" Target="/ppt/notesMasters/notesMaster1.xml" Id="R53999d17117640cf" /></Relationships>
</file>

<file path=ppt/notesSlides/_rels/notesSlide9.xml.rels>&#65279;<?xml version="1.0" encoding="utf-8"?><Relationships xmlns="http://schemas.openxmlformats.org/package/2006/relationships"><Relationship Type="http://schemas.openxmlformats.org/officeDocument/2006/relationships/slide" Target="/ppt/slides/slide9.xml" Id="R746ff285bc03489a" /><Relationship Type="http://schemas.openxmlformats.org/officeDocument/2006/relationships/notesMaster" Target="/ppt/notesMasters/notesMaster1.xml" Id="Rb7269362bb564ba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0f476021acf42be" /><Relationship Type="http://schemas.openxmlformats.org/officeDocument/2006/relationships/notesMaster" Target="/ppt/notesMasters/notesMaster1.xml" Id="R94ffa3293c6e4319"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2cd4af6dbf1499e" /><Relationship Type="http://schemas.openxmlformats.org/officeDocument/2006/relationships/notesMaster" Target="/ppt/notesMasters/notesMaster1.xml" Id="Rd0d44e847a73478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b6d8af2a2b1458b" /><Relationship Type="http://schemas.openxmlformats.org/officeDocument/2006/relationships/notesMaster" Target="/ppt/notesMasters/notesMaster1.xml" Id="R45000637dd2c43a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12543c956b8400d" /><Relationship Type="http://schemas.openxmlformats.org/officeDocument/2006/relationships/notesMaster" Target="/ppt/notesMasters/notesMaster1.xml" Id="Rf2c51f4d8243428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be75e4d658a4d1f" /><Relationship Type="http://schemas.openxmlformats.org/officeDocument/2006/relationships/notesMaster" Target="/ppt/notesMasters/notesMaster1.xml" Id="R446fe2207328486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d3ad0db7ada4364" /><Relationship Type="http://schemas.openxmlformats.org/officeDocument/2006/relationships/notesMaster" Target="/ppt/notesMasters/notesMaster1.xml" Id="Rcb102a60fe20437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09ebc74384b445c" /><Relationship Type="http://schemas.openxmlformats.org/officeDocument/2006/relationships/notesMaster" Target="/ppt/notesMasters/notesMaster1.xml" Id="R35958285efe448d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ea60e94a1dd40c0" /><Relationship Type="http://schemas.openxmlformats.org/officeDocument/2006/relationships/notesMaster" Target="/ppt/notesMasters/notesMaster1.xml" Id="Rcbf6257342ef4ee9"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f9baf398b4d4762" /><Relationship Type="http://schemas.openxmlformats.org/officeDocument/2006/relationships/notesMaster" Target="/ppt/notesMasters/notesMaster1.xml" Id="R316fba4283154d0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6f000d06ed88468e" /><Relationship Type="http://schemas.openxmlformats.org/officeDocument/2006/relationships/notesMaster" Target="/ppt/notesMasters/notesMaster1.xml" Id="R66df0b4d876b4390"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4c15c62af084619" /><Relationship Type="http://schemas.openxmlformats.org/officeDocument/2006/relationships/notesMaster" Target="/ppt/notesMasters/notesMaster1.xml" Id="Raddbefbed98e449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24ed91782b14dd8" /><Relationship Type="http://schemas.openxmlformats.org/officeDocument/2006/relationships/notesMaster" Target="/ppt/notesMasters/notesMaster1.xml" Id="Rb87697a490094c9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caacb00a3df451f" /><Relationship Type="http://schemas.openxmlformats.org/officeDocument/2006/relationships/notesMaster" Target="/ppt/notesMasters/notesMaster1.xml" Id="R41ac5dd21c3541ca"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d407c8fea32439d" /><Relationship Type="http://schemas.openxmlformats.org/officeDocument/2006/relationships/notesMaster" Target="/ppt/notesMasters/notesMaster1.xml" Id="R6c4ffe6e9a334de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a0f5159a63fe4974" /><Relationship Type="http://schemas.openxmlformats.org/officeDocument/2006/relationships/notesMaster" Target="/ppt/notesMasters/notesMaster1.xml" Id="R392981edd3ab4d6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a5aca92d26445e6" /><Relationship Type="http://schemas.openxmlformats.org/officeDocument/2006/relationships/notesMaster" Target="/ppt/notesMasters/notesMaster1.xml" Id="Rf2e67f882a6d4d9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8d6eef04dd44b75" /><Relationship Type="http://schemas.openxmlformats.org/officeDocument/2006/relationships/notesMaster" Target="/ppt/notesMasters/notesMaster1.xml" Id="R36d95efb5c9c4c99"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61aacc921024cdf" /><Relationship Type="http://schemas.openxmlformats.org/officeDocument/2006/relationships/notesMaster" Target="/ppt/notesMasters/notesMaster1.xml" Id="Rafbfade8ebdc4646"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e92d5ce1476c4405" /><Relationship Type="http://schemas.openxmlformats.org/officeDocument/2006/relationships/notesMaster" Target="/ppt/notesMasters/notesMaster1.xml" Id="Re7f31f937e4b45a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d298e33bc1a940d9" /><Relationship Type="http://schemas.openxmlformats.org/officeDocument/2006/relationships/notesMaster" Target="/ppt/notesMasters/notesMaster1.xml" Id="R2da63e248535455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24f17924f3e74644" /><Relationship Type="http://schemas.openxmlformats.org/officeDocument/2006/relationships/notesMaster" Target="/ppt/notesMasters/notesMaster1.xml" Id="R8fc0d744881d4d3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title and the team. Gyanix is a web application for managing classroom learning across students, instructors and administrators. The presentation explains the actual revised local implementation, its workflows, database and security controls, and the evidence from local QA. All published courses are free. The configured LLM integration is implemented, while real provider quality testing still needs credentials.</a:t>
            </a:r>
          </a:p>
          <a:p xmlns:a="http://schemas.openxmlformats.org/drawingml/2006/main">
            <a:r>
              <a:t/>
            </a:r>
          </a:p>
          <a:p xmlns:a="http://schemas.openxmlformats.org/drawingml/2006/main">
            <a:r>
              <a:t>Source: README.md; Internship_Report.md; https://github.com/Jainesh-8305/gyanix-learning-portal</a:t>
            </a:r>
          </a:p>
          <a:p xmlns:a="http://schemas.openxmlformats.org/drawingml/2006/main">
            <a:r>
              <a:t>Cover: AI-generated conceptual illustration, not a screenshot of the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portal as a place where classroom work stays connected. An instructor prepares a curriculum and sends it for approval. An administrator publishes it. Students enroll, study, submit assignments and view their own results. The application also provides private study notes, flashcards and contextual help. Explain that free enrollment does not remove access checks: publication state and membership still decide access to learning material.</a:t>
            </a:r>
          </a:p>
          <a:p xmlns:a="http://schemas.openxmlformats.org/drawingml/2006/main">
            <a:r>
              <a:t/>
            </a:r>
          </a:p>
          <a:p xmlns:a="http://schemas.openxmlformats.org/drawingml/2006/main">
            <a:r>
              <a:t>Sources: README.md; Internship_Report.md</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are the design problems the project addresses, rather than measured claims about a surveyed college. Course material may otherwise be spread across videos, links and classroom messages. Manual checking makes it hard to follow deadlines or confirm progress. A shared system also needs clear boundaries so students cannot read other students’ private work and instructors only manage their own classrooms. The project brings these operations into one controlled workflow.</a:t>
            </a:r>
          </a:p>
          <a:p xmlns:a="http://schemas.openxmlformats.org/drawingml/2006/main">
            <a:r>
              <a:t/>
            </a:r>
          </a:p>
          <a:p xmlns:a="http://schemas.openxmlformats.org/drawingml/2006/main">
            <a:r>
              <a:t>Sources: README.md; ARCHITECTURE.md</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intended outcomes without claiming deployment-scale results. Students should be able to enroll without payment and resume learning. Instructors should be able to manage a curriculum and grade submissions. Administrators should control publication. The application must enforce permissions on the backend, keep private study records separate, and make AI assistance clear about its sources and availability. External accreditation, payment processing and autonomous administrative actions are outside the project.</a:t>
            </a:r>
          </a:p>
          <a:p xmlns:a="http://schemas.openxmlformats.org/drawingml/2006/main">
            <a:r>
              <a:t/>
            </a:r>
          </a:p>
          <a:p xmlns:a="http://schemas.openxmlformats.org/drawingml/2006/main">
            <a:r>
              <a:t>Sources: README.md; CHATBOT_SECURITY.md</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three roles and the separation between feature access and record ownership. An instructor role alone does not permit editing another instructor’s course. A student must also be enrolled before using protected classroom material. Admin operations remain separate from ordinary learning operations. The assistant follows these backend rules and cannot promote an account or perform administrative mutations.</a:t>
            </a:r>
          </a:p>
          <a:p xmlns:a="http://schemas.openxmlformats.org/drawingml/2006/main">
            <a:r>
              <a:t/>
            </a:r>
          </a:p>
          <a:p xmlns:a="http://schemas.openxmlformats.org/drawingml/2006/main">
            <a:r>
              <a:t>Sources: README.md; backend/src/middleware/auth.js; backend/src/middleware/roles.js</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frontend uses Next.js with React and TypeScript. Express implements the HTTP API on Node.js. MongoDB stores documents and Mongoose applies schemas and references. SWR handles client data requests and account-scoped caching. OpenAI Responses and embeddings are optional backend integrations. Docker provides repeatable production containers. The versions listed come from the project package files, rather than a claim about the newest public versions.</a:t>
            </a:r>
          </a:p>
          <a:p xmlns:a="http://schemas.openxmlformats.org/drawingml/2006/main">
            <a:r>
              <a:t/>
            </a:r>
          </a:p>
          <a:p xmlns:a="http://schemas.openxmlformats.org/drawingml/2006/main">
            <a:r>
              <a:t>Sources: frontend/package.json; backend/package.json; docker-compose.yml</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browser sends a request to the Express API using a bearer token for protected operations. Authentication verifies the current account in MongoDB. Controllers then enforce role, ownership, publication and enrollment rules. Data services read or update the database. The assistant adds a controlled retrieval and optional provider step. The browser never receives the provider key and the model does not decide which records the caller may access.</a:t>
            </a:r>
          </a:p>
          <a:p xmlns:a="http://schemas.openxmlformats.org/drawingml/2006/main">
            <a:r>
              <a:t/>
            </a:r>
          </a:p>
          <a:p xmlns:a="http://schemas.openxmlformats.org/drawingml/2006/main">
            <a:r>
              <a:t>Sources: ARCHITECTURE.md; backend/server.js; backend/src/services/chat.service.js</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MongoDB documents model the project’s major entities. Users can teach many courses and students can join many courses through Enrollment records. Course sections and lessons are embedded in Course. Each quiz has server-owned questions and each learner attempt stores its own lifecycle. Assignments embed their submissions. A certificate references its student, course, enrollment and passed assessment attempt. Private notes, flashcards and conversations always include an owner field.</a:t>
            </a:r>
          </a:p>
          <a:p xmlns:a="http://schemas.openxmlformats.org/drawingml/2006/main">
            <a:r>
              <a:t/>
            </a:r>
          </a:p>
          <a:p xmlns:a="http://schemas.openxmlformats.org/drawingml/2006/main">
            <a:r>
              <a:t>Sources: backend/src/models/Course.js; backend/src/models/Enrollment.js; backend/src/models/Assignment.js; backend/src/models/Certificate.js</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complete route from content preparation to student access. An instructor saves a draft, adds lesson media and duration, then submits for review. An administrator can request edits or publish the course. A student enrolls directly or joins with a classroom code. Course publication and protected-material access remain enforced even though payment has been removed. Editing a published curriculum returns it to draft and archiving preserves learning history.</a:t>
            </a:r>
          </a:p>
          <a:p xmlns:a="http://schemas.openxmlformats.org/drawingml/2006/main">
            <a:r>
              <a:t/>
            </a:r>
          </a:p>
          <a:p xmlns:a="http://schemas.openxmlformats.org/drawingml/2006/main">
            <a:r>
              <a:t>Sources: backend/src/controllers/course.controller.js; backend/src/controllers/enrollment.controller.js; audit/enhancements/evidence/browser-checks.json</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screenshot to point out the shared sidebar, summary metrics, course progress and upcoming work. The student dashboard uses one bounded backend summary response. Assignment rows show only this learner’s status and score. Notes, flashcards and revision practice remain accessible from study tools. The numbers shown are from local QA fixtures. They do not represent a deployed college or real student population.</a:t>
            </a:r>
          </a:p>
          <a:p xmlns:a="http://schemas.openxmlformats.org/drawingml/2006/main">
            <a:r>
              <a:t/>
            </a:r>
          </a:p>
          <a:p xmlns:a="http://schemas.openxmlformats.org/drawingml/2006/main">
            <a:r>
              <a:t>Sources: frontend/src/app/dashboard/student/page.tsx; backend/src/routes/dashboard.routes.js; audit/enhancements/evidence/student-overview-viewport.png</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student can watch lessons and resume saved progress. The backend validates that a lesson belongs to the stored curriculum and records bounded watch-session heartbeats. Seeking to the end or inventing a lesson ID cannot satisfy the server checks. Completion of all lectures enables the certification assessment, and a passed stored attempt is also required before a project completion certificate can be issued. Heartbeats are a practical guard, not proof that a human paid attention.</a:t>
            </a:r>
          </a:p>
          <a:p xmlns:a="http://schemas.openxmlformats.org/drawingml/2006/main">
            <a:r>
              <a:t/>
            </a:r>
          </a:p>
          <a:p xmlns:a="http://schemas.openxmlformats.org/drawingml/2006/main">
            <a:r>
              <a:t>Sources: backend/src/controllers/enrollment.controller.js; backend/src/services/assessment.service.js; audit/fixes/evidence/mobile-navigation-open.png</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lifecycle from assignment creation to feedback. The instructor sets instructions, a due date and a score range. A student submits an answer before the deadline. The instructor opens the gradebook, reads the submission and saves a score and feedback. The student then sees their own result. The demonstrated QA response received 85 out of 100 with a comment about adding an example. This is synthetic workflow evidence, not an academic grade for a real student.</a:t>
            </a:r>
          </a:p>
          <a:p xmlns:a="http://schemas.openxmlformats.org/drawingml/2006/main">
            <a:r>
              <a:t/>
            </a:r>
          </a:p>
          <a:p xmlns:a="http://schemas.openxmlformats.org/drawingml/2006/main">
            <a:r>
              <a:t>Sources: backend/src/controllers/assignment.controller.js; frontend/src/components/workspace/InstructorGradebook.tsx; audit/enhancements/evidence/instructor-gradebook.png</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UI can present questions and a countdown, but the backend owns correctness and eligibility. A saved attempt belongs to one learner and includes a server deadline and attempt limit. Submission scores against stored answer keys. Replays, expired attempts and forged question-key payloads are rejected. The screenshot shows a real UI submission of three local HTTP fixture questions, with all three answers scored correctly. Practice quizzes do not independently issue certificates.</a:t>
            </a:r>
          </a:p>
          <a:p xmlns:a="http://schemas.openxmlformats.org/drawingml/2006/main">
            <a:r>
              <a:t/>
            </a:r>
          </a:p>
          <a:p xmlns:a="http://schemas.openxmlformats.org/drawingml/2006/main">
            <a:r>
              <a:t>Sources: backend/src/services/assessment.service.js; backend/src/models/QuizAttempt.js; audit/enhancements/evidence/student-quiz-result.png</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the study tools as support for revision. Notes accept pasted text or readable PDFs. Corrupt or unsupported sources show errors, while offline templates clearly identify their mode. Flashcards persist in MongoDB for the current student and the SuperMemo-2 scheduler updates the next due date after a review. Revision quizzes offer a selected question count. Scanned PDFs need OCR and a video URL alone does not provide a transcript. The screenshot is from the earlier fix-phase QA run and shows persistence, while the current shared shell has since changed.</a:t>
            </a:r>
          </a:p>
          <a:p xmlns:a="http://schemas.openxmlformats.org/drawingml/2006/main">
            <a:r>
              <a:t/>
            </a:r>
          </a:p>
          <a:p xmlns:a="http://schemas.openxmlformats.org/drawingml/2006/main">
            <a:r>
              <a:t>Sources: frontend/src/app/dashboard/student/notes/page.tsx; backend/src/services/srs.js; audit/fixes/evidence/flashcards-persisted.png</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how the instructor workspace organizes teaching operations. Courses and their status stay visible in the overview. Dedicated navigation leads to student rosters, assignments and gradebook, quizzes, resources and review analytics. Heavy tools load when opened. Instructors can inspect and grade submissions for their own classrooms. They cannot manage another instructor’s course simply by changing a route ID. The screenshot contains local samples and synthetic QA courses.</a:t>
            </a:r>
          </a:p>
          <a:p xmlns:a="http://schemas.openxmlformats.org/drawingml/2006/main">
            <a:r>
              <a:t/>
            </a:r>
          </a:p>
          <a:p xmlns:a="http://schemas.openxmlformats.org/drawingml/2006/main">
            <a:r>
              <a:t>Sources: frontend/src/app/dashboard/instructor/page.tsx; audit/enhancements/evidence/instructor-overview-viewport.png</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admin overview displays platform totals and the pending review queue. Administrators can preview course content, publish it, request edits, hide it or archive it. They can search accounts and manage the active status of permitted non-admin accounts, while administrator accounts remain protected from these ordinary controls. Enrollment records display membership and progress. Payments, receipts and revenue metrics are deliberately absent. Counts in the screenshot are from a local fixture database.</a:t>
            </a:r>
          </a:p>
          <a:p xmlns:a="http://schemas.openxmlformats.org/drawingml/2006/main">
            <a:r>
              <a:t/>
            </a:r>
          </a:p>
          <a:p xmlns:a="http://schemas.openxmlformats.org/drawingml/2006/main">
            <a:r>
              <a:t>Sources: frontend/src/app/dashboard/admin/page.tsx; backend/src/controllers/admin.controller.js; audit/enhancements/evidence/admin-overview-viewport.png</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assistant appears as a small corner icon on relevant signed-in pages rather than taking a dashboard card. The window supports language preference, owned history, new conversations and source links. English, Hindi and Gujarati help articles work locally. A configured LLM enables broader natural multilingual responses and contextual follow-ups. The visible screenshot intentionally says retrieved help because no provider key was configured during the recorded QA. Do not demonstrate it as a successful live LLM response.</a:t>
            </a:r>
          </a:p>
          <a:p xmlns:a="http://schemas.openxmlformats.org/drawingml/2006/main">
            <a:r>
              <a:t/>
            </a:r>
          </a:p>
          <a:p xmlns:a="http://schemas.openxmlformats.org/drawingml/2006/main">
            <a:r>
              <a:t>Sources: frontend/src/components/assistant/ChatWindow.tsx; backend/src/services/chat.service.js; audit/enhancements/evidence/assistant-hindi-mobile.png</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Define RAG in plain language: retrieve relevant permitted evidence before asking a language model to answer. The backend authenticates the request, filters the help corpus by current role, ranks it using BM25 and optional semantic embeddings, adds a bounded authorized account summary and recent owned conversation turns, then calls the provider. Returned citations must match selected source IDs. Only reviewed static documentation is embedded or cached, so private student notes do not enter a shared vector index.</a:t>
            </a:r>
          </a:p>
          <a:p xmlns:a="http://schemas.openxmlformats.org/drawingml/2006/main">
            <a:r>
              <a:t/>
            </a:r>
          </a:p>
          <a:p xmlns:a="http://schemas.openxmlformats.org/drawingml/2006/main">
            <a:r>
              <a:t>Sources: backend/src/services/knowledge.service.js; backend/src/services/chat-provider.js; backend/src/services/chat.service.js</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Emphasize that retrieval restrictions happen before generation. Students receive shared or student help plus their own permitted summaries. Instructors receive their own course summaries and relevant instructor help. Admins receive reviewed admin workflows and platform totals, rather than unlimited secret access. The service excludes answer keys, passwords and bulk account emails. Browser fields cannot choose a different role, user or arbitrary history. Conversations also require the same owner and current role.</a:t>
            </a:r>
          </a:p>
          <a:p xmlns:a="http://schemas.openxmlformats.org/drawingml/2006/main">
            <a:r>
              <a:t/>
            </a:r>
          </a:p>
          <a:p xmlns:a="http://schemas.openxmlformats.org/drawingml/2006/main">
            <a:r>
              <a:t>Sources: CHATBOT_SECURITY.md; backend/src/services/knowledge.service.js; backend/src/routes/chat.routes.js</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improvements address concrete issues from the audit. Password reset links are delivered privately and token versions invalidate older sessions after reset. Public seeding has been removed. Current database identity, role and ownership checks protect records. Input validation rejects unauthorized fields and invalid identifiers. Assessments keep keys and timing on the server. Provider timeouts, quotas, error states and explicit fallback labels reduce unexpected work and misleading success claims. These controls reduce risk without implying perfect security.</a:t>
            </a:r>
          </a:p>
          <a:p xmlns:a="http://schemas.openxmlformats.org/drawingml/2006/main">
            <a:r>
              <a:t/>
            </a:r>
          </a:p>
          <a:p xmlns:a="http://schemas.openxmlformats.org/drawingml/2006/main">
            <a:r>
              <a:t>Sources: backend/src/middleware/auth.js; backend/src/controllers/auth.controller.js; backend/src/services/assessment.service.js; backend/test/chat.test.js</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both implementation choices and measured scope. Heavy studios and chat load only when requested. The student dashboard aggregates bounded summary data into one endpoint. Indexes and bounded queries limit database work. Global animated canvas and cursor loops were removed. The chart compares uncompressed scripts referenced by dashboard HTML before and after the added requirements. It is not a production LCP, INP or load-test result. Student and instructor totals reduced by roughly 13.7 and 10.6 percent, while the admin change is small.</a:t>
            </a:r>
          </a:p>
          <a:p xmlns:a="http://schemas.openxmlformats.org/drawingml/2006/main">
            <a:r>
              <a:t/>
            </a:r>
          </a:p>
          <a:p xmlns:a="http://schemas.openxmlformats.org/drawingml/2006/main">
            <a:r>
              <a:t>Sources: README.md; audit/enhancements/evidence/performance-before.json; audit/enhancements/evidence/performance-after.json</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Report the executed checks accurately. The latest local suite reports 115 backend tests passing with no failed or skipped tests. Nineteen browser checks cover role workflows, responsive layout, study tools and chat help. Both lint commands, TypeScript and the production build passed. Dependency audit snapshots reported zero advisories. Docker images built and started as non-root users. A local workflow created a course, obtained admin approval, enrolled a student for free and completed submission and grading. Live provider quality and external delivery are separate outstanding checks.</a:t>
            </a:r>
          </a:p>
          <a:p xmlns:a="http://schemas.openxmlformats.org/drawingml/2006/main">
            <a:r>
              <a:t/>
            </a:r>
          </a:p>
          <a:p xmlns:a="http://schemas.openxmlformats.org/drawingml/2006/main">
            <a:r>
              <a:t>Sources: audit/enhancements/evidence/qa-summary.json; audit/enhancements/evidence/browser-checks.json; audit/enhancements/evidence/backend-tests.txt</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as a presenter checklist rather than claiming an action happened live. Start with the instructor course editor and show a draft with lesson media. Then switch to the admin review queue and show publication. Switch to the student view to enroll directly, open a lesson and inspect an assignment. Finally show the gradebook and reopen the student result. Use only synthetic local accounts for the demonstration. If time is short, the included screenshots already show the verified workflow.</a:t>
            </a:r>
          </a:p>
          <a:p xmlns:a="http://schemas.openxmlformats.org/drawingml/2006/main">
            <a:r>
              <a:t/>
            </a:r>
          </a:p>
          <a:p xmlns:a="http://schemas.openxmlformats.org/drawingml/2006/main">
            <a:r>
              <a:t>Sources: audit/enhancements/evidence/browser-checks.json</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 candid about the remaining validation. The OpenAI integration and safe request assembly are implemented, but live multilingual fluency and semantic retrieval quality still require a valid provider key. SMTP inbox delivery and Cloudinary uploads also need separate credential-backed checks. The current evidence is local, not production-scale. Future work should prioritize those checks, teacher-reviewed question banks, course content, OCR if scanned documents are needed, and wider accessibility and browser testing. These are proposed next steps, not delivered capabilities.</a:t>
            </a:r>
          </a:p>
          <a:p xmlns:a="http://schemas.openxmlformats.org/drawingml/2006/main">
            <a:r>
              <a:t/>
            </a:r>
          </a:p>
          <a:p xmlns:a="http://schemas.openxmlformats.org/drawingml/2006/main">
            <a:r>
              <a:t>Sources: audit/enhancements/evidence/qa-summary.json; README.md; CHATBOT_SECURITY.md</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by connecting the implementation to its original classroom purpose. The project supports free enrollment, a clear teaching and review lifecycle and private learner records. It preserves the full student, instructor and admin feature set while reducing unnecessary frontend work. It also adds a floating contextual assistant whose retrieval follows backend permissions. State that testing supports the local workflows and that live external-service checks remain pending. Invite the teachers to ask about architecture, database design, permissions, assessment integrity or the next evaluation steps.</a:t>
            </a:r>
          </a:p>
          <a:p xmlns:a="http://schemas.openxmlformats.org/drawingml/2006/main">
            <a:r>
              <a:t/>
            </a:r>
          </a:p>
          <a:p xmlns:a="http://schemas.openxmlformats.org/drawingml/2006/main">
            <a:r>
              <a:t>Sources: README.md; audit/enhancements/evidence/qa-summary.json</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for questions about endpoint design. These are representative routes taken from the source, not the complete API inventory. HTTP verbs communicate reads versus mutations. Authentication happens before protected handlers. Ownership and course state checks still apply inside the controller or service. A course ID or assignment ID supplied by the browser is never sufficient authorization on its own.</a:t>
            </a:r>
          </a:p>
          <a:p xmlns:a="http://schemas.openxmlformats.org/drawingml/2006/main">
            <a:r>
              <a:t/>
            </a:r>
          </a:p>
          <a:p xmlns:a="http://schemas.openxmlformats.org/drawingml/2006/main">
            <a:r>
              <a:t>Sources: backend/server.js; backend/src/routes/auth.routes.js; backend/src/routes/dashboard.routes.js; backend/src/routes/assignment.routes.js; backend/src/routes/chat.routes.js</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stored-field examples to explain why the database supports reliable workflows. Enrollment keeps both the curriculum association and progress records. QuizAttempt separates the server-scored assessment lifecycle from presentation state. Assignment submissions live inside their assignment document. Certificate references let public verification check a genuine passed attempt without exposing the student email. Notes, flashcards and conversations include a user owner so data cannot leak across accounts.</a:t>
            </a:r>
          </a:p>
          <a:p xmlns:a="http://schemas.openxmlformats.org/drawingml/2006/main">
            <a:r>
              <a:t/>
            </a:r>
          </a:p>
          <a:p xmlns:a="http://schemas.openxmlformats.org/drawingml/2006/main">
            <a:r>
              <a:t>Sources: backend/src/models/Enrollment.js; backend/src/models/QuizAttempt.js; backend/src/models/Assignment.js; backend/src/models/Certificate.js; backend/src/models/ChatConversation.js</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two distinct algorithms. Course certification requires published enrollment, curriculum completion and a passing server-scored assessment. It cannot be earned by a client-posted percentage. Flashcard scheduling uses a SuperMemo-2 implementation with integer quality ratings from zero to five. A quality below three resets repetitions and schedules the next day. Successful early reviews use intervals of one day and six days, then the prior interval multiplied by ease. The ease factor has a lower bound of 1.3 and the updated schedule is persisted for that learner.</a:t>
            </a:r>
          </a:p>
          <a:p xmlns:a="http://schemas.openxmlformats.org/drawingml/2006/main">
            <a:r>
              <a:t/>
            </a:r>
          </a:p>
          <a:p xmlns:a="http://schemas.openxmlformats.org/drawingml/2006/main">
            <a:r>
              <a:t>Sources: backend/src/services/assessment.service.js; backend/src/services/srs.js</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answers: Frontend guards improve navigation, but a caller can invoke the API directly, so the backend must verify current identity and record ownership. Token-version checks revoke older JWTs after a password reset. RAG retrieves selected evidence at response time; this implementation does not train a new model. Free enrollment is a product decision, while publishing and membership checks still protect access. A mock provider test verifies data assembly and failure handling, but it cannot prove real language quality.</a:t>
            </a:r>
          </a:p>
          <a:p xmlns:a="http://schemas.openxmlformats.org/drawingml/2006/main">
            <a:r>
              <a:t/>
            </a:r>
          </a:p>
          <a:p xmlns:a="http://schemas.openxmlformats.org/drawingml/2006/main">
            <a:r>
              <a:t>Sources: ARCHITECTURE.md; CHATBOT_SECURITY.md; backend/src/middleware/auth.js</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source repository identifies the original project. This deck describes the revised local implementation and the dated QA evidence rather than assuming the public branch already contains the revisions. Setup needs Node.js 22.22 or newer and MongoDB 7, separate npm installs, a private backend environment and a frontend API URL. Seed only local random test accounts. Never put provider keys in public frontend variables. The source documentation and detailed report support follow-up questions beyond the deck.</a:t>
            </a:r>
          </a:p>
          <a:p xmlns:a="http://schemas.openxmlformats.org/drawingml/2006/main">
            <a:r>
              <a:t/>
            </a:r>
          </a:p>
          <a:p xmlns:a="http://schemas.openxmlformats.org/drawingml/2006/main">
            <a:r>
              <a:t>Sources: README.md; ARCHITECTURE.md; CHATBOT_SECURITY.md; audit/enhancements/Gyanix_Final_Audit_and_QA_Report.md</a:t>
            </a:r>
          </a:p>
          <a:p xmlns:a="http://schemas.openxmlformats.org/drawingml/2006/main">
            <a:r>
              <a:t>Repository: https://github.com/Jainesh-8305/gyanix-learning-portal</a:t>
            </a:r>
          </a:p>
          <a:p xmlns:a="http://schemas.openxmlformats.org/drawingml/2006/main">
            <a:r>
              <a:t>Evidence describes the revised local implementation as of 15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e5fb5bb0e16407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18a5891233483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dcbc9c07868498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cb127a3b154bc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b6dd04d62f74d6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6c56b680526404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1969A07-67AC-4CDB-84A2-538254B3337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7384776F-9B44-4F17-BD17-6D29F642EBE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D81485-9D6D-4456-B6C9-D8A103FFC3D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8E03556-730E-4F4E-ADC0-EA29225927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5BBC5D5-B448-4289-A5CB-CF444B222E6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EAFF6EB-8A7F-45C9-88B2-14905FDFB36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71F962-D3BF-4932-96D2-3E4E1E9167E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8D324CE-4E48-4A3B-9AD2-02691A34516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ADCD4A-07A5-41CB-AE5B-D62DC232048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B34A672-6945-4DF2-A14B-EE1ABE7E8DB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eb9ed6b7694402" /><Relationship Type="http://schemas.openxmlformats.org/officeDocument/2006/relationships/slideLayout" Target="/ppt/slideLayouts/slideLayout1.xml" Id="Rb47589da4583442c" /><Relationship Type="http://schemas.openxmlformats.org/officeDocument/2006/relationships/slideLayout" Target="/ppt/slideLayouts/slideLayout2.xml" Id="R984e941fb3ac4488" /><Relationship Type="http://schemas.openxmlformats.org/officeDocument/2006/relationships/slideLayout" Target="/ppt/slideLayouts/slideLayout3.xml" Id="R019af97e952042d5" /><Relationship Type="http://schemas.openxmlformats.org/officeDocument/2006/relationships/slideLayout" Target="/ppt/slideLayouts/slideLayout4.xml" Id="Raf6aa073469740c8" /><Relationship Type="http://schemas.openxmlformats.org/officeDocument/2006/relationships/slideLayout" Target="/ppt/slideLayouts/slideLayout5.xml" Id="R47b3c724bcdd4de0" /><Relationship Type="http://schemas.openxmlformats.org/officeDocument/2006/relationships/slideLayout" Target="/ppt/slideLayouts/slideLayout6.xml" Id="R2c894ea63d874ec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7589da4583442c"/>
    <p:sldLayoutId xmlns:r="http://schemas.openxmlformats.org/officeDocument/2006/relationships" id="2147483650" r:id="R984e941fb3ac4488"/>
    <p:sldLayoutId xmlns:r="http://schemas.openxmlformats.org/officeDocument/2006/relationships" id="2147483651" r:id="R019af97e952042d5"/>
    <p:sldLayoutId xmlns:r="http://schemas.openxmlformats.org/officeDocument/2006/relationships" id="2147483652" r:id="Raf6aa073469740c8"/>
    <p:sldLayoutId xmlns:r="http://schemas.openxmlformats.org/officeDocument/2006/relationships" id="2147483653" r:id="R47b3c724bcdd4de0"/>
    <p:sldLayoutId xmlns:r="http://schemas.openxmlformats.org/officeDocument/2006/relationships" id="2147483654" r:id="R2c894ea63d874ec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7d467b836c8431b" /><Relationship Type="http://schemas.openxmlformats.org/officeDocument/2006/relationships/image" Target="/ppt/media/image.png" Id="R4f919d4b37a948c9" /><Relationship Type="http://schemas.openxmlformats.org/officeDocument/2006/relationships/notesSlide" Target="/ppt/notesSlides/notesSlide1.xml" Id="R43ab0aab7acf41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779c781e96d4f4b" /><Relationship Type="http://schemas.openxmlformats.org/officeDocument/2006/relationships/notesSlide" Target="/ppt/notesSlides/notesSlide2.xml" Id="R243325c8a740489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ac0c313325044be" /><Relationship Type="http://schemas.openxmlformats.org/officeDocument/2006/relationships/notesSlide" Target="/ppt/notesSlides/notesSlide3.xml" Id="R3c6fb93841394b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8a0495324a4310" /><Relationship Type="http://schemas.openxmlformats.org/officeDocument/2006/relationships/notesSlide" Target="/ppt/notesSlides/notesSlide4.xml" Id="Rd75a1724f4804f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3e733cf7b024bc3" /><Relationship Type="http://schemas.openxmlformats.org/officeDocument/2006/relationships/notesSlide" Target="/ppt/notesSlides/notesSlide5.xml" Id="Re516ffd27ed84e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577377b25e2446f" /><Relationship Type="http://schemas.openxmlformats.org/officeDocument/2006/relationships/notesSlide" Target="/ppt/notesSlides/notesSlide6.xml" Id="Raee381586c1b43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5cc35e8ad914e03" /><Relationship Type="http://schemas.openxmlformats.org/officeDocument/2006/relationships/notesSlide" Target="/ppt/notesSlides/notesSlide7.xml" Id="Re8e330a3f07a49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4adf6b556474e61" /><Relationship Type="http://schemas.openxmlformats.org/officeDocument/2006/relationships/notesSlide" Target="/ppt/notesSlides/notesSlide8.xml" Id="Rc14fcbdbf04145f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814ad3f31aa4664" /><Relationship Type="http://schemas.openxmlformats.org/officeDocument/2006/relationships/notesSlide" Target="/ppt/notesSlides/notesSlide9.xml" Id="R8cec6479e6b2465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783188956554ae5" /><Relationship Type="http://schemas.openxmlformats.org/officeDocument/2006/relationships/image" Target="/ppt/media/image.jpeg" Id="R6716f57254f1488b" /><Relationship Type="http://schemas.openxmlformats.org/officeDocument/2006/relationships/notesSlide" Target="/ppt/notesSlides/notesSlide10.xml" Id="R63bc5698527248f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f6e0ec2d2ba48d7" /><Relationship Type="http://schemas.openxmlformats.org/officeDocument/2006/relationships/image" Target="/ppt/media/image2.jpeg" Id="R51e40b2ec6774558" /><Relationship Type="http://schemas.openxmlformats.org/officeDocument/2006/relationships/notesSlide" Target="/ppt/notesSlides/notesSlide11.xml" Id="R03774c1677614c2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39bca1e4ff34c5c" /><Relationship Type="http://schemas.openxmlformats.org/officeDocument/2006/relationships/image" Target="/ppt/media/image3.jpeg" Id="R85577292428143e4" /><Relationship Type="http://schemas.openxmlformats.org/officeDocument/2006/relationships/notesSlide" Target="/ppt/notesSlides/notesSlide12.xml" Id="Rdce0942c63f14d9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30436ab6c0a421b" /><Relationship Type="http://schemas.openxmlformats.org/officeDocument/2006/relationships/image" Target="/ppt/media/image4.jpeg" Id="R6a452ae861fd4b3c" /><Relationship Type="http://schemas.openxmlformats.org/officeDocument/2006/relationships/notesSlide" Target="/ppt/notesSlides/notesSlide13.xml" Id="R5b60a28454a0481e"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93773e6d93484950" /><Relationship Type="http://schemas.openxmlformats.org/officeDocument/2006/relationships/image" Target="/ppt/media/image5.jpeg" Id="Rf7ae25ae3ea9418d" /><Relationship Type="http://schemas.openxmlformats.org/officeDocument/2006/relationships/notesSlide" Target="/ppt/notesSlides/notesSlide14.xml" Id="R54ab74dfcacb4794"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87c62f5e9ea49ca" /><Relationship Type="http://schemas.openxmlformats.org/officeDocument/2006/relationships/image" Target="/ppt/media/image6.jpeg" Id="Rba14a59697bb4fa1" /><Relationship Type="http://schemas.openxmlformats.org/officeDocument/2006/relationships/notesSlide" Target="/ppt/notesSlides/notesSlide15.xml" Id="R759cb86ae344419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d49caf798f54a73" /><Relationship Type="http://schemas.openxmlformats.org/officeDocument/2006/relationships/image" Target="/ppt/media/image7.jpeg" Id="R50a78e1ff519436c" /><Relationship Type="http://schemas.openxmlformats.org/officeDocument/2006/relationships/notesSlide" Target="/ppt/notesSlides/notesSlide16.xml" Id="R48661deabb074a1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5d049fb51d4f49e3" /><Relationship Type="http://schemas.openxmlformats.org/officeDocument/2006/relationships/image" Target="/ppt/media/image8.jpeg" Id="R4dcc431478814395" /><Relationship Type="http://schemas.openxmlformats.org/officeDocument/2006/relationships/notesSlide" Target="/ppt/notesSlides/notesSlide17.xml" Id="R5445f67baf384b9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f4f39927dc04016" /><Relationship Type="http://schemas.openxmlformats.org/officeDocument/2006/relationships/notesSlide" Target="/ppt/notesSlides/notesSlide18.xml" Id="R3216d0d42a14465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2e1f8fc7fec4c75" /><Relationship Type="http://schemas.openxmlformats.org/officeDocument/2006/relationships/notesSlide" Target="/ppt/notesSlides/notesSlide19.xml" Id="R2d71ba316232460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7262bb4b1b314f8b" /><Relationship Type="http://schemas.openxmlformats.org/officeDocument/2006/relationships/notesSlide" Target="/ppt/notesSlides/notesSlide20.xml" Id="R7aa9889dd7214707"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0d061ca6e4e94315" /><Relationship Type="http://schemas.openxmlformats.org/officeDocument/2006/relationships/chart" Target="/ppt/slides/charts/chart1.xml" Id="R679c35c344a449e0" /><Relationship Type="http://schemas.openxmlformats.org/officeDocument/2006/relationships/notesSlide" Target="/ppt/notesSlides/notesSlide21.xml" Id="R95074d4e7b2a4a2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27fe5f4e2774b44" /><Relationship Type="http://schemas.openxmlformats.org/officeDocument/2006/relationships/notesSlide" Target="/ppt/notesSlides/notesSlide22.xml" Id="R2ccec8b2f2214ea5"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09331f3621947f0" /><Relationship Type="http://schemas.openxmlformats.org/officeDocument/2006/relationships/notesSlide" Target="/ppt/notesSlides/notesSlide23.xml" Id="R66df2f9421914b1b"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7f900653a444976" /><Relationship Type="http://schemas.openxmlformats.org/officeDocument/2006/relationships/notesSlide" Target="/ppt/notesSlides/notesSlide24.xml" Id="R34485678875a488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e30892012dd402a" /><Relationship Type="http://schemas.openxmlformats.org/officeDocument/2006/relationships/notesSlide" Target="/ppt/notesSlides/notesSlide25.xml" Id="R283cfc16558d425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c6d8f3e7b6ad4b0c" /><Relationship Type="http://schemas.openxmlformats.org/officeDocument/2006/relationships/notesSlide" Target="/ppt/notesSlides/notesSlide26.xml" Id="R66496ad0c6c04f57"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333982b731ad4d4c" /><Relationship Type="http://schemas.openxmlformats.org/officeDocument/2006/relationships/notesSlide" Target="/ppt/notesSlides/notesSlide27.xml" Id="R3f6ae2af10644c32"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a97e8e0b318454d" /><Relationship Type="http://schemas.openxmlformats.org/officeDocument/2006/relationships/notesSlide" Target="/ppt/notesSlides/notesSlide28.xml" Id="Rc616ce9f1f46451a"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a40910ac8164d93" /><Relationship Type="http://schemas.openxmlformats.org/officeDocument/2006/relationships/notesSlide" Target="/ppt/notesSlides/notesSlide29.xml" Id="R1d6ac1ffc4154d2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bd69671ffff4989" /><Relationship Type="http://schemas.openxmlformats.org/officeDocument/2006/relationships/notesSlide" Target="/ppt/notesSlides/notesSlide30.xml" Id="R3384f6ffa665436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Before</c:v>
          </c:tx>
          <c:spPr>
            <a:solidFill xmlns:a="http://schemas.openxmlformats.org/drawingml/2006/main">
              <a:srgbClr val="B8C5D3"/>
            </a:solidFill>
          </c:spPr>
          <c:invertIfNegative val="0"/>
          <c:cat>
            <c:strRef>
              <c:f>'Chart Data'!$A$2:$A$4</c:f>
              <c:strCache>
                <c:ptCount val="3"/>
                <c:pt idx="0">
                  <c:v>Student</c:v>
                </c:pt>
                <c:pt idx="1">
                  <c:v>Instructor</c:v>
                </c:pt>
                <c:pt idx="2">
                  <c:v>Admin</c:v>
                </c:pt>
              </c:strCache>
            </c:strRef>
          </c:cat>
          <c:val>
            <c:numRef>
              <c:f>'Chart Data'!$B$2:$B$4</c:f>
              <c:numCache>
                <c:formatCode>General</c:formatCode>
                <c:ptCount val="3"/>
                <c:pt idx="0">
                  <c:v>798.2</c:v>
                </c:pt>
                <c:pt idx="1">
                  <c:v>768.1</c:v>
                </c:pt>
                <c:pt idx="2">
                  <c:v>677.4</c:v>
                </c:pt>
              </c:numCache>
            </c:numRef>
          </c:val>
        </c:ser>
        <c:ser>
          <c:idx val="1"/>
          <c:order val="1"/>
          <c:tx>
            <c:v>After</c:v>
          </c:tx>
          <c:spPr>
            <a:solidFill xmlns:a="http://schemas.openxmlformats.org/drawingml/2006/main">
              <a:srgbClr val="087F8C"/>
            </a:solidFill>
          </c:spPr>
          <c:invertIfNegative val="0"/>
          <c:cat>
            <c:strRef>
              <c:f>'Chart Data'!$C$2:$C$4</c:f>
              <c:strCache>
                <c:ptCount val="3"/>
                <c:pt idx="0">
                  <c:v>Student</c:v>
                </c:pt>
                <c:pt idx="1">
                  <c:v>Instructor</c:v>
                </c:pt>
                <c:pt idx="2">
                  <c:v>Admin</c:v>
                </c:pt>
              </c:strCache>
            </c:strRef>
          </c:cat>
          <c:val>
            <c:numRef>
              <c:f>'Chart Data'!$D$2:$D$4</c:f>
              <c:numCache>
                <c:formatCode>General</c:formatCode>
                <c:ptCount val="3"/>
                <c:pt idx="0">
                  <c:v>688.5</c:v>
                </c:pt>
                <c:pt idx="1">
                  <c:v>686.4</c:v>
                </c:pt>
                <c:pt idx="2">
                  <c:v>674.7</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1350">
                  <a:solidFill>
                    <a:srgbClr val="24374D"/>
                  </a:solidFill>
                  <a:latin typeface="Arial"/>
                  <a:ea typeface="Arial"/>
                  <a:cs typeface="Arial"/>
                </a:defRPr>
              </a:pPr>
            </a:p>
          </c:txPr>
          <c:dLblPos val="outEnd"/>
          <c:showLegendKey val="0"/>
          <c:showVal val="1"/>
          <c:showCatName val="0"/>
          <c:showSerName val="0"/>
          <c:showPercent val="0"/>
          <c:showBubbleSize val="0"/>
          <c:showLeaderLines val="0"/>
        </c:dLbls>
        <c:gapWidth val="10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9D3DE"/>
            </a:solidFill>
          </a:ln>
        </c:spPr>
        <c:txPr>
          <a:bodyPr xmlns:a="http://schemas.openxmlformats.org/drawingml/2006/main" anchorCtr="1"/>
          <a:lstStyle xmlns:a="http://schemas.openxmlformats.org/drawingml/2006/main"/>
          <a:p xmlns:a="http://schemas.openxmlformats.org/drawingml/2006/main">
            <a:pPr>
              <a:defRPr sz="1575">
                <a:solidFill>
                  <a:srgbClr val="24374D"/>
                </a:solidFill>
                <a:latin typeface="Arial"/>
                <a:ea typeface="Arial"/>
                <a:cs typeface="Arial"/>
              </a:defRPr>
            </a:pPr>
          </a:p>
        </c:txPr>
        <c:crossAx val="48672768"/>
      </c:catAx>
      <c:valAx>
        <c:axId val="48672768"/>
        <c:scaling>
          <c:orientation val="minMax"/>
          <c:max val="900"/>
          <c:min val="0"/>
        </c:scaling>
        <c:delete val="0"/>
        <c:axPos val="l"/>
        <c:majorGridlines>
          <c:spPr>
            <a:ln xmlns:a="http://schemas.openxmlformats.org/drawingml/2006/main" w="9525">
              <a:solidFill>
                <a:srgbClr val="DAE3EB"/>
              </a:solidFill>
            </a:ln>
          </c:spPr>
        </c:majorGridlines>
        <c:title>
          <c:tx>
            <c:rich>
              <a:bodyPr xmlns:a="http://schemas.openxmlformats.org/drawingml/2006/main"/>
              <a:lstStyle xmlns:a="http://schemas.openxmlformats.org/drawingml/2006/main"/>
              <a:p xmlns:a="http://schemas.openxmlformats.org/drawingml/2006/main">
                <a:r>
                  <a:rPr sz="1500">
                    <a:solidFill>
                      <a:srgbClr val="526579"/>
                    </a:solidFill>
                    <a:latin typeface="Arial"/>
                    <a:ea typeface="Arial"/>
                    <a:cs typeface="Arial"/>
                  </a:rPr>
                  <a:t>Initial JavaScript (KiB)</a:t>
                </a:r>
              </a:p>
            </c:rich>
          </c:tx>
          <c:overlay val="0"/>
          <c:txPr>
            <a:bodyPr xmlns:a="http://schemas.openxmlformats.org/drawingml/2006/main" anchorCtr="1"/>
            <a:lstStyle xmlns:a="http://schemas.openxmlformats.org/drawingml/2006/main"/>
            <a:p xmlns:a="http://schemas.openxmlformats.org/drawingml/2006/main">
              <a:pPr>
                <a:defRPr sz="1500">
                  <a:solidFill>
                    <a:srgbClr val="526579"/>
                  </a:solidFill>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26579"/>
                </a:solidFill>
                <a:latin typeface="Arial"/>
                <a:ea typeface="Arial"/>
                <a:cs typeface="Arial"/>
              </a:defRPr>
            </a:pPr>
          </a:p>
        </c:txPr>
        <c:crossAx val="48650112"/>
        <c:crossBetween val="between"/>
        <c:majorUnit val="300"/>
      </c:valAx>
      <c:spPr>
        <a:solidFill xmlns:a="http://schemas.openxmlformats.org/drawingml/2006/main">
          <a:srgbClr val="F6F8FB"/>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solidFill>
                <a:srgbClr val="526579"/>
              </a:solidFill>
              <a:latin typeface="Arial"/>
              <a:ea typeface="Arial"/>
              <a:cs typeface="Arial"/>
            </a:defRPr>
          </a:pPr>
        </a:p>
      </c:txPr>
    </c:legend>
    <c:plotVisOnly val="1"/>
  </c:chart>
  <c:spPr>
    <a:solidFill xmlns:a="http://schemas.openxmlformats.org/drawingml/2006/main">
      <a:srgbClr val="F6F8FB"/>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75F6A72-9402-4423-BFD8-14067620E4A8}"/>
              </a:ext>
            </a:extLst>
          </p:cNvPr>
          <p:cNvPicPr>
            <a:picLocks xmlns:a="http://schemas.openxmlformats.org/drawingml/2006/main" noChangeAspect="1"/>
          </p:cNvPicPr>
          <p:nvPr/>
        </p:nvPicPr>
        <p:blipFill>
          <a:blip xmlns:r="http://schemas.openxmlformats.org/officeDocument/2006/relationships" xmlns:a="http://schemas.openxmlformats.org/drawingml/2006/main" r:embed="R4f919d4b37a948c9"/>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cover-title">
            <a:extLst xmlns:a="http://schemas.openxmlformats.org/drawingml/2006/main">
              <a:ext uri="{FF2B5EF4-FFF2-40B4-BE49-F238E27FC236}">
                <a16:creationId xmlns:a16="http://schemas.microsoft.com/office/drawing/2014/main" id="{E8A845B5-4F0E-47BF-BC07-88BFFF8FA2CB}"/>
              </a:ext>
            </a:extLst>
          </p:cNvPr>
          <p:cNvSpPr>
            <a:spLocks xmlns:a="http://schemas.openxmlformats.org/drawingml/2006/main" noGrp="1"/>
          </p:cNvSpPr>
          <p:nvPr/>
        </p:nvSpPr>
        <p:spPr>
          <a:xfrm xmlns:a="http://schemas.openxmlformats.org/drawingml/2006/main">
            <a:off x="609600" y="1828800"/>
            <a:ext cx="5334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10233F"/>
                </a:solidFill>
                <a:latin typeface="Arial"/>
                <a:ea typeface="Arial"/>
                <a:cs typeface="Arial"/>
              </a:defRPr>
            </a:defPPr>
          </a:lstStyle>
          <a:p xmlns:a="http://schemas.openxmlformats.org/drawingml/2006/main">
            <a:pPr algn="l">
              <a:defRPr sz="5850" b="1">
                <a:solidFill>
                  <a:srgbClr val="10233F"/>
                </a:solidFill>
                <a:latin typeface="Arial"/>
                <a:ea typeface="Arial"/>
                <a:cs typeface="Arial"/>
              </a:defRPr>
            </a:pPr>
            <a:r>
              <a:rPr sz="5850" b="1">
                <a:solidFill>
                  <a:srgbClr val="10233F"/>
                </a:solidFill>
                <a:latin typeface="Arial"/>
                <a:ea typeface="Arial"/>
                <a:cs typeface="Arial"/>
              </a:rPr>
              <a:t>GYANIX</a:t>
            </a:r>
          </a:p>
        </p:txBody>
      </p:sp>
      <p:sp>
        <p:nvSpPr>
          <p:cNvPr id="3" name="cover-subtitle">
            <a:extLst xmlns:a="http://schemas.openxmlformats.org/drawingml/2006/main">
              <a:ext uri="{FF2B5EF4-FFF2-40B4-BE49-F238E27FC236}">
                <a16:creationId xmlns:a16="http://schemas.microsoft.com/office/drawing/2014/main" id="{83C00B43-CEE8-469D-8625-B0A5787F5B3A}"/>
              </a:ext>
            </a:extLst>
          </p:cNvPr>
          <p:cNvSpPr>
            <a:spLocks xmlns:a="http://schemas.openxmlformats.org/drawingml/2006/main" noGrp="1"/>
          </p:cNvSpPr>
          <p:nvPr/>
        </p:nvSpPr>
        <p:spPr>
          <a:xfrm xmlns:a="http://schemas.openxmlformats.org/drawingml/2006/main">
            <a:off x="638175" y="2809875"/>
            <a:ext cx="5429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00" b="1">
                <a:solidFill>
                  <a:srgbClr val="10233F"/>
                </a:solidFill>
                <a:latin typeface="Arial"/>
                <a:ea typeface="Arial"/>
                <a:cs typeface="Arial"/>
              </a:defRPr>
            </a:defPPr>
          </a:lstStyle>
          <a:p xmlns:a="http://schemas.openxmlformats.org/drawingml/2006/main">
            <a:pPr algn="l">
              <a:defRPr sz="3900" b="1">
                <a:solidFill>
                  <a:srgbClr val="10233F"/>
                </a:solidFill>
                <a:latin typeface="Arial"/>
                <a:ea typeface="Arial"/>
                <a:cs typeface="Arial"/>
              </a:defRPr>
            </a:pPr>
            <a:r>
              <a:rPr sz="3900" b="1">
                <a:solidFill>
                  <a:srgbClr val="10233F"/>
                </a:solidFill>
                <a:latin typeface="Arial"/>
                <a:ea typeface="Arial"/>
                <a:cs typeface="Arial"/>
              </a:rPr>
              <a:t>Learning Portal</a:t>
            </a:r>
          </a:p>
        </p:txBody>
      </p:sp>
      <p:sp>
        <p:nvSpPr>
          <p:cNvPr id="4" name="text">
            <a:extLst xmlns:a="http://schemas.openxmlformats.org/drawingml/2006/main">
              <a:ext uri="{FF2B5EF4-FFF2-40B4-BE49-F238E27FC236}">
                <a16:creationId xmlns:a16="http://schemas.microsoft.com/office/drawing/2014/main" id="{713CFF59-211C-4BC3-9364-B8A5EDBE7874}"/>
              </a:ext>
            </a:extLst>
          </p:cNvPr>
          <p:cNvSpPr>
            <a:spLocks xmlns:a="http://schemas.openxmlformats.org/drawingml/2006/main" noGrp="1"/>
          </p:cNvSpPr>
          <p:nvPr/>
        </p:nvSpPr>
        <p:spPr>
          <a:xfrm xmlns:a="http://schemas.openxmlformats.org/drawingml/2006/main">
            <a:off x="647700" y="3724275"/>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26579"/>
                </a:solidFill>
                <a:latin typeface="Arial"/>
                <a:ea typeface="Arial"/>
                <a:cs typeface="Arial"/>
              </a:defRPr>
            </a:defPPr>
          </a:lstStyle>
          <a:p xmlns:a="http://schemas.openxmlformats.org/drawingml/2006/main">
            <a:pPr algn="l">
              <a:defRPr sz="2100" b="0">
                <a:solidFill>
                  <a:srgbClr val="526579"/>
                </a:solidFill>
                <a:latin typeface="Arial"/>
                <a:ea typeface="Arial"/>
                <a:cs typeface="Arial"/>
              </a:defRPr>
            </a:pPr>
            <a:r>
              <a:rPr sz="2100" b="0">
                <a:solidFill>
                  <a:srgbClr val="526579"/>
                </a:solidFill>
                <a:latin typeface="Arial"/>
                <a:ea typeface="Arial"/>
                <a:cs typeface="Arial"/>
              </a:rPr>
              <a:t>A classroom platform with free courses</a:t>
            </a:r>
          </a:p>
          <a:p xmlns:a="http://schemas.openxmlformats.org/drawingml/2006/main">
            <a:pPr algn="l">
              <a:defRPr sz="2100" b="0">
                <a:solidFill>
                  <a:srgbClr val="526579"/>
                </a:solidFill>
                <a:latin typeface="Arial"/>
                <a:ea typeface="Arial"/>
                <a:cs typeface="Arial"/>
              </a:defRPr>
            </a:pPr>
            <a:r>
              <a:rPr sz="2100" b="0">
                <a:solidFill>
                  <a:srgbClr val="526579"/>
                </a:solidFill>
                <a:latin typeface="Arial"/>
                <a:ea typeface="Arial"/>
                <a:cs typeface="Arial"/>
              </a:rPr>
              <a:t>and secure learning assistance</a:t>
            </a:r>
          </a:p>
        </p:txBody>
      </p:sp>
      <p:sp>
        <p:nvSpPr>
          <p:cNvPr id="5" name="text">
            <a:extLst xmlns:a="http://schemas.openxmlformats.org/drawingml/2006/main">
              <a:ext uri="{FF2B5EF4-FFF2-40B4-BE49-F238E27FC236}">
                <a16:creationId xmlns:a16="http://schemas.microsoft.com/office/drawing/2014/main" id="{8C6BF6E2-47A4-4C8D-ABBA-C25E0A7C5512}"/>
              </a:ext>
            </a:extLst>
          </p:cNvPr>
          <p:cNvSpPr>
            <a:spLocks xmlns:a="http://schemas.openxmlformats.org/drawingml/2006/main" noGrp="1"/>
          </p:cNvSpPr>
          <p:nvPr/>
        </p:nvSpPr>
        <p:spPr>
          <a:xfrm xmlns:a="http://schemas.openxmlformats.org/drawingml/2006/main">
            <a:off x="647700" y="55530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087F8C"/>
                </a:solidFill>
                <a:latin typeface="Arial"/>
                <a:ea typeface="Arial"/>
                <a:cs typeface="Arial"/>
              </a:defRPr>
            </a:defPPr>
          </a:lstStyle>
          <a:p xmlns:a="http://schemas.openxmlformats.org/drawingml/2006/main">
            <a:pPr algn="l">
              <a:defRPr sz="1800" b="1">
                <a:solidFill>
                  <a:srgbClr val="087F8C"/>
                </a:solidFill>
                <a:latin typeface="Arial"/>
                <a:ea typeface="Arial"/>
                <a:cs typeface="Arial"/>
              </a:defRPr>
            </a:pPr>
            <a:r>
              <a:rPr sz="1800" b="1">
                <a:solidFill>
                  <a:srgbClr val="087F8C"/>
                </a:solidFill>
                <a:latin typeface="Arial"/>
                <a:ea typeface="Arial"/>
                <a:cs typeface="Arial"/>
              </a:rPr>
              <a:t>College project presentation</a:t>
            </a:r>
          </a:p>
        </p:txBody>
      </p:sp>
      <p:sp>
        <p:nvSpPr>
          <p:cNvPr id="6" name="text">
            <a:extLst xmlns:a="http://schemas.openxmlformats.org/drawingml/2006/main">
              <a:ext uri="{FF2B5EF4-FFF2-40B4-BE49-F238E27FC236}">
                <a16:creationId xmlns:a16="http://schemas.microsoft.com/office/drawing/2014/main" id="{242DB428-DF7A-4A66-B1F6-1141EDD14527}"/>
              </a:ext>
            </a:extLst>
          </p:cNvPr>
          <p:cNvSpPr>
            <a:spLocks xmlns:a="http://schemas.openxmlformats.org/drawingml/2006/main" noGrp="1"/>
          </p:cNvSpPr>
          <p:nvPr/>
        </p:nvSpPr>
        <p:spPr>
          <a:xfrm xmlns:a="http://schemas.openxmlformats.org/drawingml/2006/main">
            <a:off x="647700" y="5972175"/>
            <a:ext cx="4000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26579"/>
                </a:solidFill>
                <a:latin typeface="Arial"/>
                <a:ea typeface="Arial"/>
                <a:cs typeface="Arial"/>
              </a:defRPr>
            </a:defPPr>
          </a:lstStyle>
          <a:p xmlns:a="http://schemas.openxmlformats.org/drawingml/2006/main">
            <a:pPr algn="l">
              <a:defRPr sz="1500" b="0">
                <a:solidFill>
                  <a:srgbClr val="526579"/>
                </a:solidFill>
                <a:latin typeface="Arial"/>
                <a:ea typeface="Arial"/>
                <a:cs typeface="Arial"/>
              </a:defRPr>
            </a:pPr>
            <a:r>
              <a:rPr sz="1500" b="0">
                <a:solidFill>
                  <a:srgbClr val="526579"/>
                </a:solidFill>
                <a:latin typeface="Arial"/>
                <a:ea typeface="Arial"/>
                <a:cs typeface="Arial"/>
              </a:rPr>
              <a:t>15 October 2026</a:t>
            </a:r>
          </a:p>
        </p:txBody>
      </p:sp>
    </p:spTree>
    <p:extLst>
      <p:ext uri="{BB962C8B-B14F-4D97-AF65-F5344CB8AC3E}">
        <p14:creationId xmlns:p14="http://schemas.microsoft.com/office/powerpoint/2010/main" val="418051304"/>
      </p:ext>
    </p:extLst>
  </p:cSld>
</p:sld>
</file>

<file path=ppt/slides/slide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55C26FFC-055F-44B2-B85E-0E1C5BFDA8CC}"/>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Project overview</a:t>
            </a:r>
          </a:p>
        </p:txBody>
      </p:sp>
      <p:sp>
        <p:nvSpPr>
          <p:cNvPr id="2" name="footer">
            <a:extLst xmlns:a="http://schemas.openxmlformats.org/drawingml/2006/main">
              <a:ext uri="{FF2B5EF4-FFF2-40B4-BE49-F238E27FC236}">
                <a16:creationId xmlns:a16="http://schemas.microsoft.com/office/drawing/2014/main" id="{F8C56770-3D24-4E44-A31B-01B81BE9D276}"/>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2030510D-9C15-4B38-801C-5B288EEB3FA5}"/>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02</a:t>
            </a:r>
          </a:p>
        </p:txBody>
      </p:sp>
      <p:sp>
        <p:nvSpPr>
          <p:cNvPr id="4" name="text">
            <a:extLst xmlns:a="http://schemas.openxmlformats.org/drawingml/2006/main">
              <a:ext uri="{FF2B5EF4-FFF2-40B4-BE49-F238E27FC236}">
                <a16:creationId xmlns:a16="http://schemas.microsoft.com/office/drawing/2014/main" id="{EFCB2AD5-5CF0-4737-9364-F3F5C4BC3060}"/>
              </a:ext>
            </a:extLst>
          </p:cNvPr>
          <p:cNvSpPr>
            <a:spLocks xmlns:a="http://schemas.openxmlformats.org/drawingml/2006/main" noGrp="1"/>
          </p:cNvSpPr>
          <p:nvPr/>
        </p:nvSpPr>
        <p:spPr>
          <a:xfrm xmlns:a="http://schemas.openxmlformats.org/drawingml/2006/main">
            <a:off x="628650" y="1762125"/>
            <a:ext cx="100012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087F8C"/>
                </a:solidFill>
                <a:latin typeface="Arial"/>
                <a:ea typeface="Arial"/>
                <a:cs typeface="Arial"/>
              </a:defRPr>
            </a:defPPr>
          </a:lstStyle>
          <a:p xmlns:a="http://schemas.openxmlformats.org/drawingml/2006/main">
            <a:pPr algn="l">
              <a:defRPr sz="2775" b="1">
                <a:solidFill>
                  <a:srgbClr val="087F8C"/>
                </a:solidFill>
                <a:latin typeface="Arial"/>
                <a:ea typeface="Arial"/>
                <a:cs typeface="Arial"/>
              </a:defRPr>
            </a:pPr>
            <a:r>
              <a:rPr sz="2775" b="1">
                <a:solidFill>
                  <a:srgbClr val="087F8C"/>
                </a:solidFill>
                <a:latin typeface="Arial"/>
                <a:ea typeface="Arial"/>
                <a:cs typeface="Arial"/>
              </a:rPr>
              <a:t>One portal for the full classroom workflow</a:t>
            </a:r>
          </a:p>
        </p:txBody>
      </p:sp>
      <p:sp>
        <p:nvSpPr>
          <p:cNvPr id="5" name="text">
            <a:extLst xmlns:a="http://schemas.openxmlformats.org/drawingml/2006/main">
              <a:ext uri="{FF2B5EF4-FFF2-40B4-BE49-F238E27FC236}">
                <a16:creationId xmlns:a16="http://schemas.microsoft.com/office/drawing/2014/main" id="{B8ADC22E-97D0-4E66-9977-546B9AA14791}"/>
              </a:ext>
            </a:extLst>
          </p:cNvPr>
          <p:cNvSpPr>
            <a:spLocks xmlns:a="http://schemas.openxmlformats.org/drawingml/2006/main" noGrp="1"/>
          </p:cNvSpPr>
          <p:nvPr/>
        </p:nvSpPr>
        <p:spPr>
          <a:xfrm xmlns:a="http://schemas.openxmlformats.org/drawingml/2006/main">
            <a:off x="647700" y="28956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Students</a:t>
            </a:r>
          </a:p>
        </p:txBody>
      </p:sp>
      <p:sp>
        <p:nvSpPr>
          <p:cNvPr id="6" name="text">
            <a:extLst xmlns:a="http://schemas.openxmlformats.org/drawingml/2006/main">
              <a:ext uri="{FF2B5EF4-FFF2-40B4-BE49-F238E27FC236}">
                <a16:creationId xmlns:a16="http://schemas.microsoft.com/office/drawing/2014/main" id="{DBD7A1A9-F7AA-4D2E-BA77-2CE14281F96C}"/>
              </a:ext>
            </a:extLst>
          </p:cNvPr>
          <p:cNvSpPr>
            <a:spLocks xmlns:a="http://schemas.openxmlformats.org/drawingml/2006/main" noGrp="1"/>
          </p:cNvSpPr>
          <p:nvPr/>
        </p:nvSpPr>
        <p:spPr>
          <a:xfrm xmlns:a="http://schemas.openxmlformats.org/drawingml/2006/main">
            <a:off x="647700" y="336232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Learn through courses, assignments, quizzes and private study tools.</a:t>
            </a:r>
          </a:p>
        </p:txBody>
      </p:sp>
      <p:sp>
        <p:nvSpPr>
          <p:cNvPr id="7" name="text">
            <a:extLst xmlns:a="http://schemas.openxmlformats.org/drawingml/2006/main">
              <a:ext uri="{FF2B5EF4-FFF2-40B4-BE49-F238E27FC236}">
                <a16:creationId xmlns:a16="http://schemas.microsoft.com/office/drawing/2014/main" id="{0E6159EA-8102-4447-9729-445F4745B9F4}"/>
              </a:ext>
            </a:extLst>
          </p:cNvPr>
          <p:cNvSpPr>
            <a:spLocks xmlns:a="http://schemas.openxmlformats.org/drawingml/2006/main" noGrp="1"/>
          </p:cNvSpPr>
          <p:nvPr/>
        </p:nvSpPr>
        <p:spPr>
          <a:xfrm xmlns:a="http://schemas.openxmlformats.org/drawingml/2006/main">
            <a:off x="6572250" y="289560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Instructors</a:t>
            </a:r>
          </a:p>
        </p:txBody>
      </p:sp>
      <p:sp>
        <p:nvSpPr>
          <p:cNvPr id="8" name="text">
            <a:extLst xmlns:a="http://schemas.openxmlformats.org/drawingml/2006/main">
              <a:ext uri="{FF2B5EF4-FFF2-40B4-BE49-F238E27FC236}">
                <a16:creationId xmlns:a16="http://schemas.microsoft.com/office/drawing/2014/main" id="{0B57169D-508B-4AED-945B-8507A860B1EC}"/>
              </a:ext>
            </a:extLst>
          </p:cNvPr>
          <p:cNvSpPr>
            <a:spLocks xmlns:a="http://schemas.openxmlformats.org/drawingml/2006/main" noGrp="1"/>
          </p:cNvSpPr>
          <p:nvPr/>
        </p:nvSpPr>
        <p:spPr>
          <a:xfrm xmlns:a="http://schemas.openxmlformats.org/drawingml/2006/main">
            <a:off x="6572250" y="336232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Prepare course content and review the work of their enrolled students.</a:t>
            </a:r>
          </a:p>
        </p:txBody>
      </p:sp>
      <p:sp>
        <p:nvSpPr>
          <p:cNvPr id="9" name="text">
            <a:extLst xmlns:a="http://schemas.openxmlformats.org/drawingml/2006/main">
              <a:ext uri="{FF2B5EF4-FFF2-40B4-BE49-F238E27FC236}">
                <a16:creationId xmlns:a16="http://schemas.microsoft.com/office/drawing/2014/main" id="{37E90AF4-9925-4E1C-8BFE-EEF0F4DAAFD4}"/>
              </a:ext>
            </a:extLst>
          </p:cNvPr>
          <p:cNvSpPr>
            <a:spLocks xmlns:a="http://schemas.openxmlformats.org/drawingml/2006/main" noGrp="1"/>
          </p:cNvSpPr>
          <p:nvPr/>
        </p:nvSpPr>
        <p:spPr>
          <a:xfrm xmlns:a="http://schemas.openxmlformats.org/drawingml/2006/main">
            <a:off x="647700" y="46291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Administrators</a:t>
            </a:r>
          </a:p>
        </p:txBody>
      </p:sp>
      <p:sp>
        <p:nvSpPr>
          <p:cNvPr id="10" name="text">
            <a:extLst xmlns:a="http://schemas.openxmlformats.org/drawingml/2006/main">
              <a:ext uri="{FF2B5EF4-FFF2-40B4-BE49-F238E27FC236}">
                <a16:creationId xmlns:a16="http://schemas.microsoft.com/office/drawing/2014/main" id="{A1A6B477-C8C2-4AEF-AAC7-1FEE5BF6624C}"/>
              </a:ext>
            </a:extLst>
          </p:cNvPr>
          <p:cNvSpPr>
            <a:spLocks xmlns:a="http://schemas.openxmlformats.org/drawingml/2006/main" noGrp="1"/>
          </p:cNvSpPr>
          <p:nvPr/>
        </p:nvSpPr>
        <p:spPr>
          <a:xfrm xmlns:a="http://schemas.openxmlformats.org/drawingml/2006/main">
            <a:off x="647700" y="509587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Approve publication and manage platform access.</a:t>
            </a:r>
          </a:p>
        </p:txBody>
      </p:sp>
      <p:sp>
        <p:nvSpPr>
          <p:cNvPr id="11" name="text">
            <a:extLst xmlns:a="http://schemas.openxmlformats.org/drawingml/2006/main">
              <a:ext uri="{FF2B5EF4-FFF2-40B4-BE49-F238E27FC236}">
                <a16:creationId xmlns:a16="http://schemas.microsoft.com/office/drawing/2014/main" id="{96D912D9-976B-4B91-885F-C7EAF5F47ABC}"/>
              </a:ext>
            </a:extLst>
          </p:cNvPr>
          <p:cNvSpPr>
            <a:spLocks xmlns:a="http://schemas.openxmlformats.org/drawingml/2006/main" noGrp="1"/>
          </p:cNvSpPr>
          <p:nvPr/>
        </p:nvSpPr>
        <p:spPr>
          <a:xfrm xmlns:a="http://schemas.openxmlformats.org/drawingml/2006/main">
            <a:off x="6572250" y="4629150"/>
            <a:ext cx="4762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Assistant</a:t>
            </a:r>
          </a:p>
        </p:txBody>
      </p:sp>
      <p:sp>
        <p:nvSpPr>
          <p:cNvPr id="12" name="text">
            <a:extLst xmlns:a="http://schemas.openxmlformats.org/drawingml/2006/main">
              <a:ext uri="{FF2B5EF4-FFF2-40B4-BE49-F238E27FC236}">
                <a16:creationId xmlns:a16="http://schemas.microsoft.com/office/drawing/2014/main" id="{D6545E2A-992A-4175-8AE2-80084012F8D0}"/>
              </a:ext>
            </a:extLst>
          </p:cNvPr>
          <p:cNvSpPr>
            <a:spLocks xmlns:a="http://schemas.openxmlformats.org/drawingml/2006/main" noGrp="1"/>
          </p:cNvSpPr>
          <p:nvPr/>
        </p:nvSpPr>
        <p:spPr>
          <a:xfrm xmlns:a="http://schemas.openxmlformats.org/drawingml/2006/main">
            <a:off x="6572250" y="5095875"/>
            <a:ext cx="4762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Explain website workflows using permitted documentation and context.</a:t>
            </a:r>
          </a:p>
        </p:txBody>
      </p:sp>
    </p:spTree>
    <p:extLst>
      <p:ext uri="{BB962C8B-B14F-4D97-AF65-F5344CB8AC3E}">
        <p14:creationId xmlns:p14="http://schemas.microsoft.com/office/powerpoint/2010/main" val="659315448"/>
      </p:ext>
    </p:extLst>
  </p:cSld>
</p:sld>
</file>

<file path=ppt/slides/slide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9150A8EC-D211-4F10-BE56-D0405F91274F}"/>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Problem statement</a:t>
            </a:r>
          </a:p>
        </p:txBody>
      </p:sp>
      <p:sp>
        <p:nvSpPr>
          <p:cNvPr id="2" name="footer">
            <a:extLst xmlns:a="http://schemas.openxmlformats.org/drawingml/2006/main">
              <a:ext uri="{FF2B5EF4-FFF2-40B4-BE49-F238E27FC236}">
                <a16:creationId xmlns:a16="http://schemas.microsoft.com/office/drawing/2014/main" id="{F7BE30F2-5E53-4E3D-A95E-6DFB9A0E79FB}"/>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3117276F-928D-4210-85FA-630B4B95DBAB}"/>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03</a:t>
            </a:r>
          </a:p>
        </p:txBody>
      </p:sp>
      <p:sp>
        <p:nvSpPr>
          <p:cNvPr id="4" name="text">
            <a:extLst xmlns:a="http://schemas.openxmlformats.org/drawingml/2006/main">
              <a:ext uri="{FF2B5EF4-FFF2-40B4-BE49-F238E27FC236}">
                <a16:creationId xmlns:a16="http://schemas.microsoft.com/office/drawing/2014/main" id="{D1337B04-2DE9-4331-9872-C2805FB01F43}"/>
              </a:ext>
            </a:extLst>
          </p:cNvPr>
          <p:cNvSpPr>
            <a:spLocks xmlns:a="http://schemas.openxmlformats.org/drawingml/2006/main" noGrp="1"/>
          </p:cNvSpPr>
          <p:nvPr/>
        </p:nvSpPr>
        <p:spPr>
          <a:xfrm xmlns:a="http://schemas.openxmlformats.org/drawingml/2006/main">
            <a:off x="628650" y="18097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Scattered learning material</a:t>
            </a:r>
          </a:p>
        </p:txBody>
      </p:sp>
      <p:sp>
        <p:nvSpPr>
          <p:cNvPr id="5" name="text">
            <a:extLst xmlns:a="http://schemas.openxmlformats.org/drawingml/2006/main">
              <a:ext uri="{FF2B5EF4-FFF2-40B4-BE49-F238E27FC236}">
                <a16:creationId xmlns:a16="http://schemas.microsoft.com/office/drawing/2014/main" id="{35E49B3A-34B8-4DCA-B8D9-444573D723F8}"/>
              </a:ext>
            </a:extLst>
          </p:cNvPr>
          <p:cNvSpPr>
            <a:spLocks xmlns:a="http://schemas.openxmlformats.org/drawingml/2006/main" noGrp="1"/>
          </p:cNvSpPr>
          <p:nvPr/>
        </p:nvSpPr>
        <p:spPr>
          <a:xfrm xmlns:a="http://schemas.openxmlformats.org/drawingml/2006/main">
            <a:off x="628650" y="22383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Notes, lesson links and assignments need a common home.</a:t>
            </a:r>
          </a:p>
        </p:txBody>
      </p:sp>
      <p:sp>
        <p:nvSpPr>
          <p:cNvPr id="6" name="text">
            <a:extLst xmlns:a="http://schemas.openxmlformats.org/drawingml/2006/main">
              <a:ext uri="{FF2B5EF4-FFF2-40B4-BE49-F238E27FC236}">
                <a16:creationId xmlns:a16="http://schemas.microsoft.com/office/drawing/2014/main" id="{B0E700A6-C199-4D17-8341-B611576228D4}"/>
              </a:ext>
            </a:extLst>
          </p:cNvPr>
          <p:cNvSpPr>
            <a:spLocks xmlns:a="http://schemas.openxmlformats.org/drawingml/2006/main" noGrp="1"/>
          </p:cNvSpPr>
          <p:nvPr/>
        </p:nvSpPr>
        <p:spPr>
          <a:xfrm xmlns:a="http://schemas.openxmlformats.org/drawingml/2006/main">
            <a:off x="628650" y="28765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Unclear progress and feedback</a:t>
            </a:r>
          </a:p>
        </p:txBody>
      </p:sp>
      <p:sp>
        <p:nvSpPr>
          <p:cNvPr id="7" name="text">
            <a:extLst xmlns:a="http://schemas.openxmlformats.org/drawingml/2006/main">
              <a:ext uri="{FF2B5EF4-FFF2-40B4-BE49-F238E27FC236}">
                <a16:creationId xmlns:a16="http://schemas.microsoft.com/office/drawing/2014/main" id="{1F459BF6-71AC-438A-8C6B-0EA81B7695A1}"/>
              </a:ext>
            </a:extLst>
          </p:cNvPr>
          <p:cNvSpPr>
            <a:spLocks xmlns:a="http://schemas.openxmlformats.org/drawingml/2006/main" noGrp="1"/>
          </p:cNvSpPr>
          <p:nvPr/>
        </p:nvSpPr>
        <p:spPr>
          <a:xfrm xmlns:a="http://schemas.openxmlformats.org/drawingml/2006/main">
            <a:off x="628650" y="33051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Learners need visible deadlines, saved progress and their own results.</a:t>
            </a:r>
          </a:p>
        </p:txBody>
      </p:sp>
      <p:sp>
        <p:nvSpPr>
          <p:cNvPr id="8" name="text">
            <a:extLst xmlns:a="http://schemas.openxmlformats.org/drawingml/2006/main">
              <a:ext uri="{FF2B5EF4-FFF2-40B4-BE49-F238E27FC236}">
                <a16:creationId xmlns:a16="http://schemas.microsoft.com/office/drawing/2014/main" id="{97B8298E-53A8-4C0A-A5CF-E665268FA8F5}"/>
              </a:ext>
            </a:extLst>
          </p:cNvPr>
          <p:cNvSpPr>
            <a:spLocks xmlns:a="http://schemas.openxmlformats.org/drawingml/2006/main" noGrp="1"/>
          </p:cNvSpPr>
          <p:nvPr/>
        </p:nvSpPr>
        <p:spPr>
          <a:xfrm xmlns:a="http://schemas.openxmlformats.org/drawingml/2006/main">
            <a:off x="628650" y="39433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Separate responsibilities</a:t>
            </a:r>
          </a:p>
        </p:txBody>
      </p:sp>
      <p:sp>
        <p:nvSpPr>
          <p:cNvPr id="9" name="text">
            <a:extLst xmlns:a="http://schemas.openxmlformats.org/drawingml/2006/main">
              <a:ext uri="{FF2B5EF4-FFF2-40B4-BE49-F238E27FC236}">
                <a16:creationId xmlns:a16="http://schemas.microsoft.com/office/drawing/2014/main" id="{8BC7F104-41C7-473A-8410-2A8E165D952E}"/>
              </a:ext>
            </a:extLst>
          </p:cNvPr>
          <p:cNvSpPr>
            <a:spLocks xmlns:a="http://schemas.openxmlformats.org/drawingml/2006/main" noGrp="1"/>
          </p:cNvSpPr>
          <p:nvPr/>
        </p:nvSpPr>
        <p:spPr>
          <a:xfrm xmlns:a="http://schemas.openxmlformats.org/drawingml/2006/main">
            <a:off x="628650" y="43719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Students, instructors and admins need different access.</a:t>
            </a:r>
          </a:p>
        </p:txBody>
      </p:sp>
      <p:sp>
        <p:nvSpPr>
          <p:cNvPr id="10" name="text">
            <a:extLst xmlns:a="http://schemas.openxmlformats.org/drawingml/2006/main">
              <a:ext uri="{FF2B5EF4-FFF2-40B4-BE49-F238E27FC236}">
                <a16:creationId xmlns:a16="http://schemas.microsoft.com/office/drawing/2014/main" id="{CE692588-7F5A-43FF-818C-F496E22A6A16}"/>
              </a:ext>
            </a:extLst>
          </p:cNvPr>
          <p:cNvSpPr>
            <a:spLocks xmlns:a="http://schemas.openxmlformats.org/drawingml/2006/main" noGrp="1"/>
          </p:cNvSpPr>
          <p:nvPr/>
        </p:nvSpPr>
        <p:spPr>
          <a:xfrm xmlns:a="http://schemas.openxmlformats.org/drawingml/2006/main">
            <a:off x="628650" y="50101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Unverified scores and credentials</a:t>
            </a:r>
          </a:p>
        </p:txBody>
      </p:sp>
      <p:sp>
        <p:nvSpPr>
          <p:cNvPr id="11" name="text">
            <a:extLst xmlns:a="http://schemas.openxmlformats.org/drawingml/2006/main">
              <a:ext uri="{FF2B5EF4-FFF2-40B4-BE49-F238E27FC236}">
                <a16:creationId xmlns:a16="http://schemas.microsoft.com/office/drawing/2014/main" id="{423B5F5A-03ED-47C6-B088-D5076DF2E88E}"/>
              </a:ext>
            </a:extLst>
          </p:cNvPr>
          <p:cNvSpPr>
            <a:spLocks xmlns:a="http://schemas.openxmlformats.org/drawingml/2006/main" noGrp="1"/>
          </p:cNvSpPr>
          <p:nvPr/>
        </p:nvSpPr>
        <p:spPr>
          <a:xfrm xmlns:a="http://schemas.openxmlformats.org/drawingml/2006/main">
            <a:off x="628650" y="54387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Scores, certificates and AI labels should reflect stored evidence.</a:t>
            </a:r>
          </a:p>
        </p:txBody>
      </p:sp>
    </p:spTree>
    <p:extLst>
      <p:ext uri="{BB962C8B-B14F-4D97-AF65-F5344CB8AC3E}">
        <p14:creationId xmlns:p14="http://schemas.microsoft.com/office/powerpoint/2010/main" val="960421388"/>
      </p:ext>
    </p:extLst>
  </p:cSld>
</p:sld>
</file>

<file path=ppt/slides/slide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DF75C003-E570-4C62-9DE1-F290710E7EFA}"/>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Objectives and scope</a:t>
            </a:r>
          </a:p>
        </p:txBody>
      </p:sp>
      <p:sp>
        <p:nvSpPr>
          <p:cNvPr id="2" name="footer">
            <a:extLst xmlns:a="http://schemas.openxmlformats.org/drawingml/2006/main">
              <a:ext uri="{FF2B5EF4-FFF2-40B4-BE49-F238E27FC236}">
                <a16:creationId xmlns:a16="http://schemas.microsoft.com/office/drawing/2014/main" id="{034836B1-FF44-411E-B344-2D5677CA0A59}"/>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C19FB60A-39B9-4771-95D8-77D4AD5CAB3F}"/>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04</a:t>
            </a:r>
          </a:p>
        </p:txBody>
      </p:sp>
      <p:sp>
        <p:nvSpPr>
          <p:cNvPr id="4" name="text">
            <a:extLst xmlns:a="http://schemas.openxmlformats.org/drawingml/2006/main">
              <a:ext uri="{FF2B5EF4-FFF2-40B4-BE49-F238E27FC236}">
                <a16:creationId xmlns:a16="http://schemas.microsoft.com/office/drawing/2014/main" id="{07B582F3-F63A-4CC7-A0F2-9D01CD0F3DDA}"/>
              </a:ext>
            </a:extLst>
          </p:cNvPr>
          <p:cNvSpPr>
            <a:spLocks xmlns:a="http://schemas.openxmlformats.org/drawingml/2006/main" noGrp="1"/>
          </p:cNvSpPr>
          <p:nvPr/>
        </p:nvSpPr>
        <p:spPr>
          <a:xfrm xmlns:a="http://schemas.openxmlformats.org/drawingml/2006/main">
            <a:off x="628650" y="180975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F8C"/>
                </a:solidFill>
                <a:latin typeface="Arial"/>
                <a:ea typeface="Arial"/>
                <a:cs typeface="Arial"/>
              </a:defRPr>
            </a:defPPr>
          </a:lstStyle>
          <a:p xmlns:a="http://schemas.openxmlformats.org/drawingml/2006/main">
            <a:pPr algn="l">
              <a:defRPr sz="2400" b="1">
                <a:solidFill>
                  <a:srgbClr val="087F8C"/>
                </a:solidFill>
                <a:latin typeface="Arial"/>
                <a:ea typeface="Arial"/>
                <a:cs typeface="Arial"/>
              </a:defRPr>
            </a:pPr>
            <a:r>
              <a:rPr sz="2400" b="1">
                <a:solidFill>
                  <a:srgbClr val="087F8C"/>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A81549E9-F639-4678-896A-4B455A90F5A2}"/>
              </a:ext>
            </a:extLst>
          </p:cNvPr>
          <p:cNvSpPr>
            <a:spLocks xmlns:a="http://schemas.openxmlformats.org/drawingml/2006/main" noGrp="1"/>
          </p:cNvSpPr>
          <p:nvPr/>
        </p:nvSpPr>
        <p:spPr>
          <a:xfrm xmlns:a="http://schemas.openxmlformats.org/drawingml/2006/main">
            <a:off x="1238250" y="1809750"/>
            <a:ext cx="986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Accessible course enrollment</a:t>
            </a:r>
          </a:p>
        </p:txBody>
      </p:sp>
      <p:sp>
        <p:nvSpPr>
          <p:cNvPr id="6" name="text">
            <a:extLst xmlns:a="http://schemas.openxmlformats.org/drawingml/2006/main">
              <a:ext uri="{FF2B5EF4-FFF2-40B4-BE49-F238E27FC236}">
                <a16:creationId xmlns:a16="http://schemas.microsoft.com/office/drawing/2014/main" id="{4C403155-9240-4B8E-9EB9-39B04DF09AAC}"/>
              </a:ext>
            </a:extLst>
          </p:cNvPr>
          <p:cNvSpPr>
            <a:spLocks xmlns:a="http://schemas.openxmlformats.org/drawingml/2006/main" noGrp="1"/>
          </p:cNvSpPr>
          <p:nvPr/>
        </p:nvSpPr>
        <p:spPr>
          <a:xfrm xmlns:a="http://schemas.openxmlformats.org/drawingml/2006/main">
            <a:off x="1238250" y="2238375"/>
            <a:ext cx="9867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Every published course is free.</a:t>
            </a:r>
          </a:p>
        </p:txBody>
      </p:sp>
      <p:sp>
        <p:nvSpPr>
          <p:cNvPr id="7" name="text">
            <a:extLst xmlns:a="http://schemas.openxmlformats.org/drawingml/2006/main">
              <a:ext uri="{FF2B5EF4-FFF2-40B4-BE49-F238E27FC236}">
                <a16:creationId xmlns:a16="http://schemas.microsoft.com/office/drawing/2014/main" id="{D63E77D3-6234-4CB2-9581-DDE998127BFB}"/>
              </a:ext>
            </a:extLst>
          </p:cNvPr>
          <p:cNvSpPr>
            <a:spLocks xmlns:a="http://schemas.openxmlformats.org/drawingml/2006/main" noGrp="1"/>
          </p:cNvSpPr>
          <p:nvPr/>
        </p:nvSpPr>
        <p:spPr>
          <a:xfrm xmlns:a="http://schemas.openxmlformats.org/drawingml/2006/main">
            <a:off x="628650" y="287655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F8C"/>
                </a:solidFill>
                <a:latin typeface="Arial"/>
                <a:ea typeface="Arial"/>
                <a:cs typeface="Arial"/>
              </a:defRPr>
            </a:defPPr>
          </a:lstStyle>
          <a:p xmlns:a="http://schemas.openxmlformats.org/drawingml/2006/main">
            <a:pPr algn="l">
              <a:defRPr sz="2400" b="1">
                <a:solidFill>
                  <a:srgbClr val="087F8C"/>
                </a:solidFill>
                <a:latin typeface="Arial"/>
                <a:ea typeface="Arial"/>
                <a:cs typeface="Arial"/>
              </a:defRPr>
            </a:pPr>
            <a:r>
              <a:rPr sz="2400" b="1">
                <a:solidFill>
                  <a:srgbClr val="087F8C"/>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361C1A92-8092-43B4-B44F-E0B43255E0EA}"/>
              </a:ext>
            </a:extLst>
          </p:cNvPr>
          <p:cNvSpPr>
            <a:spLocks xmlns:a="http://schemas.openxmlformats.org/drawingml/2006/main" noGrp="1"/>
          </p:cNvSpPr>
          <p:nvPr/>
        </p:nvSpPr>
        <p:spPr>
          <a:xfrm xmlns:a="http://schemas.openxmlformats.org/drawingml/2006/main">
            <a:off x="1238250" y="2876550"/>
            <a:ext cx="986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Organized teaching and learning</a:t>
            </a:r>
          </a:p>
        </p:txBody>
      </p:sp>
      <p:sp>
        <p:nvSpPr>
          <p:cNvPr id="9" name="text">
            <a:extLst xmlns:a="http://schemas.openxmlformats.org/drawingml/2006/main">
              <a:ext uri="{FF2B5EF4-FFF2-40B4-BE49-F238E27FC236}">
                <a16:creationId xmlns:a16="http://schemas.microsoft.com/office/drawing/2014/main" id="{0D916F34-9E54-460F-96E3-103357128B1D}"/>
              </a:ext>
            </a:extLst>
          </p:cNvPr>
          <p:cNvSpPr>
            <a:spLocks xmlns:a="http://schemas.openxmlformats.org/drawingml/2006/main" noGrp="1"/>
          </p:cNvSpPr>
          <p:nvPr/>
        </p:nvSpPr>
        <p:spPr>
          <a:xfrm xmlns:a="http://schemas.openxmlformats.org/drawingml/2006/main">
            <a:off x="1238250" y="3305175"/>
            <a:ext cx="9867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Curricula, deadlines, submissions and feedback remain connected.</a:t>
            </a:r>
          </a:p>
        </p:txBody>
      </p:sp>
      <p:sp>
        <p:nvSpPr>
          <p:cNvPr id="10" name="text">
            <a:extLst xmlns:a="http://schemas.openxmlformats.org/drawingml/2006/main">
              <a:ext uri="{FF2B5EF4-FFF2-40B4-BE49-F238E27FC236}">
                <a16:creationId xmlns:a16="http://schemas.microsoft.com/office/drawing/2014/main" id="{B6EC3E21-60AB-4CC9-9917-E2B0100983F2}"/>
              </a:ext>
            </a:extLst>
          </p:cNvPr>
          <p:cNvSpPr>
            <a:spLocks xmlns:a="http://schemas.openxmlformats.org/drawingml/2006/main" noGrp="1"/>
          </p:cNvSpPr>
          <p:nvPr/>
        </p:nvSpPr>
        <p:spPr>
          <a:xfrm xmlns:a="http://schemas.openxmlformats.org/drawingml/2006/main">
            <a:off x="628650" y="394335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F8C"/>
                </a:solidFill>
                <a:latin typeface="Arial"/>
                <a:ea typeface="Arial"/>
                <a:cs typeface="Arial"/>
              </a:defRPr>
            </a:defPPr>
          </a:lstStyle>
          <a:p xmlns:a="http://schemas.openxmlformats.org/drawingml/2006/main">
            <a:pPr algn="l">
              <a:defRPr sz="2400" b="1">
                <a:solidFill>
                  <a:srgbClr val="087F8C"/>
                </a:solidFill>
                <a:latin typeface="Arial"/>
                <a:ea typeface="Arial"/>
                <a:cs typeface="Arial"/>
              </a:defRPr>
            </a:pPr>
            <a:r>
              <a:rPr sz="2400" b="1">
                <a:solidFill>
                  <a:srgbClr val="087F8C"/>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69ADE67F-B422-4FC7-BE69-5400A3319181}"/>
              </a:ext>
            </a:extLst>
          </p:cNvPr>
          <p:cNvSpPr>
            <a:spLocks xmlns:a="http://schemas.openxmlformats.org/drawingml/2006/main" noGrp="1"/>
          </p:cNvSpPr>
          <p:nvPr/>
        </p:nvSpPr>
        <p:spPr>
          <a:xfrm xmlns:a="http://schemas.openxmlformats.org/drawingml/2006/main">
            <a:off x="1238250" y="3943350"/>
            <a:ext cx="986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Reliable assessment records</a:t>
            </a:r>
          </a:p>
        </p:txBody>
      </p:sp>
      <p:sp>
        <p:nvSpPr>
          <p:cNvPr id="12" name="text">
            <a:extLst xmlns:a="http://schemas.openxmlformats.org/drawingml/2006/main">
              <a:ext uri="{FF2B5EF4-FFF2-40B4-BE49-F238E27FC236}">
                <a16:creationId xmlns:a16="http://schemas.microsoft.com/office/drawing/2014/main" id="{5B6303C1-A9F1-4B14-950E-4C53C5B8F095}"/>
              </a:ext>
            </a:extLst>
          </p:cNvPr>
          <p:cNvSpPr>
            <a:spLocks xmlns:a="http://schemas.openxmlformats.org/drawingml/2006/main" noGrp="1"/>
          </p:cNvSpPr>
          <p:nvPr/>
        </p:nvSpPr>
        <p:spPr>
          <a:xfrm xmlns:a="http://schemas.openxmlformats.org/drawingml/2006/main">
            <a:off x="1238250" y="4371975"/>
            <a:ext cx="9867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The server owns answer keys, attempts and certificate eligibility.</a:t>
            </a:r>
          </a:p>
        </p:txBody>
      </p:sp>
      <p:sp>
        <p:nvSpPr>
          <p:cNvPr id="13" name="text">
            <a:extLst xmlns:a="http://schemas.openxmlformats.org/drawingml/2006/main">
              <a:ext uri="{FF2B5EF4-FFF2-40B4-BE49-F238E27FC236}">
                <a16:creationId xmlns:a16="http://schemas.microsoft.com/office/drawing/2014/main" id="{EE9ECEF7-3651-4EBD-B8C4-DBFD010B9214}"/>
              </a:ext>
            </a:extLst>
          </p:cNvPr>
          <p:cNvSpPr>
            <a:spLocks xmlns:a="http://schemas.openxmlformats.org/drawingml/2006/main" noGrp="1"/>
          </p:cNvSpPr>
          <p:nvPr/>
        </p:nvSpPr>
        <p:spPr>
          <a:xfrm xmlns:a="http://schemas.openxmlformats.org/drawingml/2006/main">
            <a:off x="628650" y="501015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F8C"/>
                </a:solidFill>
                <a:latin typeface="Arial"/>
                <a:ea typeface="Arial"/>
                <a:cs typeface="Arial"/>
              </a:defRPr>
            </a:defPPr>
          </a:lstStyle>
          <a:p xmlns:a="http://schemas.openxmlformats.org/drawingml/2006/main">
            <a:pPr algn="l">
              <a:defRPr sz="2400" b="1">
                <a:solidFill>
                  <a:srgbClr val="087F8C"/>
                </a:solidFill>
                <a:latin typeface="Arial"/>
                <a:ea typeface="Arial"/>
                <a:cs typeface="Arial"/>
              </a:defRPr>
            </a:pPr>
            <a:r>
              <a:rPr sz="2400" b="1">
                <a:solidFill>
                  <a:srgbClr val="087F8C"/>
                </a:solidFill>
                <a:latin typeface="Arial"/>
                <a:ea typeface="Arial"/>
                <a:cs typeface="Arial"/>
              </a:rPr>
              <a:t>04</a:t>
            </a:r>
          </a:p>
        </p:txBody>
      </p:sp>
      <p:sp>
        <p:nvSpPr>
          <p:cNvPr id="14" name="text">
            <a:extLst xmlns:a="http://schemas.openxmlformats.org/drawingml/2006/main">
              <a:ext uri="{FF2B5EF4-FFF2-40B4-BE49-F238E27FC236}">
                <a16:creationId xmlns:a16="http://schemas.microsoft.com/office/drawing/2014/main" id="{A0E1AE69-A1CE-4532-8EF3-8B7E59965991}"/>
              </a:ext>
            </a:extLst>
          </p:cNvPr>
          <p:cNvSpPr>
            <a:spLocks xmlns:a="http://schemas.openxmlformats.org/drawingml/2006/main" noGrp="1"/>
          </p:cNvSpPr>
          <p:nvPr/>
        </p:nvSpPr>
        <p:spPr>
          <a:xfrm xmlns:a="http://schemas.openxmlformats.org/drawingml/2006/main">
            <a:off x="1238250" y="5010150"/>
            <a:ext cx="986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Private contextual assistance</a:t>
            </a:r>
          </a:p>
        </p:txBody>
      </p:sp>
      <p:sp>
        <p:nvSpPr>
          <p:cNvPr id="15" name="text">
            <a:extLst xmlns:a="http://schemas.openxmlformats.org/drawingml/2006/main">
              <a:ext uri="{FF2B5EF4-FFF2-40B4-BE49-F238E27FC236}">
                <a16:creationId xmlns:a16="http://schemas.microsoft.com/office/drawing/2014/main" id="{07D3FFD6-CE06-4EED-9C5E-D8CDFCA659D5}"/>
              </a:ext>
            </a:extLst>
          </p:cNvPr>
          <p:cNvSpPr>
            <a:spLocks xmlns:a="http://schemas.openxmlformats.org/drawingml/2006/main" noGrp="1"/>
          </p:cNvSpPr>
          <p:nvPr/>
        </p:nvSpPr>
        <p:spPr>
          <a:xfrm xmlns:a="http://schemas.openxmlformats.org/drawingml/2006/main">
            <a:off x="1238250" y="5438775"/>
            <a:ext cx="9867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The assistant retrieves only information permitted for the caller.</a:t>
            </a:r>
          </a:p>
        </p:txBody>
      </p:sp>
    </p:spTree>
    <p:extLst>
      <p:ext uri="{BB962C8B-B14F-4D97-AF65-F5344CB8AC3E}">
        <p14:creationId xmlns:p14="http://schemas.microsoft.com/office/powerpoint/2010/main" val="668353138"/>
      </p:ext>
    </p:extLst>
  </p:cSld>
</p:sld>
</file>

<file path=ppt/slides/slide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51171592-9314-463B-8DB5-DBB867E8E437}"/>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User roles and responsibilities</a:t>
            </a:r>
          </a:p>
        </p:txBody>
      </p:sp>
      <p:sp>
        <p:nvSpPr>
          <p:cNvPr id="2" name="footer">
            <a:extLst xmlns:a="http://schemas.openxmlformats.org/drawingml/2006/main">
              <a:ext uri="{FF2B5EF4-FFF2-40B4-BE49-F238E27FC236}">
                <a16:creationId xmlns:a16="http://schemas.microsoft.com/office/drawing/2014/main" id="{CE4C2E3C-04C8-4A42-A1E6-4373732F3917}"/>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A3E29305-10F4-4E2C-B4AB-FB610121A87D}"/>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05</a:t>
            </a:r>
          </a:p>
        </p:txBody>
      </p:sp>
      <p:graphicFrame>
        <p:nvGraphicFramePr>
          <p:cNvPr id="4" name="">
            <a:extLst xmlns:a="http://schemas.openxmlformats.org/drawingml/2006/main">
              <a:ext uri="{FF2B5EF4-FFF2-40B4-BE49-F238E27FC236}">
                <a16:creationId xmlns:a16="http://schemas.microsoft.com/office/drawing/2014/main" id="{A5E64B65-2603-4A02-9EFB-F33E7438E01F}"/>
              </a:ext>
            </a:extLst>
          </p:cNvPr>
          <p:cNvGraphicFramePr/>
          <p:nvPr/>
        </p:nvGraphicFramePr>
        <p:xfrm>
          <a:off xmlns:a="http://schemas.openxmlformats.org/drawingml/2006/main" x="609600" y="1809750"/>
          <a:ext xmlns:a="http://schemas.openxmlformats.org/drawingml/2006/main" cx="10972800" cy="3667125"/>
        </p:xfrm>
        <a:graphic xmlns:a="http://schemas.openxmlformats.org/drawingml/2006/main">
          <a:graphicData uri="http://schemas.openxmlformats.org/drawingml/2006/table">
            <a:tbl>
              <a:tblPr/>
              <a:tblGrid>
                <a:gridCol w="1981200"/>
                <a:gridCol w="5000625"/>
                <a:gridCol w="3990975"/>
              </a:tblGrid>
              <a:tr h="916781">
                <a:tc>
                  <a:txBody>
                    <a:bodyPr/>
                    <a:lstStyle/>
                    <a:p>
                      <a:r>
                        <a:rPr sz="1875" b="1">
                          <a:solidFill>
                            <a:srgbClr val="FFFFFF"/>
                          </a:solidFill>
                          <a:latin typeface="Arial"/>
                          <a:ea typeface="Arial"/>
                          <a:cs typeface="Arial"/>
                        </a:rPr>
                        <a:t>Role</a:t>
                      </a:r>
                    </a:p>
                  </a:txBody>
                  <a:tcPr marL="152400" marR="152400" marT="133350" marB="95250" anchor="ctr">
                    <a:lnL w="6191">
                      <a:solidFill>
                        <a:srgbClr val="C9D3DE"/>
                      </a:solidFill>
                      <a:prstDash val="solid"/>
                    </a:lnL>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c>
                  <a:txBody>
                    <a:bodyPr/>
                    <a:lstStyle/>
                    <a:p>
                      <a:r>
                        <a:rPr sz="1875" b="1">
                          <a:solidFill>
                            <a:srgbClr val="FFFFFF"/>
                          </a:solidFill>
                          <a:latin typeface="Arial"/>
                          <a:ea typeface="Arial"/>
                          <a:cs typeface="Arial"/>
                        </a:rPr>
                        <a:t>Main actions</a:t>
                      </a:r>
                    </a:p>
                  </a:txBody>
                  <a:tcPr marL="152400" marR="152400" marT="133350" marB="95250" anchor="ctr">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c>
                  <a:txBody>
                    <a:bodyPr/>
                    <a:lstStyle/>
                    <a:p>
                      <a:r>
                        <a:rPr sz="1875" b="1">
                          <a:solidFill>
                            <a:srgbClr val="FFFFFF"/>
                          </a:solidFill>
                          <a:latin typeface="Arial"/>
                          <a:ea typeface="Arial"/>
                          <a:cs typeface="Arial"/>
                        </a:rPr>
                        <a:t>Access boundary</a:t>
                      </a:r>
                    </a:p>
                  </a:txBody>
                  <a:tcPr marL="152400" marR="152400" marT="133350" marB="95250" anchor="ctr">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r>
              <a:tr h="916781">
                <a:tc>
                  <a:txBody>
                    <a:bodyPr/>
                    <a:lstStyle/>
                    <a:p>
                      <a:r>
                        <a:rPr sz="1875">
                          <a:solidFill>
                            <a:srgbClr val="24374D"/>
                          </a:solidFill>
                          <a:latin typeface="Arial"/>
                          <a:ea typeface="Arial"/>
                          <a:cs typeface="Arial"/>
                        </a:rPr>
                        <a:t>Student</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875">
                          <a:solidFill>
                            <a:srgbClr val="24374D"/>
                          </a:solidFill>
                          <a:latin typeface="Arial"/>
                          <a:ea typeface="Arial"/>
                          <a:cs typeface="Arial"/>
                        </a:rPr>
                        <a:t>Enroll, learn, submit, practise</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c>
                  <a:txBody>
                    <a:bodyPr/>
                    <a:lstStyle/>
                    <a:p>
                      <a:r>
                        <a:rPr sz="1875">
                          <a:solidFill>
                            <a:srgbClr val="24374D"/>
                          </a:solidFill>
                          <a:latin typeface="Arial"/>
                          <a:ea typeface="Arial"/>
                          <a:cs typeface="Arial"/>
                        </a:rPr>
                        <a:t>Own learning records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916781">
                <a:tc>
                  <a:txBody>
                    <a:bodyPr/>
                    <a:lstStyle/>
                    <a:p>
                      <a:r>
                        <a:rPr sz="1875">
                          <a:solidFill>
                            <a:srgbClr val="24374D"/>
                          </a:solidFill>
                          <a:latin typeface="Arial"/>
                          <a:ea typeface="Arial"/>
                          <a:cs typeface="Arial"/>
                        </a:rPr>
                        <a:t>Instructor</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875">
                          <a:solidFill>
                            <a:srgbClr val="24374D"/>
                          </a:solidFill>
                          <a:latin typeface="Arial"/>
                          <a:ea typeface="Arial"/>
                          <a:cs typeface="Arial"/>
                        </a:rPr>
                        <a:t>Create courses, quizzes and assignments</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c>
                  <a:txBody>
                    <a:bodyPr/>
                    <a:lstStyle/>
                    <a:p>
                      <a:r>
                        <a:rPr sz="1875">
                          <a:solidFill>
                            <a:srgbClr val="24374D"/>
                          </a:solidFill>
                          <a:latin typeface="Arial"/>
                          <a:ea typeface="Arial"/>
                          <a:cs typeface="Arial"/>
                        </a:rPr>
                        <a:t>Owned courses and submissions</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r h="916781">
                <a:tc>
                  <a:txBody>
                    <a:bodyPr/>
                    <a:lstStyle/>
                    <a:p>
                      <a:r>
                        <a:rPr sz="1875">
                          <a:solidFill>
                            <a:srgbClr val="24374D"/>
                          </a:solidFill>
                          <a:latin typeface="Arial"/>
                          <a:ea typeface="Arial"/>
                          <a:cs typeface="Arial"/>
                        </a:rPr>
                        <a:t>Admin</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875">
                          <a:solidFill>
                            <a:srgbClr val="24374D"/>
                          </a:solidFill>
                          <a:latin typeface="Arial"/>
                          <a:ea typeface="Arial"/>
                          <a:cs typeface="Arial"/>
                        </a:rPr>
                        <a:t>Review courses and manage accounts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c>
                  <a:txBody>
                    <a:bodyPr/>
                    <a:lstStyle/>
                    <a:p>
                      <a:r>
                        <a:rPr sz="1875">
                          <a:solidFill>
                            <a:srgbClr val="24374D"/>
                          </a:solidFill>
                          <a:latin typeface="Arial"/>
                          <a:ea typeface="Arial"/>
                          <a:cs typeface="Arial"/>
                        </a:rPr>
                        <a:t>Authorized governance actions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bl>
          </a:graphicData>
        </a:graphic>
      </p:graphicFrame>
      <p:sp>
        <p:nvSpPr>
          <p:cNvPr id="5" name="text">
            <a:extLst xmlns:a="http://schemas.openxmlformats.org/drawingml/2006/main">
              <a:ext uri="{FF2B5EF4-FFF2-40B4-BE49-F238E27FC236}">
                <a16:creationId xmlns:a16="http://schemas.microsoft.com/office/drawing/2014/main" id="{5E47A403-E0A8-4F5E-8F86-9BD0D48579A4}"/>
              </a:ext>
            </a:extLst>
          </p:cNvPr>
          <p:cNvSpPr>
            <a:spLocks xmlns:a="http://schemas.openxmlformats.org/drawingml/2006/main" noGrp="1"/>
          </p:cNvSpPr>
          <p:nvPr/>
        </p:nvSpPr>
        <p:spPr>
          <a:xfrm xmlns:a="http://schemas.openxmlformats.org/drawingml/2006/main">
            <a:off x="638175" y="58674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C"/>
                </a:solidFill>
                <a:latin typeface="Arial"/>
                <a:ea typeface="Arial"/>
                <a:cs typeface="Arial"/>
              </a:defRPr>
            </a:defPPr>
          </a:lstStyle>
          <a:p xmlns:a="http://schemas.openxmlformats.org/drawingml/2006/main">
            <a:pPr algn="l">
              <a:defRPr sz="1950" b="1">
                <a:solidFill>
                  <a:srgbClr val="087F8C"/>
                </a:solidFill>
                <a:latin typeface="Arial"/>
                <a:ea typeface="Arial"/>
                <a:cs typeface="Arial"/>
              </a:defRPr>
            </a:pPr>
            <a:r>
              <a:rPr sz="1950" b="1">
                <a:solidFill>
                  <a:srgbClr val="087F8C"/>
                </a:solidFill>
                <a:latin typeface="Arial"/>
                <a:ea typeface="Arial"/>
                <a:cs typeface="Arial"/>
              </a:rPr>
              <a:t>Backend role and ownership checks apply to every protected workflow.</a:t>
            </a:r>
          </a:p>
        </p:txBody>
      </p:sp>
    </p:spTree>
    <p:extLst>
      <p:ext uri="{BB962C8B-B14F-4D97-AF65-F5344CB8AC3E}">
        <p14:creationId xmlns:p14="http://schemas.microsoft.com/office/powerpoint/2010/main" val="2076229065"/>
      </p:ext>
    </p:extLst>
  </p:cSld>
</p:sld>
</file>

<file path=ppt/slides/slide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F77063C0-58F1-4DAD-9F4D-C04A5A0AA379}"/>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Technology stack</a:t>
            </a:r>
          </a:p>
        </p:txBody>
      </p:sp>
      <p:sp>
        <p:nvSpPr>
          <p:cNvPr id="2" name="footer">
            <a:extLst xmlns:a="http://schemas.openxmlformats.org/drawingml/2006/main">
              <a:ext uri="{FF2B5EF4-FFF2-40B4-BE49-F238E27FC236}">
                <a16:creationId xmlns:a16="http://schemas.microsoft.com/office/drawing/2014/main" id="{32FCCD8E-CDEA-4B9C-BB15-30F5531E5C7F}"/>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F16E25CB-5DF2-483B-8EC7-8B39635FFE7C}"/>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06</a:t>
            </a:r>
          </a:p>
        </p:txBody>
      </p:sp>
      <p:graphicFrame>
        <p:nvGraphicFramePr>
          <p:cNvPr id="4" name="">
            <a:extLst xmlns:a="http://schemas.openxmlformats.org/drawingml/2006/main">
              <a:ext uri="{FF2B5EF4-FFF2-40B4-BE49-F238E27FC236}">
                <a16:creationId xmlns:a16="http://schemas.microsoft.com/office/drawing/2014/main" id="{5A9BE009-5466-4B9C-BB10-77B7425662F1}"/>
              </a:ext>
            </a:extLst>
          </p:cNvPr>
          <p:cNvGraphicFramePr/>
          <p:nvPr/>
        </p:nvGraphicFramePr>
        <p:xfrm>
          <a:off xmlns:a="http://schemas.openxmlformats.org/drawingml/2006/main" x="609600" y="1809750"/>
          <a:ext xmlns:a="http://schemas.openxmlformats.org/drawingml/2006/main" cx="10972800" cy="4191000"/>
        </p:xfrm>
        <a:graphic xmlns:a="http://schemas.openxmlformats.org/drawingml/2006/main">
          <a:graphicData uri="http://schemas.openxmlformats.org/drawingml/2006/table">
            <a:tbl>
              <a:tblPr/>
              <a:tblGrid>
                <a:gridCol w="1952625"/>
                <a:gridCol w="4476750"/>
                <a:gridCol w="4543425"/>
              </a:tblGrid>
              <a:tr h="698500">
                <a:tc>
                  <a:txBody>
                    <a:bodyPr/>
                    <a:lstStyle/>
                    <a:p>
                      <a:r>
                        <a:rPr sz="1800" b="1">
                          <a:solidFill>
                            <a:srgbClr val="FFFFFF"/>
                          </a:solidFill>
                          <a:latin typeface="Arial"/>
                          <a:ea typeface="Arial"/>
                          <a:cs typeface="Arial"/>
                        </a:rPr>
                        <a:t>Layer</a:t>
                      </a:r>
                    </a:p>
                  </a:txBody>
                  <a:tcPr marL="152400" marR="152400" marT="133350" marB="95250" anchor="ctr">
                    <a:lnL w="6191">
                      <a:solidFill>
                        <a:srgbClr val="C9D3DE"/>
                      </a:solidFill>
                      <a:prstDash val="solid"/>
                    </a:lnL>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c>
                  <a:txBody>
                    <a:bodyPr/>
                    <a:lstStyle/>
                    <a:p>
                      <a:r>
                        <a:rPr sz="1800" b="1">
                          <a:solidFill>
                            <a:srgbClr val="FFFFFF"/>
                          </a:solidFill>
                          <a:latin typeface="Arial"/>
                          <a:ea typeface="Arial"/>
                          <a:cs typeface="Arial"/>
                        </a:rPr>
                        <a:t>Technology</a:t>
                      </a:r>
                    </a:p>
                  </a:txBody>
                  <a:tcPr marL="152400" marR="152400" marT="133350" marB="95250" anchor="ctr">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c>
                  <a:txBody>
                    <a:bodyPr/>
                    <a:lstStyle/>
                    <a:p>
                      <a:r>
                        <a:rPr sz="1800" b="1">
                          <a:solidFill>
                            <a:srgbClr val="FFFFFF"/>
                          </a:solidFill>
                          <a:latin typeface="Arial"/>
                          <a:ea typeface="Arial"/>
                          <a:cs typeface="Arial"/>
                        </a:rPr>
                        <a:t>Purpose</a:t>
                      </a:r>
                    </a:p>
                  </a:txBody>
                  <a:tcPr marL="152400" marR="152400" marT="133350" marB="95250" anchor="ctr">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r>
              <a:tr h="698500">
                <a:tc>
                  <a:txBody>
                    <a:bodyPr/>
                    <a:lstStyle/>
                    <a:p>
                      <a:r>
                        <a:rPr sz="1800">
                          <a:solidFill>
                            <a:srgbClr val="24374D"/>
                          </a:solidFill>
                          <a:latin typeface="Arial"/>
                          <a:ea typeface="Arial"/>
                          <a:cs typeface="Arial"/>
                        </a:rPr>
                        <a:t>Frontend</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Next.js 16, React 19, TypeScript</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Pages and role workspaces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698500">
                <a:tc>
                  <a:txBody>
                    <a:bodyPr/>
                    <a:lstStyle/>
                    <a:p>
                      <a:r>
                        <a:rPr sz="1800">
                          <a:solidFill>
                            <a:srgbClr val="24374D"/>
                          </a:solidFill>
                          <a:latin typeface="Arial"/>
                          <a:ea typeface="Arial"/>
                          <a:cs typeface="Arial"/>
                        </a:rPr>
                        <a:t>API</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800">
                          <a:solidFill>
                            <a:srgbClr val="24374D"/>
                          </a:solidFill>
                          <a:latin typeface="Arial"/>
                          <a:ea typeface="Arial"/>
                          <a:cs typeface="Arial"/>
                        </a:rPr>
                        <a:t>Node.js, Express 5</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c>
                  <a:txBody>
                    <a:bodyPr/>
                    <a:lstStyle/>
                    <a:p>
                      <a:r>
                        <a:rPr sz="1800">
                          <a:solidFill>
                            <a:srgbClr val="24374D"/>
                          </a:solidFill>
                          <a:latin typeface="Arial"/>
                          <a:ea typeface="Arial"/>
                          <a:cs typeface="Arial"/>
                        </a:rPr>
                        <a:t>Validation and business rules</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r h="698500">
                <a:tc>
                  <a:txBody>
                    <a:bodyPr/>
                    <a:lstStyle/>
                    <a:p>
                      <a:r>
                        <a:rPr sz="1800">
                          <a:solidFill>
                            <a:srgbClr val="24374D"/>
                          </a:solidFill>
                          <a:latin typeface="Arial"/>
                          <a:ea typeface="Arial"/>
                          <a:cs typeface="Arial"/>
                        </a:rPr>
                        <a:t>Storage</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MongoDB, Mongoose</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Persistent records and queries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698500">
                <a:tc>
                  <a:txBody>
                    <a:bodyPr/>
                    <a:lstStyle/>
                    <a:p>
                      <a:r>
                        <a:rPr sz="1800">
                          <a:solidFill>
                            <a:srgbClr val="24374D"/>
                          </a:solidFill>
                          <a:latin typeface="Arial"/>
                          <a:ea typeface="Arial"/>
                          <a:cs typeface="Arial"/>
                        </a:rPr>
                        <a:t>Client data</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800">
                          <a:solidFill>
                            <a:srgbClr val="24374D"/>
                          </a:solidFill>
                          <a:latin typeface="Arial"/>
                          <a:ea typeface="Arial"/>
                          <a:cs typeface="Arial"/>
                        </a:rPr>
                        <a:t>SWR, Axios, Zustand</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c>
                  <a:txBody>
                    <a:bodyPr/>
                    <a:lstStyle/>
                    <a:p>
                      <a:r>
                        <a:rPr sz="1800">
                          <a:solidFill>
                            <a:srgbClr val="24374D"/>
                          </a:solidFill>
                          <a:latin typeface="Arial"/>
                          <a:ea typeface="Arial"/>
                          <a:cs typeface="Arial"/>
                        </a:rPr>
                        <a:t>Requests and session state</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r h="698500">
                <a:tc>
                  <a:txBody>
                    <a:bodyPr/>
                    <a:lstStyle/>
                    <a:p>
                      <a:r>
                        <a:rPr sz="1800">
                          <a:solidFill>
                            <a:srgbClr val="24374D"/>
                          </a:solidFill>
                          <a:latin typeface="Arial"/>
                          <a:ea typeface="Arial"/>
                          <a:cs typeface="Arial"/>
                        </a:rPr>
                        <a:t>AI and runtime</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OpenAI APIs, Docker</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Optional assistance and packaging</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bl>
          </a:graphicData>
        </a:graphic>
      </p:graphicFrame>
    </p:spTree>
    <p:extLst>
      <p:ext uri="{BB962C8B-B14F-4D97-AF65-F5344CB8AC3E}">
        <p14:creationId xmlns:p14="http://schemas.microsoft.com/office/powerpoint/2010/main" val="2056129100"/>
      </p:ext>
    </p:extLst>
  </p:cSld>
</p:sld>
</file>

<file path=ppt/slides/slide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3DB07382-A9A3-48E9-8693-ABDD2C9160AD}"/>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System architecture</a:t>
            </a:r>
          </a:p>
        </p:txBody>
      </p:sp>
      <p:sp>
        <p:nvSpPr>
          <p:cNvPr id="2" name="footer">
            <a:extLst xmlns:a="http://schemas.openxmlformats.org/drawingml/2006/main">
              <a:ext uri="{FF2B5EF4-FFF2-40B4-BE49-F238E27FC236}">
                <a16:creationId xmlns:a16="http://schemas.microsoft.com/office/drawing/2014/main" id="{BFE61411-FDAC-4086-8FCF-CAD33309115A}"/>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90AF721F-D6A2-4460-B0DC-1494CA026410}"/>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07</a:t>
            </a:r>
          </a:p>
        </p:txBody>
      </p:sp>
      <p:graphicFrame>
        <p:nvGraphicFramePr>
          <p:cNvPr id="4" name="">
            <a:extLst xmlns:a="http://schemas.openxmlformats.org/drawingml/2006/main">
              <a:ext uri="{FF2B5EF4-FFF2-40B4-BE49-F238E27FC236}">
                <a16:creationId xmlns:a16="http://schemas.microsoft.com/office/drawing/2014/main" id="{632FA179-932F-4BAA-B298-FF51B26607D2}"/>
              </a:ext>
            </a:extLst>
          </p:cNvPr>
          <p:cNvGraphicFramePr/>
          <p:nvPr/>
        </p:nvGraphicFramePr>
        <p:xfrm>
          <a:off xmlns:a="http://schemas.openxmlformats.org/drawingml/2006/main" x="609600" y="1714500"/>
          <a:ext xmlns:a="http://schemas.openxmlformats.org/drawingml/2006/main" cx="10972800" cy="4000500"/>
        </p:xfrm>
        <a:graphic xmlns:a="http://schemas.openxmlformats.org/drawingml/2006/main">
          <a:graphicData uri="http://schemas.openxmlformats.org/drawingml/2006/table">
            <a:tbl>
              <a:tblPr/>
              <a:tblGrid>
                <a:gridCol w="2524125"/>
                <a:gridCol w="4905375"/>
                <a:gridCol w="3543300"/>
              </a:tblGrid>
              <a:tr h="800100">
                <a:tc>
                  <a:txBody>
                    <a:bodyPr/>
                    <a:lstStyle/>
                    <a:p>
                      <a:r>
                        <a:rPr sz="1800" b="1">
                          <a:solidFill>
                            <a:srgbClr val="FFFFFF"/>
                          </a:solidFill>
                          <a:latin typeface="Arial"/>
                          <a:ea typeface="Arial"/>
                          <a:cs typeface="Arial"/>
                        </a:rPr>
                        <a:t>Component</a:t>
                      </a:r>
                    </a:p>
                  </a:txBody>
                  <a:tcPr marL="152400" marR="152400" marT="133350" marB="95250" anchor="ctr">
                    <a:lnL w="6191">
                      <a:solidFill>
                        <a:srgbClr val="C9D3DE"/>
                      </a:solidFill>
                      <a:prstDash val="solid"/>
                    </a:lnL>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c>
                  <a:txBody>
                    <a:bodyPr/>
                    <a:lstStyle/>
                    <a:p>
                      <a:r>
                        <a:rPr sz="1800" b="1">
                          <a:solidFill>
                            <a:srgbClr val="FFFFFF"/>
                          </a:solidFill>
                          <a:latin typeface="Arial"/>
                          <a:ea typeface="Arial"/>
                          <a:cs typeface="Arial"/>
                        </a:rPr>
                        <a:t>Responsibility</a:t>
                      </a:r>
                    </a:p>
                  </a:txBody>
                  <a:tcPr marL="152400" marR="152400" marT="133350" marB="95250" anchor="ctr">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c>
                  <a:txBody>
                    <a:bodyPr/>
                    <a:lstStyle/>
                    <a:p>
                      <a:r>
                        <a:rPr sz="1800" b="1">
                          <a:solidFill>
                            <a:srgbClr val="FFFFFF"/>
                          </a:solidFill>
                          <a:latin typeface="Arial"/>
                          <a:ea typeface="Arial"/>
                          <a:cs typeface="Arial"/>
                        </a:rPr>
                        <a:t>Connection</a:t>
                      </a:r>
                    </a:p>
                  </a:txBody>
                  <a:tcPr marL="152400" marR="152400" marT="133350" marB="95250" anchor="ctr">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r>
              <a:tr h="800100">
                <a:tc>
                  <a:txBody>
                    <a:bodyPr/>
                    <a:lstStyle/>
                    <a:p>
                      <a:r>
                        <a:rPr sz="1800">
                          <a:solidFill>
                            <a:srgbClr val="24374D"/>
                          </a:solidFill>
                          <a:latin typeface="Arial"/>
                          <a:ea typeface="Arial"/>
                          <a:cs typeface="Arial"/>
                        </a:rPr>
                        <a:t>Browser workspace</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Next.js pages and user interactions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Calls the Express API</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800100">
                <a:tc>
                  <a:txBody>
                    <a:bodyPr/>
                    <a:lstStyle/>
                    <a:p>
                      <a:r>
                        <a:rPr sz="1800">
                          <a:solidFill>
                            <a:srgbClr val="24374D"/>
                          </a:solidFill>
                          <a:latin typeface="Arial"/>
                          <a:ea typeface="Arial"/>
                          <a:cs typeface="Arial"/>
                        </a:rPr>
                        <a:t>API and permissions</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800">
                          <a:solidFill>
                            <a:srgbClr val="24374D"/>
                          </a:solidFill>
                          <a:latin typeface="Arial"/>
                          <a:ea typeface="Arial"/>
                          <a:cs typeface="Arial"/>
                        </a:rPr>
                        <a:t>Current identity, role and ownership</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c>
                  <a:txBody>
                    <a:bodyPr/>
                    <a:lstStyle/>
                    <a:p>
                      <a:r>
                        <a:rPr sz="1800">
                          <a:solidFill>
                            <a:srgbClr val="24374D"/>
                          </a:solidFill>
                          <a:latin typeface="Arial"/>
                          <a:ea typeface="Arial"/>
                          <a:cs typeface="Arial"/>
                        </a:rPr>
                        <a:t>Reads authorized records</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r h="800100">
                <a:tc>
                  <a:txBody>
                    <a:bodyPr/>
                    <a:lstStyle/>
                    <a:p>
                      <a:r>
                        <a:rPr sz="1800">
                          <a:solidFill>
                            <a:srgbClr val="24374D"/>
                          </a:solidFill>
                          <a:latin typeface="Arial"/>
                          <a:ea typeface="Arial"/>
                          <a:cs typeface="Arial"/>
                        </a:rPr>
                        <a:t>MongoDB</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Courses, attempts, grades and private tools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Returns bounded data</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800100">
                <a:tc>
                  <a:txBody>
                    <a:bodyPr/>
                    <a:lstStyle/>
                    <a:p>
                      <a:r>
                        <a:rPr sz="1800">
                          <a:solidFill>
                            <a:srgbClr val="24374D"/>
                          </a:solidFill>
                          <a:latin typeface="Arial"/>
                          <a:ea typeface="Arial"/>
                          <a:cs typeface="Arial"/>
                        </a:rPr>
                        <a:t>Assistant service</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800">
                          <a:solidFill>
                            <a:srgbClr val="24374D"/>
                          </a:solidFill>
                          <a:latin typeface="Arial"/>
                          <a:ea typeface="Arial"/>
                          <a:cs typeface="Arial"/>
                        </a:rPr>
                        <a:t>Role-filtered retrieval and owned history</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c>
                  <a:txBody>
                    <a:bodyPr/>
                    <a:lstStyle/>
                    <a:p>
                      <a:r>
                        <a:rPr sz="1800">
                          <a:solidFill>
                            <a:srgbClr val="24374D"/>
                          </a:solidFill>
                          <a:latin typeface="Arial"/>
                          <a:ea typeface="Arial"/>
                          <a:cs typeface="Arial"/>
                        </a:rPr>
                        <a:t>Calls OpenAI when configured</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bl>
          </a:graphicData>
        </a:graphic>
      </p:graphicFrame>
      <p:sp>
        <p:nvSpPr>
          <p:cNvPr id="5" name="text">
            <a:extLst xmlns:a="http://schemas.openxmlformats.org/drawingml/2006/main">
              <a:ext uri="{FF2B5EF4-FFF2-40B4-BE49-F238E27FC236}">
                <a16:creationId xmlns:a16="http://schemas.microsoft.com/office/drawing/2014/main" id="{80F007D2-242C-4ABB-8F51-AD12697AAD6B}"/>
              </a:ext>
            </a:extLst>
          </p:cNvPr>
          <p:cNvSpPr>
            <a:spLocks xmlns:a="http://schemas.openxmlformats.org/drawingml/2006/main" noGrp="1"/>
          </p:cNvSpPr>
          <p:nvPr/>
        </p:nvSpPr>
        <p:spPr>
          <a:xfrm xmlns:a="http://schemas.openxmlformats.org/drawingml/2006/main">
            <a:off x="628650" y="596265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F8C"/>
                </a:solidFill>
                <a:latin typeface="Arial"/>
                <a:ea typeface="Arial"/>
                <a:cs typeface="Arial"/>
              </a:defRPr>
            </a:defPPr>
          </a:lstStyle>
          <a:p xmlns:a="http://schemas.openxmlformats.org/drawingml/2006/main">
            <a:pPr algn="l">
              <a:defRPr sz="1875" b="1">
                <a:solidFill>
                  <a:srgbClr val="087F8C"/>
                </a:solidFill>
                <a:latin typeface="Arial"/>
                <a:ea typeface="Arial"/>
                <a:cs typeface="Arial"/>
              </a:defRPr>
            </a:pPr>
            <a:r>
              <a:rPr sz="1875" b="1">
                <a:solidFill>
                  <a:srgbClr val="087F8C"/>
                </a:solidFill>
                <a:latin typeface="Arial"/>
                <a:ea typeface="Arial"/>
                <a:cs typeface="Arial"/>
              </a:rPr>
              <a:t>The API remains the permission boundary for both normal pages and chat.</a:t>
            </a:r>
          </a:p>
        </p:txBody>
      </p:sp>
    </p:spTree>
    <p:extLst>
      <p:ext uri="{BB962C8B-B14F-4D97-AF65-F5344CB8AC3E}">
        <p14:creationId xmlns:p14="http://schemas.microsoft.com/office/powerpoint/2010/main" val="2113760504"/>
      </p:ext>
    </p:extLst>
  </p:cSld>
</p:sld>
</file>

<file path=ppt/slides/slide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4777CBD9-825F-4ADE-B071-27D205540277}"/>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Data model and relationships</a:t>
            </a:r>
          </a:p>
        </p:txBody>
      </p:sp>
      <p:sp>
        <p:nvSpPr>
          <p:cNvPr id="2" name="footer">
            <a:extLst xmlns:a="http://schemas.openxmlformats.org/drawingml/2006/main">
              <a:ext uri="{FF2B5EF4-FFF2-40B4-BE49-F238E27FC236}">
                <a16:creationId xmlns:a16="http://schemas.microsoft.com/office/drawing/2014/main" id="{00B60E6A-D112-4EAB-A02C-216D7DD4031A}"/>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9DA6A7CC-2D48-4D31-81E3-31DF897B231A}"/>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08</a:t>
            </a:r>
          </a:p>
        </p:txBody>
      </p:sp>
      <p:graphicFrame>
        <p:nvGraphicFramePr>
          <p:cNvPr id="4" name="">
            <a:extLst xmlns:a="http://schemas.openxmlformats.org/drawingml/2006/main">
              <a:ext uri="{FF2B5EF4-FFF2-40B4-BE49-F238E27FC236}">
                <a16:creationId xmlns:a16="http://schemas.microsoft.com/office/drawing/2014/main" id="{467008B3-AFF2-4F23-B3E0-44838CD5C9B2}"/>
              </a:ext>
            </a:extLst>
          </p:cNvPr>
          <p:cNvGraphicFramePr/>
          <p:nvPr/>
        </p:nvGraphicFramePr>
        <p:xfrm>
          <a:off xmlns:a="http://schemas.openxmlformats.org/drawingml/2006/main" x="609600" y="1809750"/>
          <a:ext xmlns:a="http://schemas.openxmlformats.org/drawingml/2006/main" cx="10972800" cy="4381500"/>
        </p:xfrm>
        <a:graphic xmlns:a="http://schemas.openxmlformats.org/drawingml/2006/main">
          <a:graphicData uri="http://schemas.openxmlformats.org/drawingml/2006/table">
            <a:tbl>
              <a:tblPr/>
              <a:tblGrid>
                <a:gridCol w="3524250"/>
                <a:gridCol w="7448550"/>
              </a:tblGrid>
              <a:tr h="625929">
                <a:tc>
                  <a:txBody>
                    <a:bodyPr/>
                    <a:lstStyle/>
                    <a:p>
                      <a:r>
                        <a:rPr sz="1725" b="1">
                          <a:solidFill>
                            <a:srgbClr val="FFFFFF"/>
                          </a:solidFill>
                          <a:latin typeface="Arial"/>
                          <a:ea typeface="Arial"/>
                          <a:cs typeface="Arial"/>
                        </a:rPr>
                        <a:t>Relationship</a:t>
                      </a:r>
                    </a:p>
                  </a:txBody>
                  <a:tcPr marL="152400" marR="152400" marT="133350" marB="95250" anchor="ctr">
                    <a:lnL w="6191">
                      <a:solidFill>
                        <a:srgbClr val="C9D3DE"/>
                      </a:solidFill>
                      <a:prstDash val="solid"/>
                    </a:lnL>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c>
                  <a:txBody>
                    <a:bodyPr/>
                    <a:lstStyle/>
                    <a:p>
                      <a:r>
                        <a:rPr sz="1725" b="1">
                          <a:solidFill>
                            <a:srgbClr val="FFFFFF"/>
                          </a:solidFill>
                          <a:latin typeface="Arial"/>
                          <a:ea typeface="Arial"/>
                          <a:cs typeface="Arial"/>
                        </a:rPr>
                        <a:t>Stored representation</a:t>
                      </a:r>
                    </a:p>
                  </a:txBody>
                  <a:tcPr marL="152400" marR="152400" marT="133350" marB="95250" anchor="ctr">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r>
              <a:tr h="625929">
                <a:tc>
                  <a:txBody>
                    <a:bodyPr/>
                    <a:lstStyle/>
                    <a:p>
                      <a:r>
                        <a:rPr sz="1725">
                          <a:solidFill>
                            <a:srgbClr val="24374D"/>
                          </a:solidFill>
                          <a:latin typeface="Arial"/>
                          <a:ea typeface="Arial"/>
                          <a:cs typeface="Arial"/>
                        </a:rPr>
                        <a:t>User and Course</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725">
                          <a:solidFill>
                            <a:srgbClr val="24374D"/>
                          </a:solidFill>
                          <a:latin typeface="Arial"/>
                          <a:ea typeface="Arial"/>
                          <a:cs typeface="Arial"/>
                        </a:rPr>
                        <a:t>An instructor owns courses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625929">
                <a:tc>
                  <a:txBody>
                    <a:bodyPr/>
                    <a:lstStyle/>
                    <a:p>
                      <a:r>
                        <a:rPr sz="1725">
                          <a:solidFill>
                            <a:srgbClr val="24374D"/>
                          </a:solidFill>
                          <a:latin typeface="Arial"/>
                          <a:ea typeface="Arial"/>
                          <a:cs typeface="Arial"/>
                        </a:rPr>
                        <a:t>Student and Course</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725">
                          <a:solidFill>
                            <a:srgbClr val="24374D"/>
                          </a:solidFill>
                          <a:latin typeface="Arial"/>
                          <a:ea typeface="Arial"/>
                          <a:cs typeface="Arial"/>
                        </a:rPr>
                        <a:t>Enrollment links each student to a course</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r h="625929">
                <a:tc>
                  <a:txBody>
                    <a:bodyPr/>
                    <a:lstStyle/>
                    <a:p>
                      <a:r>
                        <a:rPr sz="1725">
                          <a:solidFill>
                            <a:srgbClr val="24374D"/>
                          </a:solidFill>
                          <a:latin typeface="Arial"/>
                          <a:ea typeface="Arial"/>
                          <a:cs typeface="Arial"/>
                        </a:rPr>
                        <a:t>Course and learning content</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725">
                          <a:solidFill>
                            <a:srgbClr val="24374D"/>
                          </a:solidFill>
                          <a:latin typeface="Arial"/>
                          <a:ea typeface="Arial"/>
                          <a:cs typeface="Arial"/>
                        </a:rPr>
                        <a:t>Embedded sections and lessons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625929">
                <a:tc>
                  <a:txBody>
                    <a:bodyPr/>
                    <a:lstStyle/>
                    <a:p>
                      <a:r>
                        <a:rPr sz="1725">
                          <a:solidFill>
                            <a:srgbClr val="24374D"/>
                          </a:solidFill>
                          <a:latin typeface="Arial"/>
                          <a:ea typeface="Arial"/>
                          <a:cs typeface="Arial"/>
                        </a:rPr>
                        <a:t>Quiz and QuizAttempt</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725">
                          <a:solidFill>
                            <a:srgbClr val="24374D"/>
                          </a:solidFill>
                          <a:latin typeface="Arial"/>
                          <a:ea typeface="Arial"/>
                          <a:cs typeface="Arial"/>
                        </a:rPr>
                        <a:t>Each attempt belongs to one student and quiz</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r h="625929">
                <a:tc>
                  <a:txBody>
                    <a:bodyPr/>
                    <a:lstStyle/>
                    <a:p>
                      <a:r>
                        <a:rPr sz="1725">
                          <a:solidFill>
                            <a:srgbClr val="24374D"/>
                          </a:solidFill>
                          <a:latin typeface="Arial"/>
                          <a:ea typeface="Arial"/>
                          <a:cs typeface="Arial"/>
                        </a:rPr>
                        <a:t>Assignment and submissions</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725">
                          <a:solidFill>
                            <a:srgbClr val="24374D"/>
                          </a:solidFill>
                          <a:latin typeface="Arial"/>
                          <a:ea typeface="Arial"/>
                          <a:cs typeface="Arial"/>
                        </a:rPr>
                        <a:t>Course work with student submissions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625929">
                <a:tc>
                  <a:txBody>
                    <a:bodyPr/>
                    <a:lstStyle/>
                    <a:p>
                      <a:r>
                        <a:rPr sz="1725">
                          <a:solidFill>
                            <a:srgbClr val="24374D"/>
                          </a:solidFill>
                          <a:latin typeface="Arial"/>
                          <a:ea typeface="Arial"/>
                          <a:cs typeface="Arial"/>
                        </a:rPr>
                        <a:t>Certificate and private tools</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725">
                          <a:solidFill>
                            <a:srgbClr val="24374D"/>
                          </a:solidFill>
                          <a:latin typeface="Arial"/>
                          <a:ea typeface="Arial"/>
                          <a:cs typeface="Arial"/>
                        </a:rPr>
                        <a:t>Referenced completion proof and owned records</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bl>
          </a:graphicData>
        </a:graphic>
      </p:graphicFrame>
    </p:spTree>
    <p:extLst>
      <p:ext uri="{BB962C8B-B14F-4D97-AF65-F5344CB8AC3E}">
        <p14:creationId xmlns:p14="http://schemas.microsoft.com/office/powerpoint/2010/main" val="32885773"/>
      </p:ext>
    </p:extLst>
  </p:cSld>
</p:sld>
</file>

<file path=ppt/slides/slide9.xml><?xml version="1.0" encoding="utf-8"?>
<p:sld xmlns:p="http://schemas.openxmlformats.org/presentationml/2006/main">
  <p:cSld>
    <p:bg>
      <p:bgPr>
        <a:solidFill xmlns:a="http://schemas.openxmlformats.org/drawingml/2006/main">
          <a:srgbClr val="10233F"/>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6FD68025-D4F0-44B3-9893-B81FE51B9601}"/>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Free course lifecycle</a:t>
            </a:r>
          </a:p>
        </p:txBody>
      </p:sp>
      <p:sp>
        <p:nvSpPr>
          <p:cNvPr id="2" name="footer">
            <a:extLst xmlns:a="http://schemas.openxmlformats.org/drawingml/2006/main">
              <a:ext uri="{FF2B5EF4-FFF2-40B4-BE49-F238E27FC236}">
                <a16:creationId xmlns:a16="http://schemas.microsoft.com/office/drawing/2014/main" id="{95FDCDEB-A10F-4E85-BC62-4F6CB9F1B8E8}"/>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A9BECF"/>
                </a:solidFill>
                <a:latin typeface="Arial"/>
                <a:ea typeface="Arial"/>
                <a:cs typeface="Arial"/>
              </a:defRPr>
            </a:defPPr>
          </a:lstStyle>
          <a:p xmlns:a="http://schemas.openxmlformats.org/drawingml/2006/main">
            <a:pPr algn="l">
              <a:defRPr sz="975" b="0">
                <a:solidFill>
                  <a:srgbClr val="A9BECF"/>
                </a:solidFill>
                <a:latin typeface="Arial"/>
                <a:ea typeface="Arial"/>
                <a:cs typeface="Arial"/>
              </a:defRPr>
            </a:pPr>
            <a:r>
              <a:rPr sz="975" b="0">
                <a:solidFill>
                  <a:srgbClr val="A9BECF"/>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46C43EE6-524B-497F-B355-20A6BFC41A9A}"/>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A9BECF"/>
                </a:solidFill>
                <a:latin typeface="Arial"/>
                <a:ea typeface="Arial"/>
                <a:cs typeface="Arial"/>
              </a:defRPr>
            </a:defPPr>
          </a:lstStyle>
          <a:p xmlns:a="http://schemas.openxmlformats.org/drawingml/2006/main">
            <a:pPr algn="r">
              <a:defRPr sz="1125" b="0">
                <a:solidFill>
                  <a:srgbClr val="A9BECF"/>
                </a:solidFill>
                <a:latin typeface="Arial"/>
                <a:ea typeface="Arial"/>
                <a:cs typeface="Arial"/>
              </a:defRPr>
            </a:pPr>
            <a:r>
              <a:rPr sz="1125" b="0">
                <a:solidFill>
                  <a:srgbClr val="A9BECF"/>
                </a:solidFill>
                <a:latin typeface="Arial"/>
                <a:ea typeface="Arial"/>
                <a:cs typeface="Arial"/>
              </a:rPr>
              <a:t>09</a:t>
            </a:r>
          </a:p>
        </p:txBody>
      </p:sp>
      <p:sp>
        <p:nvSpPr>
          <p:cNvPr id="4" name="text">
            <a:extLst xmlns:a="http://schemas.openxmlformats.org/drawingml/2006/main">
              <a:ext uri="{FF2B5EF4-FFF2-40B4-BE49-F238E27FC236}">
                <a16:creationId xmlns:a16="http://schemas.microsoft.com/office/drawing/2014/main" id="{A3A0EBE3-9F8E-4D55-9404-00F2721E1A68}"/>
              </a:ext>
            </a:extLst>
          </p:cNvPr>
          <p:cNvSpPr>
            <a:spLocks xmlns:a="http://schemas.openxmlformats.org/drawingml/2006/main" noGrp="1"/>
          </p:cNvSpPr>
          <p:nvPr/>
        </p:nvSpPr>
        <p:spPr>
          <a:xfrm xmlns:a="http://schemas.openxmlformats.org/drawingml/2006/main">
            <a:off x="628650" y="180975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76D4D7"/>
                </a:solidFill>
                <a:latin typeface="Arial"/>
                <a:ea typeface="Arial"/>
                <a:cs typeface="Arial"/>
              </a:defRPr>
            </a:defPPr>
          </a:lstStyle>
          <a:p xmlns:a="http://schemas.openxmlformats.org/drawingml/2006/main">
            <a:pPr algn="l">
              <a:defRPr sz="2400" b="1">
                <a:solidFill>
                  <a:srgbClr val="76D4D7"/>
                </a:solidFill>
                <a:latin typeface="Arial"/>
                <a:ea typeface="Arial"/>
                <a:cs typeface="Arial"/>
              </a:defRPr>
            </a:pPr>
            <a:r>
              <a:rPr sz="2400" b="1">
                <a:solidFill>
                  <a:srgbClr val="76D4D7"/>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E623D41D-A2B2-440E-8EB1-E13FDBDAD0E3}"/>
              </a:ext>
            </a:extLst>
          </p:cNvPr>
          <p:cNvSpPr>
            <a:spLocks xmlns:a="http://schemas.openxmlformats.org/drawingml/2006/main" noGrp="1"/>
          </p:cNvSpPr>
          <p:nvPr/>
        </p:nvSpPr>
        <p:spPr>
          <a:xfrm xmlns:a="http://schemas.openxmlformats.org/drawingml/2006/main">
            <a:off x="1238250" y="1809750"/>
            <a:ext cx="986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Draft</a:t>
            </a:r>
          </a:p>
        </p:txBody>
      </p:sp>
      <p:sp>
        <p:nvSpPr>
          <p:cNvPr id="6" name="text">
            <a:extLst xmlns:a="http://schemas.openxmlformats.org/drawingml/2006/main">
              <a:ext uri="{FF2B5EF4-FFF2-40B4-BE49-F238E27FC236}">
                <a16:creationId xmlns:a16="http://schemas.microsoft.com/office/drawing/2014/main" id="{7E729BCE-C08E-4DB1-8CFD-E7A100C4F799}"/>
              </a:ext>
            </a:extLst>
          </p:cNvPr>
          <p:cNvSpPr>
            <a:spLocks xmlns:a="http://schemas.openxmlformats.org/drawingml/2006/main" noGrp="1"/>
          </p:cNvSpPr>
          <p:nvPr/>
        </p:nvSpPr>
        <p:spPr>
          <a:xfrm xmlns:a="http://schemas.openxmlformats.org/drawingml/2006/main">
            <a:off x="1238250" y="2238375"/>
            <a:ext cx="9867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ADCE8"/>
                </a:solidFill>
                <a:latin typeface="Arial"/>
                <a:ea typeface="Arial"/>
                <a:cs typeface="Arial"/>
              </a:defRPr>
            </a:defPPr>
          </a:lstStyle>
          <a:p xmlns:a="http://schemas.openxmlformats.org/drawingml/2006/main">
            <a:pPr algn="l">
              <a:defRPr sz="1800" b="0">
                <a:solidFill>
                  <a:srgbClr val="CADCE8"/>
                </a:solidFill>
                <a:latin typeface="Arial"/>
                <a:ea typeface="Arial"/>
                <a:cs typeface="Arial"/>
              </a:defRPr>
            </a:pPr>
            <a:r>
              <a:rPr sz="1800" b="0">
                <a:solidFill>
                  <a:srgbClr val="CADCE8"/>
                </a:solidFill>
                <a:latin typeface="Arial"/>
                <a:ea typeface="Arial"/>
                <a:cs typeface="Arial"/>
              </a:rPr>
              <a:t>Instructor prepares the curriculum and lesson media.</a:t>
            </a:r>
          </a:p>
        </p:txBody>
      </p:sp>
      <p:sp>
        <p:nvSpPr>
          <p:cNvPr id="7" name="text">
            <a:extLst xmlns:a="http://schemas.openxmlformats.org/drawingml/2006/main">
              <a:ext uri="{FF2B5EF4-FFF2-40B4-BE49-F238E27FC236}">
                <a16:creationId xmlns:a16="http://schemas.microsoft.com/office/drawing/2014/main" id="{F0A4190C-0296-4612-AF38-F0C1FE98E744}"/>
              </a:ext>
            </a:extLst>
          </p:cNvPr>
          <p:cNvSpPr>
            <a:spLocks xmlns:a="http://schemas.openxmlformats.org/drawingml/2006/main" noGrp="1"/>
          </p:cNvSpPr>
          <p:nvPr/>
        </p:nvSpPr>
        <p:spPr>
          <a:xfrm xmlns:a="http://schemas.openxmlformats.org/drawingml/2006/main">
            <a:off x="628650" y="288607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76D4D7"/>
                </a:solidFill>
                <a:latin typeface="Arial"/>
                <a:ea typeface="Arial"/>
                <a:cs typeface="Arial"/>
              </a:defRPr>
            </a:defPPr>
          </a:lstStyle>
          <a:p xmlns:a="http://schemas.openxmlformats.org/drawingml/2006/main">
            <a:pPr algn="l">
              <a:defRPr sz="2400" b="1">
                <a:solidFill>
                  <a:srgbClr val="76D4D7"/>
                </a:solidFill>
                <a:latin typeface="Arial"/>
                <a:ea typeface="Arial"/>
                <a:cs typeface="Arial"/>
              </a:defRPr>
            </a:pPr>
            <a:r>
              <a:rPr sz="2400" b="1">
                <a:solidFill>
                  <a:srgbClr val="76D4D7"/>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0C2D9B5C-7586-4E60-8504-0F9B7A7A60E8}"/>
              </a:ext>
            </a:extLst>
          </p:cNvPr>
          <p:cNvSpPr>
            <a:spLocks xmlns:a="http://schemas.openxmlformats.org/drawingml/2006/main" noGrp="1"/>
          </p:cNvSpPr>
          <p:nvPr/>
        </p:nvSpPr>
        <p:spPr>
          <a:xfrm xmlns:a="http://schemas.openxmlformats.org/drawingml/2006/main">
            <a:off x="1238250" y="2886075"/>
            <a:ext cx="986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Review</a:t>
            </a:r>
          </a:p>
        </p:txBody>
      </p:sp>
      <p:sp>
        <p:nvSpPr>
          <p:cNvPr id="9" name="text">
            <a:extLst xmlns:a="http://schemas.openxmlformats.org/drawingml/2006/main">
              <a:ext uri="{FF2B5EF4-FFF2-40B4-BE49-F238E27FC236}">
                <a16:creationId xmlns:a16="http://schemas.microsoft.com/office/drawing/2014/main" id="{8616291C-38EC-4670-86C8-72CED856EE41}"/>
              </a:ext>
            </a:extLst>
          </p:cNvPr>
          <p:cNvSpPr>
            <a:spLocks xmlns:a="http://schemas.openxmlformats.org/drawingml/2006/main" noGrp="1"/>
          </p:cNvSpPr>
          <p:nvPr/>
        </p:nvSpPr>
        <p:spPr>
          <a:xfrm xmlns:a="http://schemas.openxmlformats.org/drawingml/2006/main">
            <a:off x="1238250" y="3314700"/>
            <a:ext cx="9867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ADCE8"/>
                </a:solidFill>
                <a:latin typeface="Arial"/>
                <a:ea typeface="Arial"/>
                <a:cs typeface="Arial"/>
              </a:defRPr>
            </a:defPPr>
          </a:lstStyle>
          <a:p xmlns:a="http://schemas.openxmlformats.org/drawingml/2006/main">
            <a:pPr algn="l">
              <a:defRPr sz="1800" b="0">
                <a:solidFill>
                  <a:srgbClr val="CADCE8"/>
                </a:solidFill>
                <a:latin typeface="Arial"/>
                <a:ea typeface="Arial"/>
                <a:cs typeface="Arial"/>
              </a:defRPr>
            </a:pPr>
            <a:r>
              <a:rPr sz="1800" b="0">
                <a:solidFill>
                  <a:srgbClr val="CADCE8"/>
                </a:solidFill>
                <a:latin typeface="Arial"/>
                <a:ea typeface="Arial"/>
                <a:cs typeface="Arial"/>
              </a:rPr>
              <a:t>Admin approves the submission or requests changes.</a:t>
            </a:r>
          </a:p>
        </p:txBody>
      </p:sp>
      <p:sp>
        <p:nvSpPr>
          <p:cNvPr id="10" name="text">
            <a:extLst xmlns:a="http://schemas.openxmlformats.org/drawingml/2006/main">
              <a:ext uri="{FF2B5EF4-FFF2-40B4-BE49-F238E27FC236}">
                <a16:creationId xmlns:a16="http://schemas.microsoft.com/office/drawing/2014/main" id="{15B851C1-3D7E-4D81-9E6B-4B7CE6E9FEA9}"/>
              </a:ext>
            </a:extLst>
          </p:cNvPr>
          <p:cNvSpPr>
            <a:spLocks xmlns:a="http://schemas.openxmlformats.org/drawingml/2006/main" noGrp="1"/>
          </p:cNvSpPr>
          <p:nvPr/>
        </p:nvSpPr>
        <p:spPr>
          <a:xfrm xmlns:a="http://schemas.openxmlformats.org/drawingml/2006/main">
            <a:off x="628650" y="396240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76D4D7"/>
                </a:solidFill>
                <a:latin typeface="Arial"/>
                <a:ea typeface="Arial"/>
                <a:cs typeface="Arial"/>
              </a:defRPr>
            </a:defPPr>
          </a:lstStyle>
          <a:p xmlns:a="http://schemas.openxmlformats.org/drawingml/2006/main">
            <a:pPr algn="l">
              <a:defRPr sz="2400" b="1">
                <a:solidFill>
                  <a:srgbClr val="76D4D7"/>
                </a:solidFill>
                <a:latin typeface="Arial"/>
                <a:ea typeface="Arial"/>
                <a:cs typeface="Arial"/>
              </a:defRPr>
            </a:pPr>
            <a:r>
              <a:rPr sz="2400" b="1">
                <a:solidFill>
                  <a:srgbClr val="76D4D7"/>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2A58BF51-E508-4B10-A1DD-047D3D0E8F07}"/>
              </a:ext>
            </a:extLst>
          </p:cNvPr>
          <p:cNvSpPr>
            <a:spLocks xmlns:a="http://schemas.openxmlformats.org/drawingml/2006/main" noGrp="1"/>
          </p:cNvSpPr>
          <p:nvPr/>
        </p:nvSpPr>
        <p:spPr>
          <a:xfrm xmlns:a="http://schemas.openxmlformats.org/drawingml/2006/main">
            <a:off x="1238250" y="3962400"/>
            <a:ext cx="986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Publication</a:t>
            </a:r>
          </a:p>
        </p:txBody>
      </p:sp>
      <p:sp>
        <p:nvSpPr>
          <p:cNvPr id="12" name="text">
            <a:extLst xmlns:a="http://schemas.openxmlformats.org/drawingml/2006/main">
              <a:ext uri="{FF2B5EF4-FFF2-40B4-BE49-F238E27FC236}">
                <a16:creationId xmlns:a16="http://schemas.microsoft.com/office/drawing/2014/main" id="{4839C5DC-926C-4362-AE00-DA8CD0615BDA}"/>
              </a:ext>
            </a:extLst>
          </p:cNvPr>
          <p:cNvSpPr>
            <a:spLocks xmlns:a="http://schemas.openxmlformats.org/drawingml/2006/main" noGrp="1"/>
          </p:cNvSpPr>
          <p:nvPr/>
        </p:nvSpPr>
        <p:spPr>
          <a:xfrm xmlns:a="http://schemas.openxmlformats.org/drawingml/2006/main">
            <a:off x="1238250" y="4391025"/>
            <a:ext cx="9867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ADCE8"/>
                </a:solidFill>
                <a:latin typeface="Arial"/>
                <a:ea typeface="Arial"/>
                <a:cs typeface="Arial"/>
              </a:defRPr>
            </a:defPPr>
          </a:lstStyle>
          <a:p xmlns:a="http://schemas.openxmlformats.org/drawingml/2006/main">
            <a:pPr algn="l">
              <a:defRPr sz="1800" b="0">
                <a:solidFill>
                  <a:srgbClr val="CADCE8"/>
                </a:solidFill>
                <a:latin typeface="Arial"/>
                <a:ea typeface="Arial"/>
                <a:cs typeface="Arial"/>
              </a:defRPr>
            </a:pPr>
            <a:r>
              <a:rPr sz="1800" b="0">
                <a:solidFill>
                  <a:srgbClr val="CADCE8"/>
                </a:solidFill>
                <a:latin typeface="Arial"/>
                <a:ea typeface="Arial"/>
                <a:cs typeface="Arial"/>
              </a:rPr>
              <a:t>Approved content becomes available for enrollment.</a:t>
            </a:r>
          </a:p>
        </p:txBody>
      </p:sp>
      <p:sp>
        <p:nvSpPr>
          <p:cNvPr id="13" name="text">
            <a:extLst xmlns:a="http://schemas.openxmlformats.org/drawingml/2006/main">
              <a:ext uri="{FF2B5EF4-FFF2-40B4-BE49-F238E27FC236}">
                <a16:creationId xmlns:a16="http://schemas.microsoft.com/office/drawing/2014/main" id="{66D9184B-84ED-4BE6-9213-27008F4D8021}"/>
              </a:ext>
            </a:extLst>
          </p:cNvPr>
          <p:cNvSpPr>
            <a:spLocks xmlns:a="http://schemas.openxmlformats.org/drawingml/2006/main" noGrp="1"/>
          </p:cNvSpPr>
          <p:nvPr/>
        </p:nvSpPr>
        <p:spPr>
          <a:xfrm xmlns:a="http://schemas.openxmlformats.org/drawingml/2006/main">
            <a:off x="628650" y="5038725"/>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76D4D7"/>
                </a:solidFill>
                <a:latin typeface="Arial"/>
                <a:ea typeface="Arial"/>
                <a:cs typeface="Arial"/>
              </a:defRPr>
            </a:defPPr>
          </a:lstStyle>
          <a:p xmlns:a="http://schemas.openxmlformats.org/drawingml/2006/main">
            <a:pPr algn="l">
              <a:defRPr sz="2400" b="1">
                <a:solidFill>
                  <a:srgbClr val="76D4D7"/>
                </a:solidFill>
                <a:latin typeface="Arial"/>
                <a:ea typeface="Arial"/>
                <a:cs typeface="Arial"/>
              </a:defRPr>
            </a:pPr>
            <a:r>
              <a:rPr sz="2400" b="1">
                <a:solidFill>
                  <a:srgbClr val="76D4D7"/>
                </a:solidFill>
                <a:latin typeface="Arial"/>
                <a:ea typeface="Arial"/>
                <a:cs typeface="Arial"/>
              </a:rPr>
              <a:t>04</a:t>
            </a:r>
          </a:p>
        </p:txBody>
      </p:sp>
      <p:sp>
        <p:nvSpPr>
          <p:cNvPr id="14" name="text">
            <a:extLst xmlns:a="http://schemas.openxmlformats.org/drawingml/2006/main">
              <a:ext uri="{FF2B5EF4-FFF2-40B4-BE49-F238E27FC236}">
                <a16:creationId xmlns:a16="http://schemas.microsoft.com/office/drawing/2014/main" id="{1983DFBF-F76A-48B7-80CE-DDC0913B5406}"/>
              </a:ext>
            </a:extLst>
          </p:cNvPr>
          <p:cNvSpPr>
            <a:spLocks xmlns:a="http://schemas.openxmlformats.org/drawingml/2006/main" noGrp="1"/>
          </p:cNvSpPr>
          <p:nvPr/>
        </p:nvSpPr>
        <p:spPr>
          <a:xfrm xmlns:a="http://schemas.openxmlformats.org/drawingml/2006/main">
            <a:off x="1238250" y="5038725"/>
            <a:ext cx="986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defRPr sz="2100" b="1">
                <a:solidFill>
                  <a:srgbClr val="FFFFFF"/>
                </a:solidFill>
                <a:latin typeface="Arial"/>
                <a:ea typeface="Arial"/>
                <a:cs typeface="Arial"/>
              </a:defRPr>
            </a:pPr>
            <a:r>
              <a:rPr sz="2100" b="1">
                <a:solidFill>
                  <a:srgbClr val="FFFFFF"/>
                </a:solidFill>
                <a:latin typeface="Arial"/>
                <a:ea typeface="Arial"/>
                <a:cs typeface="Arial"/>
              </a:rPr>
              <a:t>Free enrollment</a:t>
            </a:r>
          </a:p>
        </p:txBody>
      </p:sp>
      <p:sp>
        <p:nvSpPr>
          <p:cNvPr id="15" name="text">
            <a:extLst xmlns:a="http://schemas.openxmlformats.org/drawingml/2006/main">
              <a:ext uri="{FF2B5EF4-FFF2-40B4-BE49-F238E27FC236}">
                <a16:creationId xmlns:a16="http://schemas.microsoft.com/office/drawing/2014/main" id="{A24EECD5-7BA7-4E53-A5F9-64A429C57712}"/>
              </a:ext>
            </a:extLst>
          </p:cNvPr>
          <p:cNvSpPr>
            <a:spLocks xmlns:a="http://schemas.openxmlformats.org/drawingml/2006/main" noGrp="1"/>
          </p:cNvSpPr>
          <p:nvPr/>
        </p:nvSpPr>
        <p:spPr>
          <a:xfrm xmlns:a="http://schemas.openxmlformats.org/drawingml/2006/main">
            <a:off x="1238250" y="5467350"/>
            <a:ext cx="9867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CADCE8"/>
                </a:solidFill>
                <a:latin typeface="Arial"/>
                <a:ea typeface="Arial"/>
                <a:cs typeface="Arial"/>
              </a:defRPr>
            </a:defPPr>
          </a:lstStyle>
          <a:p xmlns:a="http://schemas.openxmlformats.org/drawingml/2006/main">
            <a:pPr algn="l">
              <a:defRPr sz="1800" b="0">
                <a:solidFill>
                  <a:srgbClr val="CADCE8"/>
                </a:solidFill>
                <a:latin typeface="Arial"/>
                <a:ea typeface="Arial"/>
                <a:cs typeface="Arial"/>
              </a:defRPr>
            </a:pPr>
            <a:r>
              <a:rPr sz="1800" b="0">
                <a:solidFill>
                  <a:srgbClr val="CADCE8"/>
                </a:solidFill>
                <a:latin typeface="Arial"/>
                <a:ea typeface="Arial"/>
                <a:cs typeface="Arial"/>
              </a:rPr>
              <a:t>Student joins and receives permitted classroom access.</a:t>
            </a:r>
          </a:p>
        </p:txBody>
      </p:sp>
    </p:spTree>
    <p:extLst>
      <p:ext uri="{BB962C8B-B14F-4D97-AF65-F5344CB8AC3E}">
        <p14:creationId xmlns:p14="http://schemas.microsoft.com/office/powerpoint/2010/main" val="601721279"/>
      </p:ext>
    </p:extLst>
  </p:cSld>
</p:sld>
</file>

<file path=ppt/slides/slide10.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B89CE051-34A2-4CFE-9F8E-9A240864D6EC}"/>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Student dashboard</a:t>
            </a:r>
          </a:p>
        </p:txBody>
      </p:sp>
      <p:sp>
        <p:nvSpPr>
          <p:cNvPr id="2" name="footer">
            <a:extLst xmlns:a="http://schemas.openxmlformats.org/drawingml/2006/main">
              <a:ext uri="{FF2B5EF4-FFF2-40B4-BE49-F238E27FC236}">
                <a16:creationId xmlns:a16="http://schemas.microsoft.com/office/drawing/2014/main" id="{E5DD91B9-1BD1-4973-95EF-F37A162CD42D}"/>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CAD45CB3-91B0-4774-AB9E-8C910425F733}"/>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10</a:t>
            </a:r>
          </a:p>
        </p:txBody>
      </p:sp>
      <p:pic>
        <p:nvPicPr>
          <p:cNvPr id="4" name="">
            <a:extLst xmlns:a="http://schemas.openxmlformats.org/drawingml/2006/main">
              <a:ext uri="{FF2B5EF4-FFF2-40B4-BE49-F238E27FC236}">
                <a16:creationId xmlns:a16="http://schemas.microsoft.com/office/drawing/2014/main" id="{978790C2-3AF0-46CE-BEA8-A19CF262DCDC}"/>
              </a:ext>
            </a:extLst>
          </p:cNvPr>
          <p:cNvPicPr>
            <a:picLocks xmlns:a="http://schemas.openxmlformats.org/drawingml/2006/main" noChangeAspect="1"/>
          </p:cNvPicPr>
          <p:nvPr/>
        </p:nvPicPr>
        <p:blipFill>
          <a:blip xmlns:r="http://schemas.openxmlformats.org/officeDocument/2006/relationships" xmlns:a="http://schemas.openxmlformats.org/drawingml/2006/main" r:embed="R6716f57254f1488b"/>
          <a:stretch xmlns:a="http://schemas.openxmlformats.org/drawingml/2006/main"/>
        </p:blipFill>
        <p:spPr>
          <a:xfrm xmlns:a="http://schemas.openxmlformats.org/drawingml/2006/main">
            <a:off x="6321500" y="1571625"/>
            <a:ext cx="5016350" cy="4714875"/>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91345B01-AED7-424A-8AAF-9BD2FAA73265}"/>
              </a:ext>
            </a:extLst>
          </p:cNvPr>
          <p:cNvSpPr>
            <a:spLocks xmlns:a="http://schemas.openxmlformats.org/drawingml/2006/main" noGrp="1"/>
          </p:cNvSpPr>
          <p:nvPr/>
        </p:nvSpPr>
        <p:spPr>
          <a:xfrm xmlns:a="http://schemas.openxmlformats.org/drawingml/2006/main">
            <a:off x="628650" y="1952625"/>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A clear learning workspace</a:t>
            </a:r>
          </a:p>
        </p:txBody>
      </p:sp>
      <p:sp>
        <p:nvSpPr>
          <p:cNvPr id="6" name="text">
            <a:extLst xmlns:a="http://schemas.openxmlformats.org/drawingml/2006/main">
              <a:ext uri="{FF2B5EF4-FFF2-40B4-BE49-F238E27FC236}">
                <a16:creationId xmlns:a16="http://schemas.microsoft.com/office/drawing/2014/main" id="{12E58F2D-6C1A-4BBD-8322-05729056FB6E}"/>
              </a:ext>
            </a:extLst>
          </p:cNvPr>
          <p:cNvSpPr>
            <a:spLocks xmlns:a="http://schemas.openxmlformats.org/drawingml/2006/main" noGrp="1"/>
          </p:cNvSpPr>
          <p:nvPr/>
        </p:nvSpPr>
        <p:spPr>
          <a:xfrm xmlns:a="http://schemas.openxmlformats.org/drawingml/2006/main">
            <a:off x="628650" y="2419350"/>
            <a:ext cx="4905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Courses, deadlines and study tools stay reachable through a consistent sidebar.</a:t>
            </a:r>
          </a:p>
        </p:txBody>
      </p:sp>
      <p:sp>
        <p:nvSpPr>
          <p:cNvPr id="7" name="text">
            <a:extLst xmlns:a="http://schemas.openxmlformats.org/drawingml/2006/main">
              <a:ext uri="{FF2B5EF4-FFF2-40B4-BE49-F238E27FC236}">
                <a16:creationId xmlns:a16="http://schemas.microsoft.com/office/drawing/2014/main" id="{B65A7CE5-0DBA-4361-B05A-B0DE9EBC0C89}"/>
              </a:ext>
            </a:extLst>
          </p:cNvPr>
          <p:cNvSpPr>
            <a:spLocks xmlns:a="http://schemas.openxmlformats.org/drawingml/2006/main" noGrp="1"/>
          </p:cNvSpPr>
          <p:nvPr/>
        </p:nvSpPr>
        <p:spPr>
          <a:xfrm xmlns:a="http://schemas.openxmlformats.org/drawingml/2006/main">
            <a:off x="628650" y="3819525"/>
            <a:ext cx="4905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Actual saved data</a:t>
            </a:r>
          </a:p>
        </p:txBody>
      </p:sp>
      <p:sp>
        <p:nvSpPr>
          <p:cNvPr id="8" name="text">
            <a:extLst xmlns:a="http://schemas.openxmlformats.org/drawingml/2006/main">
              <a:ext uri="{FF2B5EF4-FFF2-40B4-BE49-F238E27FC236}">
                <a16:creationId xmlns:a16="http://schemas.microsoft.com/office/drawing/2014/main" id="{C16A3435-17A0-4A58-A5D6-AE905ED9C257}"/>
              </a:ext>
            </a:extLst>
          </p:cNvPr>
          <p:cNvSpPr>
            <a:spLocks xmlns:a="http://schemas.openxmlformats.org/drawingml/2006/main" noGrp="1"/>
          </p:cNvSpPr>
          <p:nvPr/>
        </p:nvSpPr>
        <p:spPr>
          <a:xfrm xmlns:a="http://schemas.openxmlformats.org/drawingml/2006/main">
            <a:off x="628650" y="4286250"/>
            <a:ext cx="4905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Progress, attempts and certificates come from account-owned records.</a:t>
            </a:r>
          </a:p>
        </p:txBody>
      </p:sp>
      <p:sp>
        <p:nvSpPr>
          <p:cNvPr id="9" name="text">
            <a:extLst xmlns:a="http://schemas.openxmlformats.org/drawingml/2006/main">
              <a:ext uri="{FF2B5EF4-FFF2-40B4-BE49-F238E27FC236}">
                <a16:creationId xmlns:a16="http://schemas.microsoft.com/office/drawing/2014/main" id="{E05B7DEF-0200-45DB-A73B-2AB81DE099BC}"/>
              </a:ext>
            </a:extLst>
          </p:cNvPr>
          <p:cNvSpPr>
            <a:spLocks xmlns:a="http://schemas.openxmlformats.org/drawingml/2006/main" noGrp="1"/>
          </p:cNvSpPr>
          <p:nvPr/>
        </p:nvSpPr>
        <p:spPr>
          <a:xfrm xmlns:a="http://schemas.openxmlformats.org/drawingml/2006/main">
            <a:off x="628650" y="5895975"/>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9"/>
                </a:solidFill>
                <a:latin typeface="Arial"/>
                <a:ea typeface="Arial"/>
                <a:cs typeface="Arial"/>
              </a:defRPr>
            </a:defPPr>
          </a:lstStyle>
          <a:p xmlns:a="http://schemas.openxmlformats.org/drawingml/2006/main">
            <a:pPr algn="l">
              <a:defRPr sz="1425" b="0">
                <a:solidFill>
                  <a:srgbClr val="526579"/>
                </a:solidFill>
                <a:latin typeface="Arial"/>
                <a:ea typeface="Arial"/>
                <a:cs typeface="Arial"/>
              </a:defRPr>
            </a:pPr>
            <a:r>
              <a:rPr sz="1425" b="0">
                <a:solidFill>
                  <a:srgbClr val="526579"/>
                </a:solidFill>
                <a:latin typeface="Arial"/>
                <a:ea typeface="Arial"/>
                <a:cs typeface="Arial"/>
              </a:rPr>
              <a:t>Screenshot uses synthetic local QA accounts.</a:t>
            </a:r>
          </a:p>
        </p:txBody>
      </p:sp>
    </p:spTree>
    <p:extLst>
      <p:ext uri="{BB962C8B-B14F-4D97-AF65-F5344CB8AC3E}">
        <p14:creationId xmlns:p14="http://schemas.microsoft.com/office/powerpoint/2010/main" val="160747607"/>
      </p:ext>
    </p:extLst>
  </p:cSld>
</p:sld>
</file>

<file path=ppt/slides/slide11.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8E156ABA-B290-44DC-AB59-8299422478FB}"/>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Lesson progress and completion</a:t>
            </a:r>
          </a:p>
        </p:txBody>
      </p:sp>
      <p:sp>
        <p:nvSpPr>
          <p:cNvPr id="2" name="footer">
            <a:extLst xmlns:a="http://schemas.openxmlformats.org/drawingml/2006/main">
              <a:ext uri="{FF2B5EF4-FFF2-40B4-BE49-F238E27FC236}">
                <a16:creationId xmlns:a16="http://schemas.microsoft.com/office/drawing/2014/main" id="{A16CC744-46AA-4E18-9A66-A37AA1871662}"/>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D1B0F898-585B-4C98-8859-56D747F71D14}"/>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11</a:t>
            </a:r>
          </a:p>
        </p:txBody>
      </p:sp>
      <p:pic>
        <p:nvPicPr>
          <p:cNvPr id="4" name="">
            <a:extLst xmlns:a="http://schemas.openxmlformats.org/drawingml/2006/main">
              <a:ext uri="{FF2B5EF4-FFF2-40B4-BE49-F238E27FC236}">
                <a16:creationId xmlns:a16="http://schemas.microsoft.com/office/drawing/2014/main" id="{81AA912F-E44E-4699-AB60-73010258A97D}"/>
              </a:ext>
            </a:extLst>
          </p:cNvPr>
          <p:cNvPicPr>
            <a:picLocks xmlns:a="http://schemas.openxmlformats.org/drawingml/2006/main" noChangeAspect="1"/>
          </p:cNvPicPr>
          <p:nvPr/>
        </p:nvPicPr>
        <p:blipFill>
          <a:blip xmlns:r="http://schemas.openxmlformats.org/officeDocument/2006/relationships" xmlns:a="http://schemas.openxmlformats.org/drawingml/2006/main" r:embed="R51e40b2ec6774558"/>
          <a:stretch xmlns:a="http://schemas.openxmlformats.org/drawingml/2006/main"/>
        </p:blipFill>
        <p:spPr>
          <a:xfrm xmlns:a="http://schemas.openxmlformats.org/drawingml/2006/main">
            <a:off x="8855519" y="1581150"/>
            <a:ext cx="2139062" cy="4629150"/>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DD5C6E31-2954-445C-BD3C-839D4E03AF19}"/>
              </a:ext>
            </a:extLst>
          </p:cNvPr>
          <p:cNvSpPr>
            <a:spLocks xmlns:a="http://schemas.openxmlformats.org/drawingml/2006/main" noGrp="1"/>
          </p:cNvSpPr>
          <p:nvPr/>
        </p:nvSpPr>
        <p:spPr>
          <a:xfrm xmlns:a="http://schemas.openxmlformats.org/drawingml/2006/main">
            <a:off x="628650" y="201930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Saved curriculum</a:t>
            </a:r>
          </a:p>
        </p:txBody>
      </p:sp>
      <p:sp>
        <p:nvSpPr>
          <p:cNvPr id="6" name="text">
            <a:extLst xmlns:a="http://schemas.openxmlformats.org/drawingml/2006/main">
              <a:ext uri="{FF2B5EF4-FFF2-40B4-BE49-F238E27FC236}">
                <a16:creationId xmlns:a16="http://schemas.microsoft.com/office/drawing/2014/main" id="{CC9D0D00-61A5-4358-BD6E-724D2020E667}"/>
              </a:ext>
            </a:extLst>
          </p:cNvPr>
          <p:cNvSpPr>
            <a:spLocks xmlns:a="http://schemas.openxmlformats.org/drawingml/2006/main" noGrp="1"/>
          </p:cNvSpPr>
          <p:nvPr/>
        </p:nvSpPr>
        <p:spPr>
          <a:xfrm xmlns:a="http://schemas.openxmlformats.org/drawingml/2006/main">
            <a:off x="628650" y="2447925"/>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Only valid lesson IDs count toward progress.</a:t>
            </a:r>
          </a:p>
        </p:txBody>
      </p:sp>
      <p:sp>
        <p:nvSpPr>
          <p:cNvPr id="7" name="text">
            <a:extLst xmlns:a="http://schemas.openxmlformats.org/drawingml/2006/main">
              <a:ext uri="{FF2B5EF4-FFF2-40B4-BE49-F238E27FC236}">
                <a16:creationId xmlns:a16="http://schemas.microsoft.com/office/drawing/2014/main" id="{ACA22711-ABC4-43BE-AD4F-4F17FD13AFC4}"/>
              </a:ext>
            </a:extLst>
          </p:cNvPr>
          <p:cNvSpPr>
            <a:spLocks xmlns:a="http://schemas.openxmlformats.org/drawingml/2006/main" noGrp="1"/>
          </p:cNvSpPr>
          <p:nvPr/>
        </p:nvSpPr>
        <p:spPr>
          <a:xfrm xmlns:a="http://schemas.openxmlformats.org/drawingml/2006/main">
            <a:off x="628650" y="3209925"/>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Watch-session records</a:t>
            </a:r>
          </a:p>
        </p:txBody>
      </p:sp>
      <p:sp>
        <p:nvSpPr>
          <p:cNvPr id="8" name="text">
            <a:extLst xmlns:a="http://schemas.openxmlformats.org/drawingml/2006/main">
              <a:ext uri="{FF2B5EF4-FFF2-40B4-BE49-F238E27FC236}">
                <a16:creationId xmlns:a16="http://schemas.microsoft.com/office/drawing/2014/main" id="{CDEFABF1-CD4D-46D4-85AA-75526E1841EF}"/>
              </a:ext>
            </a:extLst>
          </p:cNvPr>
          <p:cNvSpPr>
            <a:spLocks xmlns:a="http://schemas.openxmlformats.org/drawingml/2006/main" noGrp="1"/>
          </p:cNvSpPr>
          <p:nvPr/>
        </p:nvSpPr>
        <p:spPr>
          <a:xfrm xmlns:a="http://schemas.openxmlformats.org/drawingml/2006/main">
            <a:off x="628650" y="3638550"/>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The API credits elapsed watch time through heartbeats.</a:t>
            </a:r>
          </a:p>
        </p:txBody>
      </p:sp>
      <p:sp>
        <p:nvSpPr>
          <p:cNvPr id="9" name="text">
            <a:extLst xmlns:a="http://schemas.openxmlformats.org/drawingml/2006/main">
              <a:ext uri="{FF2B5EF4-FFF2-40B4-BE49-F238E27FC236}">
                <a16:creationId xmlns:a16="http://schemas.microsoft.com/office/drawing/2014/main" id="{D2FFFEB7-5566-4525-990A-F63352727B94}"/>
              </a:ext>
            </a:extLst>
          </p:cNvPr>
          <p:cNvSpPr>
            <a:spLocks xmlns:a="http://schemas.openxmlformats.org/drawingml/2006/main" noGrp="1"/>
          </p:cNvSpPr>
          <p:nvPr/>
        </p:nvSpPr>
        <p:spPr>
          <a:xfrm xmlns:a="http://schemas.openxmlformats.org/drawingml/2006/main">
            <a:off x="628650" y="4400550"/>
            <a:ext cx="752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Assessment gate</a:t>
            </a:r>
          </a:p>
        </p:txBody>
      </p:sp>
      <p:sp>
        <p:nvSpPr>
          <p:cNvPr id="10" name="text">
            <a:extLst xmlns:a="http://schemas.openxmlformats.org/drawingml/2006/main">
              <a:ext uri="{FF2B5EF4-FFF2-40B4-BE49-F238E27FC236}">
                <a16:creationId xmlns:a16="http://schemas.microsoft.com/office/drawing/2014/main" id="{6E05D84F-C807-4CDD-8BF2-F07A3DF5FE29}"/>
              </a:ext>
            </a:extLst>
          </p:cNvPr>
          <p:cNvSpPr>
            <a:spLocks xmlns:a="http://schemas.openxmlformats.org/drawingml/2006/main" noGrp="1"/>
          </p:cNvSpPr>
          <p:nvPr/>
        </p:nvSpPr>
        <p:spPr>
          <a:xfrm xmlns:a="http://schemas.openxmlformats.org/drawingml/2006/main">
            <a:off x="628650" y="4829175"/>
            <a:ext cx="7524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All lectures and a passed assessment support certification.</a:t>
            </a:r>
          </a:p>
        </p:txBody>
      </p:sp>
      <p:sp>
        <p:nvSpPr>
          <p:cNvPr id="11" name="text">
            <a:extLst xmlns:a="http://schemas.openxmlformats.org/drawingml/2006/main">
              <a:ext uri="{FF2B5EF4-FFF2-40B4-BE49-F238E27FC236}">
                <a16:creationId xmlns:a16="http://schemas.microsoft.com/office/drawing/2014/main" id="{DDCCABAC-8B77-491A-B1F1-C667BF013E56}"/>
              </a:ext>
            </a:extLst>
          </p:cNvPr>
          <p:cNvSpPr>
            <a:spLocks xmlns:a="http://schemas.openxmlformats.org/drawingml/2006/main" noGrp="1"/>
          </p:cNvSpPr>
          <p:nvPr/>
        </p:nvSpPr>
        <p:spPr>
          <a:xfrm xmlns:a="http://schemas.openxmlformats.org/drawingml/2006/main">
            <a:off x="628650" y="5934075"/>
            <a:ext cx="76676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26579"/>
                </a:solidFill>
                <a:latin typeface="Arial"/>
                <a:ea typeface="Arial"/>
                <a:cs typeface="Arial"/>
              </a:defRPr>
            </a:defPPr>
          </a:lstStyle>
          <a:p xmlns:a="http://schemas.openxmlformats.org/drawingml/2006/main">
            <a:pPr algn="l">
              <a:defRPr sz="1425" b="0">
                <a:solidFill>
                  <a:srgbClr val="526579"/>
                </a:solidFill>
                <a:latin typeface="Arial"/>
                <a:ea typeface="Arial"/>
                <a:cs typeface="Arial"/>
              </a:defRPr>
            </a:pPr>
            <a:r>
              <a:rPr sz="1425" b="0">
                <a:solidFill>
                  <a:srgbClr val="526579"/>
                </a:solidFill>
                <a:latin typeface="Arial"/>
                <a:ea typeface="Arial"/>
                <a:cs typeface="Arial"/>
              </a:rPr>
              <a:t>Project completion certificates have no external accreditation.</a:t>
            </a:r>
          </a:p>
        </p:txBody>
      </p:sp>
    </p:spTree>
    <p:extLst>
      <p:ext uri="{BB962C8B-B14F-4D97-AF65-F5344CB8AC3E}">
        <p14:creationId xmlns:p14="http://schemas.microsoft.com/office/powerpoint/2010/main" val="1363195637"/>
      </p:ext>
    </p:extLst>
  </p:cSld>
</p:sld>
</file>

<file path=ppt/slides/slide1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5B53D19A-09D2-4F8C-AC77-EEAAAB7252BE}"/>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Assignments and instructor feedback</a:t>
            </a:r>
          </a:p>
        </p:txBody>
      </p:sp>
      <p:sp>
        <p:nvSpPr>
          <p:cNvPr id="2" name="footer">
            <a:extLst xmlns:a="http://schemas.openxmlformats.org/drawingml/2006/main">
              <a:ext uri="{FF2B5EF4-FFF2-40B4-BE49-F238E27FC236}">
                <a16:creationId xmlns:a16="http://schemas.microsoft.com/office/drawing/2014/main" id="{60A5FB72-8697-40F0-A1C9-F1F9AED97473}"/>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C1E5C401-AB37-4BA6-AE91-0F462B5F60E2}"/>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12</a:t>
            </a:r>
          </a:p>
        </p:txBody>
      </p:sp>
      <p:pic>
        <p:nvPicPr>
          <p:cNvPr id="4" name="">
            <a:extLst xmlns:a="http://schemas.openxmlformats.org/drawingml/2006/main">
              <a:ext uri="{FF2B5EF4-FFF2-40B4-BE49-F238E27FC236}">
                <a16:creationId xmlns:a16="http://schemas.microsoft.com/office/drawing/2014/main" id="{38D8A23D-DD40-42C6-A935-D94553F9F381}"/>
              </a:ext>
            </a:extLst>
          </p:cNvPr>
          <p:cNvPicPr>
            <a:picLocks xmlns:a="http://schemas.openxmlformats.org/drawingml/2006/main" noChangeAspect="1"/>
          </p:cNvPicPr>
          <p:nvPr/>
        </p:nvPicPr>
        <p:blipFill>
          <a:blip xmlns:r="http://schemas.openxmlformats.org/officeDocument/2006/relationships" xmlns:a="http://schemas.openxmlformats.org/drawingml/2006/main" r:embed="R85577292428143e4"/>
          <a:stretch xmlns:a="http://schemas.openxmlformats.org/drawingml/2006/main"/>
        </p:blipFill>
        <p:spPr>
          <a:xfrm xmlns:a="http://schemas.openxmlformats.org/drawingml/2006/main">
            <a:off x="6811227" y="1562100"/>
            <a:ext cx="4303595" cy="4714875"/>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5CFA8396-6AB5-4913-BF81-7BADEB56BA7F}"/>
              </a:ext>
            </a:extLst>
          </p:cNvPr>
          <p:cNvSpPr>
            <a:spLocks xmlns:a="http://schemas.openxmlformats.org/drawingml/2006/main" noGrp="1"/>
          </p:cNvSpPr>
          <p:nvPr/>
        </p:nvSpPr>
        <p:spPr>
          <a:xfrm xmlns:a="http://schemas.openxmlformats.org/drawingml/2006/main">
            <a:off x="628650" y="19812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233F"/>
                </a:solidFill>
                <a:latin typeface="Arial"/>
                <a:ea typeface="Arial"/>
                <a:cs typeface="Arial"/>
              </a:defRPr>
            </a:defPPr>
          </a:lstStyle>
          <a:p xmlns:a="http://schemas.openxmlformats.org/drawingml/2006/main">
            <a:pPr algn="l">
              <a:defRPr sz="2025" b="1">
                <a:solidFill>
                  <a:srgbClr val="10233F"/>
                </a:solidFill>
                <a:latin typeface="Arial"/>
                <a:ea typeface="Arial"/>
                <a:cs typeface="Arial"/>
              </a:defRPr>
            </a:pPr>
            <a:r>
              <a:rPr sz="2025" b="1">
                <a:solidFill>
                  <a:srgbClr val="10233F"/>
                </a:solidFill>
                <a:latin typeface="Arial"/>
                <a:ea typeface="Arial"/>
                <a:cs typeface="Arial"/>
              </a:rPr>
              <a:t>Instructor creates</a:t>
            </a:r>
          </a:p>
        </p:txBody>
      </p:sp>
      <p:sp>
        <p:nvSpPr>
          <p:cNvPr id="6" name="text">
            <a:extLst xmlns:a="http://schemas.openxmlformats.org/drawingml/2006/main">
              <a:ext uri="{FF2B5EF4-FFF2-40B4-BE49-F238E27FC236}">
                <a16:creationId xmlns:a16="http://schemas.microsoft.com/office/drawing/2014/main" id="{BB1023BB-AF24-4061-9118-DC9CF9492D10}"/>
              </a:ext>
            </a:extLst>
          </p:cNvPr>
          <p:cNvSpPr>
            <a:spLocks xmlns:a="http://schemas.openxmlformats.org/drawingml/2006/main" noGrp="1"/>
          </p:cNvSpPr>
          <p:nvPr/>
        </p:nvSpPr>
        <p:spPr>
          <a:xfrm xmlns:a="http://schemas.openxmlformats.org/drawingml/2006/main">
            <a:off x="628650" y="24098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Instructions, rubric, deadline and maximum score.</a:t>
            </a:r>
          </a:p>
        </p:txBody>
      </p:sp>
      <p:sp>
        <p:nvSpPr>
          <p:cNvPr id="7" name="text">
            <a:extLst xmlns:a="http://schemas.openxmlformats.org/drawingml/2006/main">
              <a:ext uri="{FF2B5EF4-FFF2-40B4-BE49-F238E27FC236}">
                <a16:creationId xmlns:a16="http://schemas.microsoft.com/office/drawing/2014/main" id="{30ED994E-4923-426B-BB32-DBF198F0C991}"/>
              </a:ext>
            </a:extLst>
          </p:cNvPr>
          <p:cNvSpPr>
            <a:spLocks xmlns:a="http://schemas.openxmlformats.org/drawingml/2006/main" noGrp="1"/>
          </p:cNvSpPr>
          <p:nvPr/>
        </p:nvSpPr>
        <p:spPr>
          <a:xfrm xmlns:a="http://schemas.openxmlformats.org/drawingml/2006/main">
            <a:off x="628650" y="321945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233F"/>
                </a:solidFill>
                <a:latin typeface="Arial"/>
                <a:ea typeface="Arial"/>
                <a:cs typeface="Arial"/>
              </a:defRPr>
            </a:defPPr>
          </a:lstStyle>
          <a:p xmlns:a="http://schemas.openxmlformats.org/drawingml/2006/main">
            <a:pPr algn="l">
              <a:defRPr sz="2025" b="1">
                <a:solidFill>
                  <a:srgbClr val="10233F"/>
                </a:solidFill>
                <a:latin typeface="Arial"/>
                <a:ea typeface="Arial"/>
                <a:cs typeface="Arial"/>
              </a:defRPr>
            </a:pPr>
            <a:r>
              <a:rPr sz="2025" b="1">
                <a:solidFill>
                  <a:srgbClr val="10233F"/>
                </a:solidFill>
                <a:latin typeface="Arial"/>
                <a:ea typeface="Arial"/>
                <a:cs typeface="Arial"/>
              </a:rPr>
              <a:t>Student submits</a:t>
            </a:r>
          </a:p>
        </p:txBody>
      </p:sp>
      <p:sp>
        <p:nvSpPr>
          <p:cNvPr id="8" name="text">
            <a:extLst xmlns:a="http://schemas.openxmlformats.org/drawingml/2006/main">
              <a:ext uri="{FF2B5EF4-FFF2-40B4-BE49-F238E27FC236}">
                <a16:creationId xmlns:a16="http://schemas.microsoft.com/office/drawing/2014/main" id="{5A2071C9-4C72-462D-96AE-7295ABC2093A}"/>
              </a:ext>
            </a:extLst>
          </p:cNvPr>
          <p:cNvSpPr>
            <a:spLocks xmlns:a="http://schemas.openxmlformats.org/drawingml/2006/main" noGrp="1"/>
          </p:cNvSpPr>
          <p:nvPr/>
        </p:nvSpPr>
        <p:spPr>
          <a:xfrm xmlns:a="http://schemas.openxmlformats.org/drawingml/2006/main">
            <a:off x="628650" y="364807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Own answer and submission state.</a:t>
            </a:r>
          </a:p>
        </p:txBody>
      </p:sp>
      <p:sp>
        <p:nvSpPr>
          <p:cNvPr id="9" name="text">
            <a:extLst xmlns:a="http://schemas.openxmlformats.org/drawingml/2006/main">
              <a:ext uri="{FF2B5EF4-FFF2-40B4-BE49-F238E27FC236}">
                <a16:creationId xmlns:a16="http://schemas.microsoft.com/office/drawing/2014/main" id="{8329E460-FED3-4A58-9CA0-312963D6F514}"/>
              </a:ext>
            </a:extLst>
          </p:cNvPr>
          <p:cNvSpPr>
            <a:spLocks xmlns:a="http://schemas.openxmlformats.org/drawingml/2006/main" noGrp="1"/>
          </p:cNvSpPr>
          <p:nvPr/>
        </p:nvSpPr>
        <p:spPr>
          <a:xfrm xmlns:a="http://schemas.openxmlformats.org/drawingml/2006/main">
            <a:off x="628650" y="44577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233F"/>
                </a:solidFill>
                <a:latin typeface="Arial"/>
                <a:ea typeface="Arial"/>
                <a:cs typeface="Arial"/>
              </a:defRPr>
            </a:defPPr>
          </a:lstStyle>
          <a:p xmlns:a="http://schemas.openxmlformats.org/drawingml/2006/main">
            <a:pPr algn="l">
              <a:defRPr sz="2025" b="1">
                <a:solidFill>
                  <a:srgbClr val="10233F"/>
                </a:solidFill>
                <a:latin typeface="Arial"/>
                <a:ea typeface="Arial"/>
                <a:cs typeface="Arial"/>
              </a:defRPr>
            </a:pPr>
            <a:r>
              <a:rPr sz="2025" b="1">
                <a:solidFill>
                  <a:srgbClr val="10233F"/>
                </a:solidFill>
                <a:latin typeface="Arial"/>
                <a:ea typeface="Arial"/>
                <a:cs typeface="Arial"/>
              </a:rPr>
              <a:t>Instructor reviews</a:t>
            </a:r>
          </a:p>
        </p:txBody>
      </p:sp>
      <p:sp>
        <p:nvSpPr>
          <p:cNvPr id="10" name="text">
            <a:extLst xmlns:a="http://schemas.openxmlformats.org/drawingml/2006/main">
              <a:ext uri="{FF2B5EF4-FFF2-40B4-BE49-F238E27FC236}">
                <a16:creationId xmlns:a16="http://schemas.microsoft.com/office/drawing/2014/main" id="{F2D04B50-4B3D-4913-880C-FADD28C63CA7}"/>
              </a:ext>
            </a:extLst>
          </p:cNvPr>
          <p:cNvSpPr>
            <a:spLocks xmlns:a="http://schemas.openxmlformats.org/drawingml/2006/main" noGrp="1"/>
          </p:cNvSpPr>
          <p:nvPr/>
        </p:nvSpPr>
        <p:spPr>
          <a:xfrm xmlns:a="http://schemas.openxmlformats.org/drawingml/2006/main">
            <a:off x="628650" y="4886325"/>
            <a:ext cx="5238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Validated score and private feedback.</a:t>
            </a:r>
          </a:p>
        </p:txBody>
      </p:sp>
      <p:sp>
        <p:nvSpPr>
          <p:cNvPr id="11" name="text">
            <a:extLst xmlns:a="http://schemas.openxmlformats.org/drawingml/2006/main">
              <a:ext uri="{FF2B5EF4-FFF2-40B4-BE49-F238E27FC236}">
                <a16:creationId xmlns:a16="http://schemas.microsoft.com/office/drawing/2014/main" id="{964380D3-EF0B-4733-94D3-355E2F621B0E}"/>
              </a:ext>
            </a:extLst>
          </p:cNvPr>
          <p:cNvSpPr>
            <a:spLocks xmlns:a="http://schemas.openxmlformats.org/drawingml/2006/main" noGrp="1"/>
          </p:cNvSpPr>
          <p:nvPr/>
        </p:nvSpPr>
        <p:spPr>
          <a:xfrm xmlns:a="http://schemas.openxmlformats.org/drawingml/2006/main">
            <a:off x="628650" y="5953125"/>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7F8C"/>
                </a:solidFill>
                <a:latin typeface="Arial"/>
                <a:ea typeface="Arial"/>
                <a:cs typeface="Arial"/>
              </a:defRPr>
            </a:defPPr>
          </a:lstStyle>
          <a:p xmlns:a="http://schemas.openxmlformats.org/drawingml/2006/main">
            <a:pPr algn="l">
              <a:defRPr sz="1650" b="1">
                <a:solidFill>
                  <a:srgbClr val="087F8C"/>
                </a:solidFill>
                <a:latin typeface="Arial"/>
                <a:ea typeface="Arial"/>
                <a:cs typeface="Arial"/>
              </a:defRPr>
            </a:pPr>
            <a:r>
              <a:rPr sz="1650" b="1">
                <a:solidFill>
                  <a:srgbClr val="087F8C"/>
                </a:solidFill>
                <a:latin typeface="Arial"/>
                <a:ea typeface="Arial"/>
                <a:cs typeface="Arial"/>
              </a:rPr>
              <a:t>Verified example: manual review saved 85/100.</a:t>
            </a:r>
          </a:p>
        </p:txBody>
      </p:sp>
    </p:spTree>
    <p:extLst>
      <p:ext uri="{BB962C8B-B14F-4D97-AF65-F5344CB8AC3E}">
        <p14:creationId xmlns:p14="http://schemas.microsoft.com/office/powerpoint/2010/main" val="1531786502"/>
      </p:ext>
    </p:extLst>
  </p:cSld>
</p:sld>
</file>

<file path=ppt/slides/slide1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B21575E9-FDC5-44BC-BA15-C5DCC6A1A0C4}"/>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Quizzes and assessment integrity</a:t>
            </a:r>
          </a:p>
        </p:txBody>
      </p:sp>
      <p:sp>
        <p:nvSpPr>
          <p:cNvPr id="2" name="footer">
            <a:extLst xmlns:a="http://schemas.openxmlformats.org/drawingml/2006/main">
              <a:ext uri="{FF2B5EF4-FFF2-40B4-BE49-F238E27FC236}">
                <a16:creationId xmlns:a16="http://schemas.microsoft.com/office/drawing/2014/main" id="{2C919475-5967-400C-8E93-F6E0CAA29868}"/>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C863470F-EBC7-48DB-B0C6-3EAD72C63207}"/>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13</a:t>
            </a:r>
          </a:p>
        </p:txBody>
      </p:sp>
      <p:pic>
        <p:nvPicPr>
          <p:cNvPr id="4" name="">
            <a:extLst xmlns:a="http://schemas.openxmlformats.org/drawingml/2006/main">
              <a:ext uri="{FF2B5EF4-FFF2-40B4-BE49-F238E27FC236}">
                <a16:creationId xmlns:a16="http://schemas.microsoft.com/office/drawing/2014/main" id="{87951740-8562-4C9A-8690-B2E26AD7012E}"/>
              </a:ext>
            </a:extLst>
          </p:cNvPr>
          <p:cNvPicPr>
            <a:picLocks xmlns:a="http://schemas.openxmlformats.org/drawingml/2006/main" noChangeAspect="1"/>
          </p:cNvPicPr>
          <p:nvPr/>
        </p:nvPicPr>
        <p:blipFill>
          <a:blip xmlns:r="http://schemas.openxmlformats.org/officeDocument/2006/relationships" xmlns:a="http://schemas.openxmlformats.org/drawingml/2006/main" r:embed="R6a452ae861fd4b3c"/>
          <a:stretch xmlns:a="http://schemas.openxmlformats.org/drawingml/2006/main"/>
        </p:blipFill>
        <p:spPr>
          <a:xfrm xmlns:a="http://schemas.openxmlformats.org/drawingml/2006/main">
            <a:off x="6560077" y="1600200"/>
            <a:ext cx="4653496" cy="4667250"/>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7A42111A-1CBD-442D-871D-36BC44EC75DC}"/>
              </a:ext>
            </a:extLst>
          </p:cNvPr>
          <p:cNvSpPr>
            <a:spLocks xmlns:a="http://schemas.openxmlformats.org/drawingml/2006/main" noGrp="1"/>
          </p:cNvSpPr>
          <p:nvPr/>
        </p:nvSpPr>
        <p:spPr>
          <a:xfrm xmlns:a="http://schemas.openxmlformats.org/drawingml/2006/main">
            <a:off x="628650" y="19431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233F"/>
                </a:solidFill>
                <a:latin typeface="Arial"/>
                <a:ea typeface="Arial"/>
                <a:cs typeface="Arial"/>
              </a:defRPr>
            </a:defPPr>
          </a:lstStyle>
          <a:p xmlns:a="http://schemas.openxmlformats.org/drawingml/2006/main">
            <a:pPr algn="l">
              <a:defRPr sz="2025" b="1">
                <a:solidFill>
                  <a:srgbClr val="10233F"/>
                </a:solidFill>
                <a:latin typeface="Arial"/>
                <a:ea typeface="Arial"/>
                <a:cs typeface="Arial"/>
              </a:defRPr>
            </a:pPr>
            <a:r>
              <a:rPr sz="2025" b="1">
                <a:solidFill>
                  <a:srgbClr val="10233F"/>
                </a:solidFill>
                <a:latin typeface="Arial"/>
                <a:ea typeface="Arial"/>
                <a:cs typeface="Arial"/>
              </a:rPr>
              <a:t>Stored answer keys</a:t>
            </a:r>
          </a:p>
        </p:txBody>
      </p:sp>
      <p:sp>
        <p:nvSpPr>
          <p:cNvPr id="6" name="text">
            <a:extLst xmlns:a="http://schemas.openxmlformats.org/drawingml/2006/main">
              <a:ext uri="{FF2B5EF4-FFF2-40B4-BE49-F238E27FC236}">
                <a16:creationId xmlns:a16="http://schemas.microsoft.com/office/drawing/2014/main" id="{103837EE-17BE-4026-BB1A-54EB8BBB0F06}"/>
              </a:ext>
            </a:extLst>
          </p:cNvPr>
          <p:cNvSpPr>
            <a:spLocks xmlns:a="http://schemas.openxmlformats.org/drawingml/2006/main" noGrp="1"/>
          </p:cNvSpPr>
          <p:nvPr/>
        </p:nvSpPr>
        <p:spPr>
          <a:xfrm xmlns:a="http://schemas.openxmlformats.org/drawingml/2006/main">
            <a:off x="628650" y="237172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The server scores each submitted attempt.</a:t>
            </a:r>
          </a:p>
        </p:txBody>
      </p:sp>
      <p:sp>
        <p:nvSpPr>
          <p:cNvPr id="7" name="text">
            <a:extLst xmlns:a="http://schemas.openxmlformats.org/drawingml/2006/main">
              <a:ext uri="{FF2B5EF4-FFF2-40B4-BE49-F238E27FC236}">
                <a16:creationId xmlns:a16="http://schemas.microsoft.com/office/drawing/2014/main" id="{0CC9EA85-541D-47CE-A318-0EC1E94FA153}"/>
              </a:ext>
            </a:extLst>
          </p:cNvPr>
          <p:cNvSpPr>
            <a:spLocks xmlns:a="http://schemas.openxmlformats.org/drawingml/2006/main" noGrp="1"/>
          </p:cNvSpPr>
          <p:nvPr/>
        </p:nvSpPr>
        <p:spPr>
          <a:xfrm xmlns:a="http://schemas.openxmlformats.org/drawingml/2006/main">
            <a:off x="628650" y="32004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233F"/>
                </a:solidFill>
                <a:latin typeface="Arial"/>
                <a:ea typeface="Arial"/>
                <a:cs typeface="Arial"/>
              </a:defRPr>
            </a:defPPr>
          </a:lstStyle>
          <a:p xmlns:a="http://schemas.openxmlformats.org/drawingml/2006/main">
            <a:pPr algn="l">
              <a:defRPr sz="2025" b="1">
                <a:solidFill>
                  <a:srgbClr val="10233F"/>
                </a:solidFill>
                <a:latin typeface="Arial"/>
                <a:ea typeface="Arial"/>
                <a:cs typeface="Arial"/>
              </a:defRPr>
            </a:pPr>
            <a:r>
              <a:rPr sz="2025" b="1">
                <a:solidFill>
                  <a:srgbClr val="10233F"/>
                </a:solidFill>
                <a:latin typeface="Arial"/>
                <a:ea typeface="Arial"/>
                <a:cs typeface="Arial"/>
              </a:rPr>
              <a:t>Persistent attempt state</a:t>
            </a:r>
          </a:p>
        </p:txBody>
      </p:sp>
      <p:sp>
        <p:nvSpPr>
          <p:cNvPr id="8" name="text">
            <a:extLst xmlns:a="http://schemas.openxmlformats.org/drawingml/2006/main">
              <a:ext uri="{FF2B5EF4-FFF2-40B4-BE49-F238E27FC236}">
                <a16:creationId xmlns:a16="http://schemas.microsoft.com/office/drawing/2014/main" id="{E22641F5-156B-4F46-800E-312AC7178BDE}"/>
              </a:ext>
            </a:extLst>
          </p:cNvPr>
          <p:cNvSpPr>
            <a:spLocks xmlns:a="http://schemas.openxmlformats.org/drawingml/2006/main" noGrp="1"/>
          </p:cNvSpPr>
          <p:nvPr/>
        </p:nvSpPr>
        <p:spPr>
          <a:xfrm xmlns:a="http://schemas.openxmlformats.org/drawingml/2006/main">
            <a:off x="628650" y="362902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Deadlines, attempt limits and replay checks apply.</a:t>
            </a:r>
          </a:p>
        </p:txBody>
      </p:sp>
      <p:sp>
        <p:nvSpPr>
          <p:cNvPr id="9" name="text">
            <a:extLst xmlns:a="http://schemas.openxmlformats.org/drawingml/2006/main">
              <a:ext uri="{FF2B5EF4-FFF2-40B4-BE49-F238E27FC236}">
                <a16:creationId xmlns:a16="http://schemas.microsoft.com/office/drawing/2014/main" id="{90064ACB-75A7-4616-B70A-0B2BC48D7A3F}"/>
              </a:ext>
            </a:extLst>
          </p:cNvPr>
          <p:cNvSpPr>
            <a:spLocks xmlns:a="http://schemas.openxmlformats.org/drawingml/2006/main" noGrp="1"/>
          </p:cNvSpPr>
          <p:nvPr/>
        </p:nvSpPr>
        <p:spPr>
          <a:xfrm xmlns:a="http://schemas.openxmlformats.org/drawingml/2006/main">
            <a:off x="628650" y="44577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0233F"/>
                </a:solidFill>
                <a:latin typeface="Arial"/>
                <a:ea typeface="Arial"/>
                <a:cs typeface="Arial"/>
              </a:defRPr>
            </a:defPPr>
          </a:lstStyle>
          <a:p xmlns:a="http://schemas.openxmlformats.org/drawingml/2006/main">
            <a:pPr algn="l">
              <a:defRPr sz="2025" b="1">
                <a:solidFill>
                  <a:srgbClr val="10233F"/>
                </a:solidFill>
                <a:latin typeface="Arial"/>
                <a:ea typeface="Arial"/>
                <a:cs typeface="Arial"/>
              </a:defRPr>
            </a:pPr>
            <a:r>
              <a:rPr sz="2025" b="1">
                <a:solidFill>
                  <a:srgbClr val="10233F"/>
                </a:solidFill>
                <a:latin typeface="Arial"/>
                <a:ea typeface="Arial"/>
                <a:cs typeface="Arial"/>
              </a:rPr>
              <a:t>Clear result history</a:t>
            </a:r>
          </a:p>
        </p:txBody>
      </p:sp>
      <p:sp>
        <p:nvSpPr>
          <p:cNvPr id="10" name="text">
            <a:extLst xmlns:a="http://schemas.openxmlformats.org/drawingml/2006/main">
              <a:ext uri="{FF2B5EF4-FFF2-40B4-BE49-F238E27FC236}">
                <a16:creationId xmlns:a16="http://schemas.microsoft.com/office/drawing/2014/main" id="{A50CF9D1-77FC-4CCE-A728-244E1A04342A}"/>
              </a:ext>
            </a:extLst>
          </p:cNvPr>
          <p:cNvSpPr>
            <a:spLocks xmlns:a="http://schemas.openxmlformats.org/drawingml/2006/main" noGrp="1"/>
          </p:cNvSpPr>
          <p:nvPr/>
        </p:nvSpPr>
        <p:spPr>
          <a:xfrm xmlns:a="http://schemas.openxmlformats.org/drawingml/2006/main">
            <a:off x="628650" y="4886325"/>
            <a:ext cx="5143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Saved outcomes support progress and certificate checks.</a:t>
            </a:r>
          </a:p>
        </p:txBody>
      </p:sp>
    </p:spTree>
    <p:extLst>
      <p:ext uri="{BB962C8B-B14F-4D97-AF65-F5344CB8AC3E}">
        <p14:creationId xmlns:p14="http://schemas.microsoft.com/office/powerpoint/2010/main" val="2094505452"/>
      </p:ext>
    </p:extLst>
  </p:cSld>
</p:sld>
</file>

<file path=ppt/slides/slide1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B715F102-9007-4C6B-B73F-1D32AD47484D}"/>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Private study tools</a:t>
            </a:r>
          </a:p>
        </p:txBody>
      </p:sp>
      <p:sp>
        <p:nvSpPr>
          <p:cNvPr id="2" name="footer">
            <a:extLst xmlns:a="http://schemas.openxmlformats.org/drawingml/2006/main">
              <a:ext uri="{FF2B5EF4-FFF2-40B4-BE49-F238E27FC236}">
                <a16:creationId xmlns:a16="http://schemas.microsoft.com/office/drawing/2014/main" id="{D928070E-86DD-4C1B-B6CE-A15B8AA66EDF}"/>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4831871C-37D3-41B1-8075-DB9058EEDF6A}"/>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14</a:t>
            </a:r>
          </a:p>
        </p:txBody>
      </p:sp>
      <p:pic>
        <p:nvPicPr>
          <p:cNvPr id="4" name="">
            <a:extLst xmlns:a="http://schemas.openxmlformats.org/drawingml/2006/main">
              <a:ext uri="{FF2B5EF4-FFF2-40B4-BE49-F238E27FC236}">
                <a16:creationId xmlns:a16="http://schemas.microsoft.com/office/drawing/2014/main" id="{A60B441C-E66E-4019-9BF3-1522C6ABCED4}"/>
              </a:ext>
            </a:extLst>
          </p:cNvPr>
          <p:cNvPicPr>
            <a:picLocks xmlns:a="http://schemas.openxmlformats.org/drawingml/2006/main" noChangeAspect="1"/>
          </p:cNvPicPr>
          <p:nvPr/>
        </p:nvPicPr>
        <p:blipFill>
          <a:blip xmlns:r="http://schemas.openxmlformats.org/officeDocument/2006/relationships" xmlns:a="http://schemas.openxmlformats.org/drawingml/2006/main" r:embed="Rf7ae25ae3ea9418d"/>
          <a:stretch xmlns:a="http://schemas.openxmlformats.org/drawingml/2006/main"/>
        </p:blipFill>
        <p:spPr>
          <a:xfrm xmlns:a="http://schemas.openxmlformats.org/drawingml/2006/main">
            <a:off x="5715000" y="2255044"/>
            <a:ext cx="5867400" cy="3300413"/>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EA20D07C-02E6-4992-ACD8-C119595C8639}"/>
              </a:ext>
            </a:extLst>
          </p:cNvPr>
          <p:cNvSpPr>
            <a:spLocks xmlns:a="http://schemas.openxmlformats.org/drawingml/2006/main" noGrp="1"/>
          </p:cNvSpPr>
          <p:nvPr/>
        </p:nvSpPr>
        <p:spPr>
          <a:xfrm xmlns:a="http://schemas.openxmlformats.org/drawingml/2006/main">
            <a:off x="628650" y="1819275"/>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Notes and source summaries</a:t>
            </a:r>
          </a:p>
        </p:txBody>
      </p:sp>
      <p:sp>
        <p:nvSpPr>
          <p:cNvPr id="6" name="text">
            <a:extLst xmlns:a="http://schemas.openxmlformats.org/drawingml/2006/main">
              <a:ext uri="{FF2B5EF4-FFF2-40B4-BE49-F238E27FC236}">
                <a16:creationId xmlns:a16="http://schemas.microsoft.com/office/drawing/2014/main" id="{49E10E89-5EEB-4EBC-AAC6-1A52B71B880A}"/>
              </a:ext>
            </a:extLst>
          </p:cNvPr>
          <p:cNvSpPr>
            <a:spLocks xmlns:a="http://schemas.openxmlformats.org/drawingml/2006/main" noGrp="1"/>
          </p:cNvSpPr>
          <p:nvPr/>
        </p:nvSpPr>
        <p:spPr>
          <a:xfrm xmlns:a="http://schemas.openxmlformats.org/drawingml/2006/main">
            <a:off x="628650" y="2286000"/>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Save private notes from text or readable PDF material.</a:t>
            </a:r>
          </a:p>
        </p:txBody>
      </p:sp>
      <p:sp>
        <p:nvSpPr>
          <p:cNvPr id="7" name="text">
            <a:extLst xmlns:a="http://schemas.openxmlformats.org/drawingml/2006/main">
              <a:ext uri="{FF2B5EF4-FFF2-40B4-BE49-F238E27FC236}">
                <a16:creationId xmlns:a16="http://schemas.microsoft.com/office/drawing/2014/main" id="{2722A1D9-C011-4F95-A115-EE4B98CF5894}"/>
              </a:ext>
            </a:extLst>
          </p:cNvPr>
          <p:cNvSpPr>
            <a:spLocks xmlns:a="http://schemas.openxmlformats.org/drawingml/2006/main" noGrp="1"/>
          </p:cNvSpPr>
          <p:nvPr/>
        </p:nvSpPr>
        <p:spPr>
          <a:xfrm xmlns:a="http://schemas.openxmlformats.org/drawingml/2006/main">
            <a:off x="628650" y="3381375"/>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Spaced repetition</a:t>
            </a:r>
          </a:p>
        </p:txBody>
      </p:sp>
      <p:sp>
        <p:nvSpPr>
          <p:cNvPr id="8" name="text">
            <a:extLst xmlns:a="http://schemas.openxmlformats.org/drawingml/2006/main">
              <a:ext uri="{FF2B5EF4-FFF2-40B4-BE49-F238E27FC236}">
                <a16:creationId xmlns:a16="http://schemas.microsoft.com/office/drawing/2014/main" id="{EBD00F36-3AFA-4418-8B8B-A8AF23B2D497}"/>
              </a:ext>
            </a:extLst>
          </p:cNvPr>
          <p:cNvSpPr>
            <a:spLocks xmlns:a="http://schemas.openxmlformats.org/drawingml/2006/main" noGrp="1"/>
          </p:cNvSpPr>
          <p:nvPr/>
        </p:nvSpPr>
        <p:spPr>
          <a:xfrm xmlns:a="http://schemas.openxmlformats.org/drawingml/2006/main">
            <a:off x="628650" y="3848100"/>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Persist review quality, interval and the next due date.</a:t>
            </a:r>
          </a:p>
        </p:txBody>
      </p:sp>
      <p:sp>
        <p:nvSpPr>
          <p:cNvPr id="9" name="text">
            <a:extLst xmlns:a="http://schemas.openxmlformats.org/drawingml/2006/main">
              <a:ext uri="{FF2B5EF4-FFF2-40B4-BE49-F238E27FC236}">
                <a16:creationId xmlns:a16="http://schemas.microsoft.com/office/drawing/2014/main" id="{E335F625-4524-4CAC-8E21-9A758E3ADF73}"/>
              </a:ext>
            </a:extLst>
          </p:cNvPr>
          <p:cNvSpPr>
            <a:spLocks xmlns:a="http://schemas.openxmlformats.org/drawingml/2006/main" noGrp="1"/>
          </p:cNvSpPr>
          <p:nvPr/>
        </p:nvSpPr>
        <p:spPr>
          <a:xfrm xmlns:a="http://schemas.openxmlformats.org/drawingml/2006/main">
            <a:off x="628650" y="4953000"/>
            <a:ext cx="4667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Revision practice</a:t>
            </a:r>
          </a:p>
        </p:txBody>
      </p:sp>
      <p:sp>
        <p:nvSpPr>
          <p:cNvPr id="10" name="text">
            <a:extLst xmlns:a="http://schemas.openxmlformats.org/drawingml/2006/main">
              <a:ext uri="{FF2B5EF4-FFF2-40B4-BE49-F238E27FC236}">
                <a16:creationId xmlns:a16="http://schemas.microsoft.com/office/drawing/2014/main" id="{B25F3F51-A840-4DA4-BE95-1EA1C11F9235}"/>
              </a:ext>
            </a:extLst>
          </p:cNvPr>
          <p:cNvSpPr>
            <a:spLocks xmlns:a="http://schemas.openxmlformats.org/drawingml/2006/main" noGrp="1"/>
          </p:cNvSpPr>
          <p:nvPr/>
        </p:nvSpPr>
        <p:spPr>
          <a:xfrm xmlns:a="http://schemas.openxmlformats.org/drawingml/2006/main">
            <a:off x="628650" y="5419725"/>
            <a:ext cx="4667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Choose a topic and practise with 3, 5 or 10 questions.</a:t>
            </a:r>
          </a:p>
        </p:txBody>
      </p:sp>
      <p:sp>
        <p:nvSpPr>
          <p:cNvPr id="11" name="text">
            <a:extLst xmlns:a="http://schemas.openxmlformats.org/drawingml/2006/main">
              <a:ext uri="{FF2B5EF4-FFF2-40B4-BE49-F238E27FC236}">
                <a16:creationId xmlns:a16="http://schemas.microsoft.com/office/drawing/2014/main" id="{9F1C4530-2B1C-4999-BF50-D959592065A9}"/>
              </a:ext>
            </a:extLst>
          </p:cNvPr>
          <p:cNvSpPr>
            <a:spLocks xmlns:a="http://schemas.openxmlformats.org/drawingml/2006/main" noGrp="1"/>
          </p:cNvSpPr>
          <p:nvPr/>
        </p:nvSpPr>
        <p:spPr>
          <a:xfrm xmlns:a="http://schemas.openxmlformats.org/drawingml/2006/main">
            <a:off x="5715000" y="5753100"/>
            <a:ext cx="5867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579"/>
                </a:solidFill>
                <a:latin typeface="Arial"/>
                <a:ea typeface="Arial"/>
                <a:cs typeface="Arial"/>
              </a:defRPr>
            </a:defPPr>
          </a:lstStyle>
          <a:p xmlns:a="http://schemas.openxmlformats.org/drawingml/2006/main">
            <a:pPr algn="l">
              <a:defRPr sz="1275" b="0">
                <a:solidFill>
                  <a:srgbClr val="526579"/>
                </a:solidFill>
                <a:latin typeface="Arial"/>
                <a:ea typeface="Arial"/>
                <a:cs typeface="Arial"/>
              </a:defRPr>
            </a:pPr>
            <a:r>
              <a:rPr sz="1275" b="0">
                <a:solidFill>
                  <a:srgbClr val="526579"/>
                </a:solidFill>
                <a:latin typeface="Arial"/>
                <a:ea typeface="Arial"/>
                <a:cs typeface="Arial"/>
              </a:rPr>
              <a:t>Flashcard screen from the earlier fix-phase QA run.</a:t>
            </a:r>
          </a:p>
        </p:txBody>
      </p:sp>
    </p:spTree>
    <p:extLst>
      <p:ext uri="{BB962C8B-B14F-4D97-AF65-F5344CB8AC3E}">
        <p14:creationId xmlns:p14="http://schemas.microsoft.com/office/powerpoint/2010/main" val="313836138"/>
      </p:ext>
    </p:extLst>
  </p:cSld>
</p:sld>
</file>

<file path=ppt/slides/slide15.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A7EAA2AD-8826-418A-8E9C-5DFDD75F1C83}"/>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Instructor dashboard</a:t>
            </a:r>
          </a:p>
        </p:txBody>
      </p:sp>
      <p:sp>
        <p:nvSpPr>
          <p:cNvPr id="2" name="footer">
            <a:extLst xmlns:a="http://schemas.openxmlformats.org/drawingml/2006/main">
              <a:ext uri="{FF2B5EF4-FFF2-40B4-BE49-F238E27FC236}">
                <a16:creationId xmlns:a16="http://schemas.microsoft.com/office/drawing/2014/main" id="{5BAB0688-7CBC-43C5-8C07-EE0CC234823F}"/>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456DA31F-B138-400C-A103-9F8084F42C2B}"/>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15</a:t>
            </a:r>
          </a:p>
        </p:txBody>
      </p:sp>
      <p:pic>
        <p:nvPicPr>
          <p:cNvPr id="4" name="">
            <a:extLst xmlns:a="http://schemas.openxmlformats.org/drawingml/2006/main">
              <a:ext uri="{FF2B5EF4-FFF2-40B4-BE49-F238E27FC236}">
                <a16:creationId xmlns:a16="http://schemas.microsoft.com/office/drawing/2014/main" id="{C1995117-691D-4ED2-9405-558E4B560587}"/>
              </a:ext>
            </a:extLst>
          </p:cNvPr>
          <p:cNvPicPr>
            <a:picLocks xmlns:a="http://schemas.openxmlformats.org/drawingml/2006/main" noChangeAspect="1"/>
          </p:cNvPicPr>
          <p:nvPr/>
        </p:nvPicPr>
        <p:blipFill>
          <a:blip xmlns:r="http://schemas.openxmlformats.org/officeDocument/2006/relationships" xmlns:a="http://schemas.openxmlformats.org/drawingml/2006/main" r:embed="Rba14a59697bb4fa1"/>
          <a:stretch xmlns:a="http://schemas.openxmlformats.org/drawingml/2006/main"/>
        </p:blipFill>
        <p:spPr>
          <a:xfrm xmlns:a="http://schemas.openxmlformats.org/drawingml/2006/main">
            <a:off x="6325958" y="1562100"/>
            <a:ext cx="5026484" cy="4724400"/>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CA22688D-2D0A-45FF-9A39-EA15CE08F0CE}"/>
              </a:ext>
            </a:extLst>
          </p:cNvPr>
          <p:cNvSpPr>
            <a:spLocks xmlns:a="http://schemas.openxmlformats.org/drawingml/2006/main" noGrp="1"/>
          </p:cNvSpPr>
          <p:nvPr/>
        </p:nvSpPr>
        <p:spPr>
          <a:xfrm xmlns:a="http://schemas.openxmlformats.org/drawingml/2006/main">
            <a:off x="628650" y="19716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Curriculum management</a:t>
            </a:r>
          </a:p>
        </p:txBody>
      </p:sp>
      <p:sp>
        <p:nvSpPr>
          <p:cNvPr id="6" name="text">
            <a:extLst xmlns:a="http://schemas.openxmlformats.org/drawingml/2006/main">
              <a:ext uri="{FF2B5EF4-FFF2-40B4-BE49-F238E27FC236}">
                <a16:creationId xmlns:a16="http://schemas.microsoft.com/office/drawing/2014/main" id="{FD845204-D4AD-4657-9E06-17DE9005607C}"/>
              </a:ext>
            </a:extLst>
          </p:cNvPr>
          <p:cNvSpPr>
            <a:spLocks xmlns:a="http://schemas.openxmlformats.org/drawingml/2006/main" noGrp="1"/>
          </p:cNvSpPr>
          <p:nvPr/>
        </p:nvSpPr>
        <p:spPr>
          <a:xfrm xmlns:a="http://schemas.openxmlformats.org/drawingml/2006/main">
            <a:off x="628650" y="24384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Create courses, add lessons and submit for approval.</a:t>
            </a:r>
          </a:p>
        </p:txBody>
      </p:sp>
      <p:sp>
        <p:nvSpPr>
          <p:cNvPr id="7" name="text">
            <a:extLst xmlns:a="http://schemas.openxmlformats.org/drawingml/2006/main">
              <a:ext uri="{FF2B5EF4-FFF2-40B4-BE49-F238E27FC236}">
                <a16:creationId xmlns:a16="http://schemas.microsoft.com/office/drawing/2014/main" id="{29D5014C-79C9-4933-A54A-6F085C4189EF}"/>
              </a:ext>
            </a:extLst>
          </p:cNvPr>
          <p:cNvSpPr>
            <a:spLocks xmlns:a="http://schemas.openxmlformats.org/drawingml/2006/main" noGrp="1"/>
          </p:cNvSpPr>
          <p:nvPr/>
        </p:nvSpPr>
        <p:spPr>
          <a:xfrm xmlns:a="http://schemas.openxmlformats.org/drawingml/2006/main">
            <a:off x="628650" y="38100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Classroom support</a:t>
            </a:r>
          </a:p>
        </p:txBody>
      </p:sp>
      <p:sp>
        <p:nvSpPr>
          <p:cNvPr id="8" name="text">
            <a:extLst xmlns:a="http://schemas.openxmlformats.org/drawingml/2006/main">
              <a:ext uri="{FF2B5EF4-FFF2-40B4-BE49-F238E27FC236}">
                <a16:creationId xmlns:a16="http://schemas.microsoft.com/office/drawing/2014/main" id="{66405B55-5162-4BDF-9A0C-632FEDF70DA5}"/>
              </a:ext>
            </a:extLst>
          </p:cNvPr>
          <p:cNvSpPr>
            <a:spLocks xmlns:a="http://schemas.openxmlformats.org/drawingml/2006/main" noGrp="1"/>
          </p:cNvSpPr>
          <p:nvPr/>
        </p:nvSpPr>
        <p:spPr>
          <a:xfrm xmlns:a="http://schemas.openxmlformats.org/drawingml/2006/main">
            <a:off x="628650" y="42767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Review rosters, submissions, quizzes and shared resources.</a:t>
            </a:r>
          </a:p>
        </p:txBody>
      </p:sp>
      <p:sp>
        <p:nvSpPr>
          <p:cNvPr id="9" name="text">
            <a:extLst xmlns:a="http://schemas.openxmlformats.org/drawingml/2006/main">
              <a:ext uri="{FF2B5EF4-FFF2-40B4-BE49-F238E27FC236}">
                <a16:creationId xmlns:a16="http://schemas.microsoft.com/office/drawing/2014/main" id="{92117651-29E4-4C76-A6A1-6D7B90500ACA}"/>
              </a:ext>
            </a:extLst>
          </p:cNvPr>
          <p:cNvSpPr>
            <a:spLocks xmlns:a="http://schemas.openxmlformats.org/drawingml/2006/main" noGrp="1"/>
          </p:cNvSpPr>
          <p:nvPr/>
        </p:nvSpPr>
        <p:spPr>
          <a:xfrm xmlns:a="http://schemas.openxmlformats.org/drawingml/2006/main">
            <a:off x="628650" y="59055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7F8C"/>
                </a:solidFill>
                <a:latin typeface="Arial"/>
                <a:ea typeface="Arial"/>
                <a:cs typeface="Arial"/>
              </a:defRPr>
            </a:defPPr>
          </a:lstStyle>
          <a:p xmlns:a="http://schemas.openxmlformats.org/drawingml/2006/main">
            <a:pPr algn="l">
              <a:defRPr sz="1650" b="1">
                <a:solidFill>
                  <a:srgbClr val="087F8C"/>
                </a:solidFill>
                <a:latin typeface="Arial"/>
                <a:ea typeface="Arial"/>
                <a:cs typeface="Arial"/>
              </a:defRPr>
            </a:pPr>
            <a:r>
              <a:rPr sz="1650" b="1">
                <a:solidFill>
                  <a:srgbClr val="087F8C"/>
                </a:solidFill>
                <a:latin typeface="Arial"/>
                <a:ea typeface="Arial"/>
                <a:cs typeface="Arial"/>
              </a:rPr>
              <a:t>Course ownership checks apply on the backend.</a:t>
            </a:r>
          </a:p>
        </p:txBody>
      </p:sp>
    </p:spTree>
    <p:extLst>
      <p:ext uri="{BB962C8B-B14F-4D97-AF65-F5344CB8AC3E}">
        <p14:creationId xmlns:p14="http://schemas.microsoft.com/office/powerpoint/2010/main" val="1620082205"/>
      </p:ext>
    </p:extLst>
  </p:cSld>
</p:sld>
</file>

<file path=ppt/slides/slide1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C1BF334C-F02B-4575-AB72-D976CF490710}"/>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Administrator dashboard</a:t>
            </a:r>
          </a:p>
        </p:txBody>
      </p:sp>
      <p:sp>
        <p:nvSpPr>
          <p:cNvPr id="2" name="footer">
            <a:extLst xmlns:a="http://schemas.openxmlformats.org/drawingml/2006/main">
              <a:ext uri="{FF2B5EF4-FFF2-40B4-BE49-F238E27FC236}">
                <a16:creationId xmlns:a16="http://schemas.microsoft.com/office/drawing/2014/main" id="{57D32E76-27B3-4D90-A615-B34DB7FA0238}"/>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822EB0B0-2CC4-451C-ABE4-5C0F847742E4}"/>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16</a:t>
            </a:r>
          </a:p>
        </p:txBody>
      </p:sp>
      <p:pic>
        <p:nvPicPr>
          <p:cNvPr id="4" name="">
            <a:extLst xmlns:a="http://schemas.openxmlformats.org/drawingml/2006/main">
              <a:ext uri="{FF2B5EF4-FFF2-40B4-BE49-F238E27FC236}">
                <a16:creationId xmlns:a16="http://schemas.microsoft.com/office/drawing/2014/main" id="{8B578A3A-156F-49B8-9B17-DFF25A6FB58D}"/>
              </a:ext>
            </a:extLst>
          </p:cNvPr>
          <p:cNvPicPr>
            <a:picLocks xmlns:a="http://schemas.openxmlformats.org/drawingml/2006/main" noChangeAspect="1"/>
          </p:cNvPicPr>
          <p:nvPr/>
        </p:nvPicPr>
        <p:blipFill>
          <a:blip xmlns:r="http://schemas.openxmlformats.org/officeDocument/2006/relationships" xmlns:a="http://schemas.openxmlformats.org/drawingml/2006/main" r:embed="R50a78e1ff519436c"/>
          <a:stretch xmlns:a="http://schemas.openxmlformats.org/drawingml/2006/main"/>
        </p:blipFill>
        <p:spPr>
          <a:xfrm xmlns:a="http://schemas.openxmlformats.org/drawingml/2006/main">
            <a:off x="6316433" y="1562100"/>
            <a:ext cx="5026484" cy="4724400"/>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CC00F37D-C8F0-4C4D-9FB9-2290356CD7E3}"/>
              </a:ext>
            </a:extLst>
          </p:cNvPr>
          <p:cNvSpPr>
            <a:spLocks xmlns:a="http://schemas.openxmlformats.org/drawingml/2006/main" noGrp="1"/>
          </p:cNvSpPr>
          <p:nvPr/>
        </p:nvSpPr>
        <p:spPr>
          <a:xfrm xmlns:a="http://schemas.openxmlformats.org/drawingml/2006/main">
            <a:off x="628650" y="19716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Course governance</a:t>
            </a:r>
          </a:p>
        </p:txBody>
      </p:sp>
      <p:sp>
        <p:nvSpPr>
          <p:cNvPr id="6" name="text">
            <a:extLst xmlns:a="http://schemas.openxmlformats.org/drawingml/2006/main">
              <a:ext uri="{FF2B5EF4-FFF2-40B4-BE49-F238E27FC236}">
                <a16:creationId xmlns:a16="http://schemas.microsoft.com/office/drawing/2014/main" id="{D7699419-AC6F-4CC9-86E4-71AC35DC61DC}"/>
              </a:ext>
            </a:extLst>
          </p:cNvPr>
          <p:cNvSpPr>
            <a:spLocks xmlns:a="http://schemas.openxmlformats.org/drawingml/2006/main" noGrp="1"/>
          </p:cNvSpPr>
          <p:nvPr/>
        </p:nvSpPr>
        <p:spPr>
          <a:xfrm xmlns:a="http://schemas.openxmlformats.org/drawingml/2006/main">
            <a:off x="628650" y="24384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Approve complete curricula and give clear review feedback.</a:t>
            </a:r>
          </a:p>
        </p:txBody>
      </p:sp>
      <p:sp>
        <p:nvSpPr>
          <p:cNvPr id="7" name="text">
            <a:extLst xmlns:a="http://schemas.openxmlformats.org/drawingml/2006/main">
              <a:ext uri="{FF2B5EF4-FFF2-40B4-BE49-F238E27FC236}">
                <a16:creationId xmlns:a16="http://schemas.microsoft.com/office/drawing/2014/main" id="{608B9DD7-FDC0-42A1-8CEF-1403E94111E0}"/>
              </a:ext>
            </a:extLst>
          </p:cNvPr>
          <p:cNvSpPr>
            <a:spLocks xmlns:a="http://schemas.openxmlformats.org/drawingml/2006/main" noGrp="1"/>
          </p:cNvSpPr>
          <p:nvPr/>
        </p:nvSpPr>
        <p:spPr>
          <a:xfrm xmlns:a="http://schemas.openxmlformats.org/drawingml/2006/main">
            <a:off x="628650" y="38100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Account administration</a:t>
            </a:r>
          </a:p>
        </p:txBody>
      </p:sp>
      <p:sp>
        <p:nvSpPr>
          <p:cNvPr id="8" name="text">
            <a:extLst xmlns:a="http://schemas.openxmlformats.org/drawingml/2006/main">
              <a:ext uri="{FF2B5EF4-FFF2-40B4-BE49-F238E27FC236}">
                <a16:creationId xmlns:a16="http://schemas.microsoft.com/office/drawing/2014/main" id="{F352A509-8320-4D4B-9D53-DA1D85C6EDC5}"/>
              </a:ext>
            </a:extLst>
          </p:cNvPr>
          <p:cNvSpPr>
            <a:spLocks xmlns:a="http://schemas.openxmlformats.org/drawingml/2006/main" noGrp="1"/>
          </p:cNvSpPr>
          <p:nvPr/>
        </p:nvSpPr>
        <p:spPr>
          <a:xfrm xmlns:a="http://schemas.openxmlformats.org/drawingml/2006/main">
            <a:off x="628650" y="42767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Search users and inspect enrollment records.</a:t>
            </a:r>
          </a:p>
        </p:txBody>
      </p:sp>
      <p:sp>
        <p:nvSpPr>
          <p:cNvPr id="9" name="text">
            <a:extLst xmlns:a="http://schemas.openxmlformats.org/drawingml/2006/main">
              <a:ext uri="{FF2B5EF4-FFF2-40B4-BE49-F238E27FC236}">
                <a16:creationId xmlns:a16="http://schemas.microsoft.com/office/drawing/2014/main" id="{EE9CD9FF-2939-45C0-AA67-AEB200F9DC71}"/>
              </a:ext>
            </a:extLst>
          </p:cNvPr>
          <p:cNvSpPr>
            <a:spLocks xmlns:a="http://schemas.openxmlformats.org/drawingml/2006/main" noGrp="1"/>
          </p:cNvSpPr>
          <p:nvPr/>
        </p:nvSpPr>
        <p:spPr>
          <a:xfrm xmlns:a="http://schemas.openxmlformats.org/drawingml/2006/main">
            <a:off x="628650" y="5905500"/>
            <a:ext cx="5143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087F8C"/>
                </a:solidFill>
                <a:latin typeface="Arial"/>
                <a:ea typeface="Arial"/>
                <a:cs typeface="Arial"/>
              </a:defRPr>
            </a:defPPr>
          </a:lstStyle>
          <a:p xmlns:a="http://schemas.openxmlformats.org/drawingml/2006/main">
            <a:pPr algn="l">
              <a:defRPr sz="1650" b="1">
                <a:solidFill>
                  <a:srgbClr val="087F8C"/>
                </a:solidFill>
                <a:latin typeface="Arial"/>
                <a:ea typeface="Arial"/>
                <a:cs typeface="Arial"/>
              </a:defRPr>
            </a:pPr>
            <a:r>
              <a:rPr sz="1650" b="1">
                <a:solidFill>
                  <a:srgbClr val="087F8C"/>
                </a:solidFill>
                <a:latin typeface="Arial"/>
                <a:ea typeface="Arial"/>
                <a:cs typeface="Arial"/>
              </a:rPr>
              <a:t>Free access still requires course publication.</a:t>
            </a:r>
          </a:p>
        </p:txBody>
      </p:sp>
    </p:spTree>
    <p:extLst>
      <p:ext uri="{BB962C8B-B14F-4D97-AF65-F5344CB8AC3E}">
        <p14:creationId xmlns:p14="http://schemas.microsoft.com/office/powerpoint/2010/main" val="700514497"/>
      </p:ext>
    </p:extLst>
  </p:cSld>
</p:sld>
</file>

<file path=ppt/slides/slide1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6A8A1C99-F4B5-4FBE-89E3-ECB56E0DA205}"/>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Floating multilingual assistant</a:t>
            </a:r>
          </a:p>
        </p:txBody>
      </p:sp>
      <p:sp>
        <p:nvSpPr>
          <p:cNvPr id="2" name="footer">
            <a:extLst xmlns:a="http://schemas.openxmlformats.org/drawingml/2006/main">
              <a:ext uri="{FF2B5EF4-FFF2-40B4-BE49-F238E27FC236}">
                <a16:creationId xmlns:a16="http://schemas.microsoft.com/office/drawing/2014/main" id="{1214CD91-CB92-4AF3-93C2-1C0A2BF6B91B}"/>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38CD9956-6805-45E3-A118-B5D9B8DB349B}"/>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17</a:t>
            </a:r>
          </a:p>
        </p:txBody>
      </p:sp>
      <p:pic>
        <p:nvPicPr>
          <p:cNvPr id="4" name="">
            <a:extLst xmlns:a="http://schemas.openxmlformats.org/drawingml/2006/main">
              <a:ext uri="{FF2B5EF4-FFF2-40B4-BE49-F238E27FC236}">
                <a16:creationId xmlns:a16="http://schemas.microsoft.com/office/drawing/2014/main" id="{A59A06A0-817E-47AB-BCE6-6A5B52DC5ADF}"/>
              </a:ext>
            </a:extLst>
          </p:cNvPr>
          <p:cNvPicPr>
            <a:picLocks xmlns:a="http://schemas.openxmlformats.org/drawingml/2006/main" noChangeAspect="1"/>
          </p:cNvPicPr>
          <p:nvPr/>
        </p:nvPicPr>
        <p:blipFill>
          <a:blip xmlns:r="http://schemas.openxmlformats.org/officeDocument/2006/relationships" xmlns:a="http://schemas.openxmlformats.org/drawingml/2006/main" r:embed="R4dcc431478814395"/>
          <a:stretch xmlns:a="http://schemas.openxmlformats.org/drawingml/2006/main"/>
        </p:blipFill>
        <p:spPr>
          <a:xfrm xmlns:a="http://schemas.openxmlformats.org/drawingml/2006/main">
            <a:off x="8906789" y="1619250"/>
            <a:ext cx="2169872" cy="4695825"/>
          </a:xfrm>
          <a:prstGeom xmlns:a="http://schemas.openxmlformats.org/drawingml/2006/main" prst="rect">
            <a:avLst/>
          </a:prstGeom>
        </p:spPr>
      </p:pic>
      <p:sp>
        <p:nvSpPr>
          <p:cNvPr id="5" name="text">
            <a:extLst xmlns:a="http://schemas.openxmlformats.org/drawingml/2006/main">
              <a:ext uri="{FF2B5EF4-FFF2-40B4-BE49-F238E27FC236}">
                <a16:creationId xmlns:a16="http://schemas.microsoft.com/office/drawing/2014/main" id="{63DFBF51-47E0-4B2D-908E-02AE21C0740E}"/>
              </a:ext>
            </a:extLst>
          </p:cNvPr>
          <p:cNvSpPr>
            <a:spLocks xmlns:a="http://schemas.openxmlformats.org/drawingml/2006/main" noGrp="1"/>
          </p:cNvSpPr>
          <p:nvPr/>
        </p:nvSpPr>
        <p:spPr>
          <a:xfrm xmlns:a="http://schemas.openxmlformats.org/drawingml/2006/main">
            <a:off x="628650" y="1952625"/>
            <a:ext cx="776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Convenient access</a:t>
            </a:r>
          </a:p>
        </p:txBody>
      </p:sp>
      <p:sp>
        <p:nvSpPr>
          <p:cNvPr id="6" name="text">
            <a:extLst xmlns:a="http://schemas.openxmlformats.org/drawingml/2006/main">
              <a:ext uri="{FF2B5EF4-FFF2-40B4-BE49-F238E27FC236}">
                <a16:creationId xmlns:a16="http://schemas.microsoft.com/office/drawing/2014/main" id="{1B68F67D-E3F1-45CB-ABB0-6C4AE6888419}"/>
              </a:ext>
            </a:extLst>
          </p:cNvPr>
          <p:cNvSpPr>
            <a:spLocks xmlns:a="http://schemas.openxmlformats.org/drawingml/2006/main" noGrp="1"/>
          </p:cNvSpPr>
          <p:nvPr/>
        </p:nvSpPr>
        <p:spPr>
          <a:xfrm xmlns:a="http://schemas.openxmlformats.org/drawingml/2006/main">
            <a:off x="628650" y="2381250"/>
            <a:ext cx="776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A small icon opens a private chat window.</a:t>
            </a:r>
          </a:p>
        </p:txBody>
      </p:sp>
      <p:sp>
        <p:nvSpPr>
          <p:cNvPr id="7" name="text">
            <a:extLst xmlns:a="http://schemas.openxmlformats.org/drawingml/2006/main">
              <a:ext uri="{FF2B5EF4-FFF2-40B4-BE49-F238E27FC236}">
                <a16:creationId xmlns:a16="http://schemas.microsoft.com/office/drawing/2014/main" id="{E52936FC-5FA7-4F32-B9B1-7028453F5E31}"/>
              </a:ext>
            </a:extLst>
          </p:cNvPr>
          <p:cNvSpPr>
            <a:spLocks xmlns:a="http://schemas.openxmlformats.org/drawingml/2006/main" noGrp="1"/>
          </p:cNvSpPr>
          <p:nvPr/>
        </p:nvSpPr>
        <p:spPr>
          <a:xfrm xmlns:a="http://schemas.openxmlformats.org/drawingml/2006/main">
            <a:off x="628650" y="3190875"/>
            <a:ext cx="776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Language support</a:t>
            </a:r>
          </a:p>
        </p:txBody>
      </p:sp>
      <p:sp>
        <p:nvSpPr>
          <p:cNvPr id="8" name="text">
            <a:extLst xmlns:a="http://schemas.openxmlformats.org/drawingml/2006/main">
              <a:ext uri="{FF2B5EF4-FFF2-40B4-BE49-F238E27FC236}">
                <a16:creationId xmlns:a16="http://schemas.microsoft.com/office/drawing/2014/main" id="{CA2EB61C-BC3E-4F34-9E98-2C31836B654B}"/>
              </a:ext>
            </a:extLst>
          </p:cNvPr>
          <p:cNvSpPr>
            <a:spLocks xmlns:a="http://schemas.openxmlformats.org/drawingml/2006/main" noGrp="1"/>
          </p:cNvSpPr>
          <p:nvPr/>
        </p:nvSpPr>
        <p:spPr>
          <a:xfrm xmlns:a="http://schemas.openxmlformats.org/drawingml/2006/main">
            <a:off x="628650" y="3619500"/>
            <a:ext cx="776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Hindi, Gujarati and English documentation is available locally.</a:t>
            </a:r>
          </a:p>
        </p:txBody>
      </p:sp>
      <p:sp>
        <p:nvSpPr>
          <p:cNvPr id="9" name="text">
            <a:extLst xmlns:a="http://schemas.openxmlformats.org/drawingml/2006/main">
              <a:ext uri="{FF2B5EF4-FFF2-40B4-BE49-F238E27FC236}">
                <a16:creationId xmlns:a16="http://schemas.microsoft.com/office/drawing/2014/main" id="{0B1A6370-F9F9-4DED-8179-5EEF42E516F2}"/>
              </a:ext>
            </a:extLst>
          </p:cNvPr>
          <p:cNvSpPr>
            <a:spLocks xmlns:a="http://schemas.openxmlformats.org/drawingml/2006/main" noGrp="1"/>
          </p:cNvSpPr>
          <p:nvPr/>
        </p:nvSpPr>
        <p:spPr>
          <a:xfrm xmlns:a="http://schemas.openxmlformats.org/drawingml/2006/main">
            <a:off x="628650" y="4429125"/>
            <a:ext cx="776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Clear provider mode</a:t>
            </a:r>
          </a:p>
        </p:txBody>
      </p:sp>
      <p:sp>
        <p:nvSpPr>
          <p:cNvPr id="10" name="text">
            <a:extLst xmlns:a="http://schemas.openxmlformats.org/drawingml/2006/main">
              <a:ext uri="{FF2B5EF4-FFF2-40B4-BE49-F238E27FC236}">
                <a16:creationId xmlns:a16="http://schemas.microsoft.com/office/drawing/2014/main" id="{F09C236D-03EA-4506-A48B-50486794084E}"/>
              </a:ext>
            </a:extLst>
          </p:cNvPr>
          <p:cNvSpPr>
            <a:spLocks xmlns:a="http://schemas.openxmlformats.org/drawingml/2006/main" noGrp="1"/>
          </p:cNvSpPr>
          <p:nvPr/>
        </p:nvSpPr>
        <p:spPr>
          <a:xfrm xmlns:a="http://schemas.openxmlformats.org/drawingml/2006/main">
            <a:off x="628650" y="4857750"/>
            <a:ext cx="77628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Live model behavior depends on secure API configuration.</a:t>
            </a:r>
          </a:p>
        </p:txBody>
      </p:sp>
      <p:sp>
        <p:nvSpPr>
          <p:cNvPr id="11" name="text">
            <a:extLst xmlns:a="http://schemas.openxmlformats.org/drawingml/2006/main">
              <a:ext uri="{FF2B5EF4-FFF2-40B4-BE49-F238E27FC236}">
                <a16:creationId xmlns:a16="http://schemas.microsoft.com/office/drawing/2014/main" id="{9F721483-3947-4534-8766-92E539A56999}"/>
              </a:ext>
            </a:extLst>
          </p:cNvPr>
          <p:cNvSpPr>
            <a:spLocks xmlns:a="http://schemas.openxmlformats.org/drawingml/2006/main" noGrp="1"/>
          </p:cNvSpPr>
          <p:nvPr/>
        </p:nvSpPr>
        <p:spPr>
          <a:xfrm xmlns:a="http://schemas.openxmlformats.org/drawingml/2006/main">
            <a:off x="628650" y="5962650"/>
            <a:ext cx="77819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95640C"/>
                </a:solidFill>
                <a:latin typeface="Arial"/>
                <a:ea typeface="Arial"/>
                <a:cs typeface="Arial"/>
              </a:defRPr>
            </a:defPPr>
          </a:lstStyle>
          <a:p xmlns:a="http://schemas.openxmlformats.org/drawingml/2006/main">
            <a:pPr algn="l">
              <a:defRPr sz="1650" b="1">
                <a:solidFill>
                  <a:srgbClr val="95640C"/>
                </a:solidFill>
                <a:latin typeface="Arial"/>
                <a:ea typeface="Arial"/>
                <a:cs typeface="Arial"/>
              </a:defRPr>
            </a:pPr>
            <a:r>
              <a:rPr sz="1650" b="1">
                <a:solidFill>
                  <a:srgbClr val="95640C"/>
                </a:solidFill>
                <a:latin typeface="Arial"/>
                <a:ea typeface="Arial"/>
                <a:cs typeface="Arial"/>
              </a:rPr>
              <a:t>Live LLM language quality remains pending credentials.</a:t>
            </a:r>
          </a:p>
        </p:txBody>
      </p:sp>
    </p:spTree>
    <p:extLst>
      <p:ext uri="{BB962C8B-B14F-4D97-AF65-F5344CB8AC3E}">
        <p14:creationId xmlns:p14="http://schemas.microsoft.com/office/powerpoint/2010/main" val="1201019773"/>
      </p:ext>
    </p:extLst>
  </p:cSld>
</p:sld>
</file>

<file path=ppt/slides/slide18.xml><?xml version="1.0" encoding="utf-8"?>
<p:sld xmlns:p="http://schemas.openxmlformats.org/presentationml/2006/main">
  <p:cSld>
    <p:bg>
      <p:bgPr>
        <a:solidFill xmlns:a="http://schemas.openxmlformats.org/drawingml/2006/main">
          <a:srgbClr val="10233F"/>
        </a:solidFill>
      </p:bgPr>
    </p:bg>
    <p:spTree>
      <p:nvGrpSpPr>
        <p:cNvPr id="1" name=""/>
        <p:cNvGrpSpPr/>
        <p:nvPr/>
      </p:nvGrpSpPr>
      <p:grpSpPr>
        <a:xfrm xmlns:a="http://schemas.openxmlformats.org/drawingml/2006/main"/>
      </p:grpSpPr>
      <p:sp>
        <p:nvSpPr>
          <p:cNvPr id="17" name="slide-title">
            <a:extLst xmlns:a="http://schemas.openxmlformats.org/drawingml/2006/main">
              <a:ext uri="{FF2B5EF4-FFF2-40B4-BE49-F238E27FC236}">
                <a16:creationId xmlns:a16="http://schemas.microsoft.com/office/drawing/2014/main" id="{F5F1BF18-1074-4392-913A-9DA0E834FB2F}"/>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Retrieval-augmented generation</a:t>
            </a:r>
          </a:p>
        </p:txBody>
      </p:sp>
      <p:sp>
        <p:nvSpPr>
          <p:cNvPr id="2" name="subtitle">
            <a:extLst xmlns:a="http://schemas.openxmlformats.org/drawingml/2006/main">
              <a:ext uri="{FF2B5EF4-FFF2-40B4-BE49-F238E27FC236}">
                <a16:creationId xmlns:a16="http://schemas.microsoft.com/office/drawing/2014/main" id="{24862E5D-E797-475B-88CF-9AE9C824AD0A}"/>
              </a:ext>
            </a:extLst>
          </p:cNvPr>
          <p:cNvSpPr>
            <a:spLocks xmlns:a="http://schemas.openxmlformats.org/drawingml/2006/main" noGrp="1"/>
          </p:cNvSpPr>
          <p:nvPr/>
        </p:nvSpPr>
        <p:spPr>
          <a:xfrm xmlns:a="http://schemas.openxmlformats.org/drawingml/2006/main">
            <a:off x="628650" y="130492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B7D3DD"/>
                </a:solidFill>
                <a:latin typeface="Arial"/>
                <a:ea typeface="Arial"/>
                <a:cs typeface="Arial"/>
              </a:defRPr>
            </a:defPPr>
          </a:lstStyle>
          <a:p xmlns:a="http://schemas.openxmlformats.org/drawingml/2006/main">
            <a:pPr algn="l">
              <a:defRPr sz="1725" b="0">
                <a:solidFill>
                  <a:srgbClr val="B7D3DD"/>
                </a:solidFill>
                <a:latin typeface="Arial"/>
                <a:ea typeface="Arial"/>
                <a:cs typeface="Arial"/>
              </a:defRPr>
            </a:pPr>
            <a:r>
              <a:rPr sz="1725" b="0">
                <a:solidFill>
                  <a:srgbClr val="B7D3DD"/>
                </a:solidFill>
                <a:latin typeface="Arial"/>
                <a:ea typeface="Arial"/>
                <a:cs typeface="Arial"/>
              </a:rPr>
              <a:t>Relevant, permitted evidence accompanies the user’s question</a:t>
            </a:r>
          </a:p>
        </p:txBody>
      </p:sp>
      <p:sp>
        <p:nvSpPr>
          <p:cNvPr id="3" name="footer">
            <a:extLst xmlns:a="http://schemas.openxmlformats.org/drawingml/2006/main">
              <a:ext uri="{FF2B5EF4-FFF2-40B4-BE49-F238E27FC236}">
                <a16:creationId xmlns:a16="http://schemas.microsoft.com/office/drawing/2014/main" id="{CFBA1CA6-6BD5-4381-B131-B60AB6BA014E}"/>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A9BECF"/>
                </a:solidFill>
                <a:latin typeface="Arial"/>
                <a:ea typeface="Arial"/>
                <a:cs typeface="Arial"/>
              </a:defRPr>
            </a:defPPr>
          </a:lstStyle>
          <a:p xmlns:a="http://schemas.openxmlformats.org/drawingml/2006/main">
            <a:pPr algn="l">
              <a:defRPr sz="975" b="0">
                <a:solidFill>
                  <a:srgbClr val="A9BECF"/>
                </a:solidFill>
                <a:latin typeface="Arial"/>
                <a:ea typeface="Arial"/>
                <a:cs typeface="Arial"/>
              </a:defRPr>
            </a:pPr>
            <a:r>
              <a:rPr sz="975" b="0">
                <a:solidFill>
                  <a:srgbClr val="A9BECF"/>
                </a:solidFill>
                <a:latin typeface="Arial"/>
                <a:ea typeface="Arial"/>
                <a:cs typeface="Arial"/>
              </a:rPr>
              <a:t>GYANIX LEARNING PORTAL</a:t>
            </a:r>
          </a:p>
        </p:txBody>
      </p:sp>
      <p:sp>
        <p:nvSpPr>
          <p:cNvPr id="4" name="page-number">
            <a:extLst xmlns:a="http://schemas.openxmlformats.org/drawingml/2006/main">
              <a:ext uri="{FF2B5EF4-FFF2-40B4-BE49-F238E27FC236}">
                <a16:creationId xmlns:a16="http://schemas.microsoft.com/office/drawing/2014/main" id="{04D494A9-FBDB-44EA-89D9-4A94B254794F}"/>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A9BECF"/>
                </a:solidFill>
                <a:latin typeface="Arial"/>
                <a:ea typeface="Arial"/>
                <a:cs typeface="Arial"/>
              </a:defRPr>
            </a:defPPr>
          </a:lstStyle>
          <a:p xmlns:a="http://schemas.openxmlformats.org/drawingml/2006/main">
            <a:pPr algn="r">
              <a:defRPr sz="1125" b="0">
                <a:solidFill>
                  <a:srgbClr val="A9BECF"/>
                </a:solidFill>
                <a:latin typeface="Arial"/>
                <a:ea typeface="Arial"/>
                <a:cs typeface="Arial"/>
              </a:defRPr>
            </a:pPr>
            <a:r>
              <a:rPr sz="1125" b="0">
                <a:solidFill>
                  <a:srgbClr val="A9BECF"/>
                </a:solidFill>
                <a:latin typeface="Arial"/>
                <a:ea typeface="Arial"/>
                <a:cs typeface="Arial"/>
              </a:rPr>
              <a:t>18</a:t>
            </a:r>
          </a:p>
        </p:txBody>
      </p:sp>
      <p:sp>
        <p:nvSpPr>
          <p:cNvPr id="5" name="text">
            <a:extLst xmlns:a="http://schemas.openxmlformats.org/drawingml/2006/main">
              <a:ext uri="{FF2B5EF4-FFF2-40B4-BE49-F238E27FC236}">
                <a16:creationId xmlns:a16="http://schemas.microsoft.com/office/drawing/2014/main" id="{3DCA3B25-7659-44DC-8CCF-ABD8D40F8D22}"/>
              </a:ext>
            </a:extLst>
          </p:cNvPr>
          <p:cNvSpPr>
            <a:spLocks xmlns:a="http://schemas.openxmlformats.org/drawingml/2006/main" noGrp="1"/>
          </p:cNvSpPr>
          <p:nvPr/>
        </p:nvSpPr>
        <p:spPr>
          <a:xfrm xmlns:a="http://schemas.openxmlformats.org/drawingml/2006/main">
            <a:off x="628650" y="22669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76D4D7"/>
                </a:solidFill>
                <a:latin typeface="Arial"/>
                <a:ea typeface="Arial"/>
                <a:cs typeface="Arial"/>
              </a:defRPr>
            </a:defPPr>
          </a:lstStyle>
          <a:p xmlns:a="http://schemas.openxmlformats.org/drawingml/2006/main">
            <a:pPr algn="l">
              <a:defRPr sz="3150" b="1">
                <a:solidFill>
                  <a:srgbClr val="76D4D7"/>
                </a:solidFill>
                <a:latin typeface="Arial"/>
                <a:ea typeface="Arial"/>
                <a:cs typeface="Arial"/>
              </a:defRPr>
            </a:pPr>
            <a:r>
              <a:rPr sz="3150" b="1">
                <a:solidFill>
                  <a:srgbClr val="76D4D7"/>
                </a:solidFill>
                <a:latin typeface="Arial"/>
                <a:ea typeface="Arial"/>
                <a:cs typeface="Arial"/>
              </a:rPr>
              <a:t>01</a:t>
            </a:r>
          </a:p>
        </p:txBody>
      </p:sp>
      <p:sp>
        <p:nvSpPr>
          <p:cNvPr id="6" name="text">
            <a:extLst xmlns:a="http://schemas.openxmlformats.org/drawingml/2006/main">
              <a:ext uri="{FF2B5EF4-FFF2-40B4-BE49-F238E27FC236}">
                <a16:creationId xmlns:a16="http://schemas.microsoft.com/office/drawing/2014/main" id="{BAA0852E-A042-4BC7-96F0-4E876D700E48}"/>
              </a:ext>
            </a:extLst>
          </p:cNvPr>
          <p:cNvSpPr>
            <a:spLocks xmlns:a="http://schemas.openxmlformats.org/drawingml/2006/main" noGrp="1"/>
          </p:cNvSpPr>
          <p:nvPr/>
        </p:nvSpPr>
        <p:spPr>
          <a:xfrm xmlns:a="http://schemas.openxmlformats.org/drawingml/2006/main">
            <a:off x="1409700" y="2266950"/>
            <a:ext cx="423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Arial"/>
                <a:ea typeface="Arial"/>
                <a:cs typeface="Arial"/>
              </a:defRPr>
            </a:defPPr>
          </a:lstStyle>
          <a:p xmlns:a="http://schemas.openxmlformats.org/drawingml/2006/main">
            <a:pPr algn="l">
              <a:defRPr sz="2475" b="1">
                <a:solidFill>
                  <a:srgbClr val="FFFFFF"/>
                </a:solidFill>
                <a:latin typeface="Arial"/>
                <a:ea typeface="Arial"/>
                <a:cs typeface="Arial"/>
              </a:defRPr>
            </a:pPr>
            <a:r>
              <a:rPr sz="2475" b="1">
                <a:solidFill>
                  <a:srgbClr val="FFFFFF"/>
                </a:solidFill>
                <a:latin typeface="Arial"/>
                <a:ea typeface="Arial"/>
                <a:cs typeface="Arial"/>
              </a:rPr>
              <a:t>Authenticate</a:t>
            </a:r>
          </a:p>
        </p:txBody>
      </p:sp>
      <p:sp>
        <p:nvSpPr>
          <p:cNvPr id="7" name="text">
            <a:extLst xmlns:a="http://schemas.openxmlformats.org/drawingml/2006/main">
              <a:ext uri="{FF2B5EF4-FFF2-40B4-BE49-F238E27FC236}">
                <a16:creationId xmlns:a16="http://schemas.microsoft.com/office/drawing/2014/main" id="{29C44BE5-8805-49A2-A665-A4ACF98A1016}"/>
              </a:ext>
            </a:extLst>
          </p:cNvPr>
          <p:cNvSpPr>
            <a:spLocks xmlns:a="http://schemas.openxmlformats.org/drawingml/2006/main" noGrp="1"/>
          </p:cNvSpPr>
          <p:nvPr/>
        </p:nvSpPr>
        <p:spPr>
          <a:xfrm xmlns:a="http://schemas.openxmlformats.org/drawingml/2006/main">
            <a:off x="1409700" y="2847975"/>
            <a:ext cx="4238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D4E2EB"/>
                </a:solidFill>
                <a:latin typeface="Arial"/>
                <a:ea typeface="Arial"/>
                <a:cs typeface="Arial"/>
              </a:defRPr>
            </a:defPPr>
          </a:lstStyle>
          <a:p xmlns:a="http://schemas.openxmlformats.org/drawingml/2006/main">
            <a:pPr algn="l">
              <a:defRPr sz="1950" b="0">
                <a:solidFill>
                  <a:srgbClr val="D4E2EB"/>
                </a:solidFill>
                <a:latin typeface="Arial"/>
                <a:ea typeface="Arial"/>
                <a:cs typeface="Arial"/>
              </a:defRPr>
            </a:pPr>
            <a:r>
              <a:rPr sz="1950" b="0">
                <a:solidFill>
                  <a:srgbClr val="D4E2EB"/>
                </a:solidFill>
                <a:latin typeface="Arial"/>
                <a:ea typeface="Arial"/>
                <a:cs typeface="Arial"/>
              </a:rPr>
              <a:t>Current account, active status and role</a:t>
            </a:r>
          </a:p>
        </p:txBody>
      </p:sp>
      <p:sp>
        <p:nvSpPr>
          <p:cNvPr id="8" name="text">
            <a:extLst xmlns:a="http://schemas.openxmlformats.org/drawingml/2006/main">
              <a:ext uri="{FF2B5EF4-FFF2-40B4-BE49-F238E27FC236}">
                <a16:creationId xmlns:a16="http://schemas.microsoft.com/office/drawing/2014/main" id="{9F3EF28E-601B-4CA5-A2A1-009F1DEFD787}"/>
              </a:ext>
            </a:extLst>
          </p:cNvPr>
          <p:cNvSpPr>
            <a:spLocks xmlns:a="http://schemas.openxmlformats.org/drawingml/2006/main" noGrp="1"/>
          </p:cNvSpPr>
          <p:nvPr/>
        </p:nvSpPr>
        <p:spPr>
          <a:xfrm xmlns:a="http://schemas.openxmlformats.org/drawingml/2006/main">
            <a:off x="6591300" y="226695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76D4D7"/>
                </a:solidFill>
                <a:latin typeface="Arial"/>
                <a:ea typeface="Arial"/>
                <a:cs typeface="Arial"/>
              </a:defRPr>
            </a:defPPr>
          </a:lstStyle>
          <a:p xmlns:a="http://schemas.openxmlformats.org/drawingml/2006/main">
            <a:pPr algn="l">
              <a:defRPr sz="3150" b="1">
                <a:solidFill>
                  <a:srgbClr val="76D4D7"/>
                </a:solidFill>
                <a:latin typeface="Arial"/>
                <a:ea typeface="Arial"/>
                <a:cs typeface="Arial"/>
              </a:defRPr>
            </a:pPr>
            <a:r>
              <a:rPr sz="3150" b="1">
                <a:solidFill>
                  <a:srgbClr val="76D4D7"/>
                </a:solidFill>
                <a:latin typeface="Arial"/>
                <a:ea typeface="Arial"/>
                <a:cs typeface="Arial"/>
              </a:rPr>
              <a:t>02</a:t>
            </a:r>
          </a:p>
        </p:txBody>
      </p:sp>
      <p:sp>
        <p:nvSpPr>
          <p:cNvPr id="9" name="text">
            <a:extLst xmlns:a="http://schemas.openxmlformats.org/drawingml/2006/main">
              <a:ext uri="{FF2B5EF4-FFF2-40B4-BE49-F238E27FC236}">
                <a16:creationId xmlns:a16="http://schemas.microsoft.com/office/drawing/2014/main" id="{1278B8DC-FA40-4C59-B236-E9F6834A79FC}"/>
              </a:ext>
            </a:extLst>
          </p:cNvPr>
          <p:cNvSpPr>
            <a:spLocks xmlns:a="http://schemas.openxmlformats.org/drawingml/2006/main" noGrp="1"/>
          </p:cNvSpPr>
          <p:nvPr/>
        </p:nvSpPr>
        <p:spPr>
          <a:xfrm xmlns:a="http://schemas.openxmlformats.org/drawingml/2006/main">
            <a:off x="7372350" y="2266950"/>
            <a:ext cx="423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Arial"/>
                <a:ea typeface="Arial"/>
                <a:cs typeface="Arial"/>
              </a:defRPr>
            </a:defPPr>
          </a:lstStyle>
          <a:p xmlns:a="http://schemas.openxmlformats.org/drawingml/2006/main">
            <a:pPr algn="l">
              <a:defRPr sz="2475" b="1">
                <a:solidFill>
                  <a:srgbClr val="FFFFFF"/>
                </a:solidFill>
                <a:latin typeface="Arial"/>
                <a:ea typeface="Arial"/>
                <a:cs typeface="Arial"/>
              </a:defRPr>
            </a:pPr>
            <a:r>
              <a:rPr sz="2475" b="1">
                <a:solidFill>
                  <a:srgbClr val="FFFFFF"/>
                </a:solidFill>
                <a:latin typeface="Arial"/>
                <a:ea typeface="Arial"/>
                <a:cs typeface="Arial"/>
              </a:rPr>
              <a:t>Retrieve</a:t>
            </a:r>
          </a:p>
        </p:txBody>
      </p:sp>
      <p:sp>
        <p:nvSpPr>
          <p:cNvPr id="10" name="text">
            <a:extLst xmlns:a="http://schemas.openxmlformats.org/drawingml/2006/main">
              <a:ext uri="{FF2B5EF4-FFF2-40B4-BE49-F238E27FC236}">
                <a16:creationId xmlns:a16="http://schemas.microsoft.com/office/drawing/2014/main" id="{3069D837-4EAB-4835-9E77-8600C0441051}"/>
              </a:ext>
            </a:extLst>
          </p:cNvPr>
          <p:cNvSpPr>
            <a:spLocks xmlns:a="http://schemas.openxmlformats.org/drawingml/2006/main" noGrp="1"/>
          </p:cNvSpPr>
          <p:nvPr/>
        </p:nvSpPr>
        <p:spPr>
          <a:xfrm xmlns:a="http://schemas.openxmlformats.org/drawingml/2006/main">
            <a:off x="7372350" y="2847975"/>
            <a:ext cx="4238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D4E2EB"/>
                </a:solidFill>
                <a:latin typeface="Arial"/>
                <a:ea typeface="Arial"/>
                <a:cs typeface="Arial"/>
              </a:defRPr>
            </a:defPPr>
          </a:lstStyle>
          <a:p xmlns:a="http://schemas.openxmlformats.org/drawingml/2006/main">
            <a:pPr algn="l">
              <a:defRPr sz="1950" b="0">
                <a:solidFill>
                  <a:srgbClr val="D4E2EB"/>
                </a:solidFill>
                <a:latin typeface="Arial"/>
                <a:ea typeface="Arial"/>
                <a:cs typeface="Arial"/>
              </a:defRPr>
            </a:pPr>
            <a:r>
              <a:rPr sz="1950" b="0">
                <a:solidFill>
                  <a:srgbClr val="D4E2EB"/>
                </a:solidFill>
                <a:latin typeface="Arial"/>
                <a:ea typeface="Arial"/>
                <a:cs typeface="Arial"/>
              </a:rPr>
              <a:t>Role-filtered documents and permitted summaries</a:t>
            </a:r>
          </a:p>
        </p:txBody>
      </p:sp>
      <p:sp>
        <p:nvSpPr>
          <p:cNvPr id="11" name="text">
            <a:extLst xmlns:a="http://schemas.openxmlformats.org/drawingml/2006/main">
              <a:ext uri="{FF2B5EF4-FFF2-40B4-BE49-F238E27FC236}">
                <a16:creationId xmlns:a16="http://schemas.microsoft.com/office/drawing/2014/main" id="{6FF5B92A-566F-4D42-A9E3-2AB0C63C9E54}"/>
              </a:ext>
            </a:extLst>
          </p:cNvPr>
          <p:cNvSpPr>
            <a:spLocks xmlns:a="http://schemas.openxmlformats.org/drawingml/2006/main" noGrp="1"/>
          </p:cNvSpPr>
          <p:nvPr/>
        </p:nvSpPr>
        <p:spPr>
          <a:xfrm xmlns:a="http://schemas.openxmlformats.org/drawingml/2006/main">
            <a:off x="628650" y="41910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76D4D7"/>
                </a:solidFill>
                <a:latin typeface="Arial"/>
                <a:ea typeface="Arial"/>
                <a:cs typeface="Arial"/>
              </a:defRPr>
            </a:defPPr>
          </a:lstStyle>
          <a:p xmlns:a="http://schemas.openxmlformats.org/drawingml/2006/main">
            <a:pPr algn="l">
              <a:defRPr sz="3150" b="1">
                <a:solidFill>
                  <a:srgbClr val="76D4D7"/>
                </a:solidFill>
                <a:latin typeface="Arial"/>
                <a:ea typeface="Arial"/>
                <a:cs typeface="Arial"/>
              </a:defRPr>
            </a:pPr>
            <a:r>
              <a:rPr sz="3150" b="1">
                <a:solidFill>
                  <a:srgbClr val="76D4D7"/>
                </a:solidFill>
                <a:latin typeface="Arial"/>
                <a:ea typeface="Arial"/>
                <a:cs typeface="Arial"/>
              </a:rPr>
              <a:t>03</a:t>
            </a:r>
          </a:p>
        </p:txBody>
      </p:sp>
      <p:sp>
        <p:nvSpPr>
          <p:cNvPr id="12" name="text">
            <a:extLst xmlns:a="http://schemas.openxmlformats.org/drawingml/2006/main">
              <a:ext uri="{FF2B5EF4-FFF2-40B4-BE49-F238E27FC236}">
                <a16:creationId xmlns:a16="http://schemas.microsoft.com/office/drawing/2014/main" id="{C646ACAC-6BCE-476E-8D17-8F206597C404}"/>
              </a:ext>
            </a:extLst>
          </p:cNvPr>
          <p:cNvSpPr>
            <a:spLocks xmlns:a="http://schemas.openxmlformats.org/drawingml/2006/main" noGrp="1"/>
          </p:cNvSpPr>
          <p:nvPr/>
        </p:nvSpPr>
        <p:spPr>
          <a:xfrm xmlns:a="http://schemas.openxmlformats.org/drawingml/2006/main">
            <a:off x="1409700" y="4191000"/>
            <a:ext cx="423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Arial"/>
                <a:ea typeface="Arial"/>
                <a:cs typeface="Arial"/>
              </a:defRPr>
            </a:defPPr>
          </a:lstStyle>
          <a:p xmlns:a="http://schemas.openxmlformats.org/drawingml/2006/main">
            <a:pPr algn="l">
              <a:defRPr sz="2475" b="1">
                <a:solidFill>
                  <a:srgbClr val="FFFFFF"/>
                </a:solidFill>
                <a:latin typeface="Arial"/>
                <a:ea typeface="Arial"/>
                <a:cs typeface="Arial"/>
              </a:defRPr>
            </a:pPr>
            <a:r>
              <a:rPr sz="2475" b="1">
                <a:solidFill>
                  <a:srgbClr val="FFFFFF"/>
                </a:solidFill>
                <a:latin typeface="Arial"/>
                <a:ea typeface="Arial"/>
                <a:cs typeface="Arial"/>
              </a:rPr>
              <a:t>Generate</a:t>
            </a:r>
          </a:p>
        </p:txBody>
      </p:sp>
      <p:sp>
        <p:nvSpPr>
          <p:cNvPr id="13" name="text">
            <a:extLst xmlns:a="http://schemas.openxmlformats.org/drawingml/2006/main">
              <a:ext uri="{FF2B5EF4-FFF2-40B4-BE49-F238E27FC236}">
                <a16:creationId xmlns:a16="http://schemas.microsoft.com/office/drawing/2014/main" id="{F17F348B-E338-4A11-9F1F-BBAD3047CD05}"/>
              </a:ext>
            </a:extLst>
          </p:cNvPr>
          <p:cNvSpPr>
            <a:spLocks xmlns:a="http://schemas.openxmlformats.org/drawingml/2006/main" noGrp="1"/>
          </p:cNvSpPr>
          <p:nvPr/>
        </p:nvSpPr>
        <p:spPr>
          <a:xfrm xmlns:a="http://schemas.openxmlformats.org/drawingml/2006/main">
            <a:off x="1409700" y="4772025"/>
            <a:ext cx="4238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D4E2EB"/>
                </a:solidFill>
                <a:latin typeface="Arial"/>
                <a:ea typeface="Arial"/>
                <a:cs typeface="Arial"/>
              </a:defRPr>
            </a:defPPr>
          </a:lstStyle>
          <a:p xmlns:a="http://schemas.openxmlformats.org/drawingml/2006/main">
            <a:pPr algn="l">
              <a:defRPr sz="1950" b="0">
                <a:solidFill>
                  <a:srgbClr val="D4E2EB"/>
                </a:solidFill>
                <a:latin typeface="Arial"/>
                <a:ea typeface="Arial"/>
                <a:cs typeface="Arial"/>
              </a:defRPr>
            </a:pPr>
            <a:r>
              <a:rPr sz="1950" b="0">
                <a:solidFill>
                  <a:srgbClr val="D4E2EB"/>
                </a:solidFill>
                <a:latin typeface="Arial"/>
                <a:ea typeface="Arial"/>
                <a:cs typeface="Arial"/>
              </a:rPr>
              <a:t>Recent owned turns and bounded evidence</a:t>
            </a:r>
          </a:p>
        </p:txBody>
      </p:sp>
      <p:sp>
        <p:nvSpPr>
          <p:cNvPr id="14" name="text">
            <a:extLst xmlns:a="http://schemas.openxmlformats.org/drawingml/2006/main">
              <a:ext uri="{FF2B5EF4-FFF2-40B4-BE49-F238E27FC236}">
                <a16:creationId xmlns:a16="http://schemas.microsoft.com/office/drawing/2014/main" id="{FB9F75F3-B36F-4434-99EC-60A37D939CDB}"/>
              </a:ext>
            </a:extLst>
          </p:cNvPr>
          <p:cNvSpPr>
            <a:spLocks xmlns:a="http://schemas.openxmlformats.org/drawingml/2006/main" noGrp="1"/>
          </p:cNvSpPr>
          <p:nvPr/>
        </p:nvSpPr>
        <p:spPr>
          <a:xfrm xmlns:a="http://schemas.openxmlformats.org/drawingml/2006/main">
            <a:off x="6591300" y="4191000"/>
            <a:ext cx="571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76D4D7"/>
                </a:solidFill>
                <a:latin typeface="Arial"/>
                <a:ea typeface="Arial"/>
                <a:cs typeface="Arial"/>
              </a:defRPr>
            </a:defPPr>
          </a:lstStyle>
          <a:p xmlns:a="http://schemas.openxmlformats.org/drawingml/2006/main">
            <a:pPr algn="l">
              <a:defRPr sz="3150" b="1">
                <a:solidFill>
                  <a:srgbClr val="76D4D7"/>
                </a:solidFill>
                <a:latin typeface="Arial"/>
                <a:ea typeface="Arial"/>
                <a:cs typeface="Arial"/>
              </a:defRPr>
            </a:pPr>
            <a:r>
              <a:rPr sz="3150" b="1">
                <a:solidFill>
                  <a:srgbClr val="76D4D7"/>
                </a:solidFill>
                <a:latin typeface="Arial"/>
                <a:ea typeface="Arial"/>
                <a:cs typeface="Arial"/>
              </a:rPr>
              <a:t>04</a:t>
            </a:r>
          </a:p>
        </p:txBody>
      </p:sp>
      <p:sp>
        <p:nvSpPr>
          <p:cNvPr id="15" name="text">
            <a:extLst xmlns:a="http://schemas.openxmlformats.org/drawingml/2006/main">
              <a:ext uri="{FF2B5EF4-FFF2-40B4-BE49-F238E27FC236}">
                <a16:creationId xmlns:a16="http://schemas.microsoft.com/office/drawing/2014/main" id="{F17E1E01-C2FB-418E-BFCD-F372DEECD0C3}"/>
              </a:ext>
            </a:extLst>
          </p:cNvPr>
          <p:cNvSpPr>
            <a:spLocks xmlns:a="http://schemas.openxmlformats.org/drawingml/2006/main" noGrp="1"/>
          </p:cNvSpPr>
          <p:nvPr/>
        </p:nvSpPr>
        <p:spPr>
          <a:xfrm xmlns:a="http://schemas.openxmlformats.org/drawingml/2006/main">
            <a:off x="7372350" y="4191000"/>
            <a:ext cx="423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FFFFFF"/>
                </a:solidFill>
                <a:latin typeface="Arial"/>
                <a:ea typeface="Arial"/>
                <a:cs typeface="Arial"/>
              </a:defRPr>
            </a:defPPr>
          </a:lstStyle>
          <a:p xmlns:a="http://schemas.openxmlformats.org/drawingml/2006/main">
            <a:pPr algn="l">
              <a:defRPr sz="2475" b="1">
                <a:solidFill>
                  <a:srgbClr val="FFFFFF"/>
                </a:solidFill>
                <a:latin typeface="Arial"/>
                <a:ea typeface="Arial"/>
                <a:cs typeface="Arial"/>
              </a:defRPr>
            </a:pPr>
            <a:r>
              <a:rPr sz="2475" b="1">
                <a:solidFill>
                  <a:srgbClr val="FFFFFF"/>
                </a:solidFill>
                <a:latin typeface="Arial"/>
                <a:ea typeface="Arial"/>
                <a:cs typeface="Arial"/>
              </a:rPr>
              <a:t>Respond</a:t>
            </a:r>
          </a:p>
        </p:txBody>
      </p:sp>
      <p:sp>
        <p:nvSpPr>
          <p:cNvPr id="16" name="text">
            <a:extLst xmlns:a="http://schemas.openxmlformats.org/drawingml/2006/main">
              <a:ext uri="{FF2B5EF4-FFF2-40B4-BE49-F238E27FC236}">
                <a16:creationId xmlns:a16="http://schemas.microsoft.com/office/drawing/2014/main" id="{34B7C77D-857A-47A2-9A4C-68A53FDBCBDC}"/>
              </a:ext>
            </a:extLst>
          </p:cNvPr>
          <p:cNvSpPr>
            <a:spLocks xmlns:a="http://schemas.openxmlformats.org/drawingml/2006/main" noGrp="1"/>
          </p:cNvSpPr>
          <p:nvPr/>
        </p:nvSpPr>
        <p:spPr>
          <a:xfrm xmlns:a="http://schemas.openxmlformats.org/drawingml/2006/main">
            <a:off x="7372350" y="4772025"/>
            <a:ext cx="4238625"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D4E2EB"/>
                </a:solidFill>
                <a:latin typeface="Arial"/>
                <a:ea typeface="Arial"/>
                <a:cs typeface="Arial"/>
              </a:defRPr>
            </a:defPPr>
          </a:lstStyle>
          <a:p xmlns:a="http://schemas.openxmlformats.org/drawingml/2006/main">
            <a:pPr algn="l">
              <a:defRPr sz="1950" b="0">
                <a:solidFill>
                  <a:srgbClr val="D4E2EB"/>
                </a:solidFill>
                <a:latin typeface="Arial"/>
                <a:ea typeface="Arial"/>
                <a:cs typeface="Arial"/>
              </a:defRPr>
            </a:pPr>
            <a:r>
              <a:rPr sz="1950" b="0">
                <a:solidFill>
                  <a:srgbClr val="D4E2EB"/>
                </a:solidFill>
                <a:latin typeface="Arial"/>
                <a:ea typeface="Arial"/>
                <a:cs typeface="Arial"/>
              </a:rPr>
              <a:t>Natural answer with validated source links</a:t>
            </a:r>
          </a:p>
        </p:txBody>
      </p:sp>
    </p:spTree>
    <p:extLst>
      <p:ext uri="{BB962C8B-B14F-4D97-AF65-F5344CB8AC3E}">
        <p14:creationId xmlns:p14="http://schemas.microsoft.com/office/powerpoint/2010/main" val="1598953569"/>
      </p:ext>
    </p:extLst>
  </p:cSld>
</p:sld>
</file>

<file path=ppt/slides/slide19.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89EE3342-3266-4BA9-9176-2CA46F70C0C2}"/>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Assistant permissions and privacy</a:t>
            </a:r>
          </a:p>
        </p:txBody>
      </p:sp>
      <p:sp>
        <p:nvSpPr>
          <p:cNvPr id="2" name="footer">
            <a:extLst xmlns:a="http://schemas.openxmlformats.org/drawingml/2006/main">
              <a:ext uri="{FF2B5EF4-FFF2-40B4-BE49-F238E27FC236}">
                <a16:creationId xmlns:a16="http://schemas.microsoft.com/office/drawing/2014/main" id="{E7017D5B-D39B-4D1B-A237-B79BA199B2F3}"/>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935DD16F-939A-4890-9701-506B076F8372}"/>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19</a:t>
            </a:r>
          </a:p>
        </p:txBody>
      </p:sp>
      <p:graphicFrame>
        <p:nvGraphicFramePr>
          <p:cNvPr id="4" name="">
            <a:extLst xmlns:a="http://schemas.openxmlformats.org/drawingml/2006/main">
              <a:ext uri="{FF2B5EF4-FFF2-40B4-BE49-F238E27FC236}">
                <a16:creationId xmlns:a16="http://schemas.microsoft.com/office/drawing/2014/main" id="{F59244BE-6F04-46EB-BBF9-68784B81501E}"/>
              </a:ext>
            </a:extLst>
          </p:cNvPr>
          <p:cNvGraphicFramePr/>
          <p:nvPr/>
        </p:nvGraphicFramePr>
        <p:xfrm>
          <a:off xmlns:a="http://schemas.openxmlformats.org/drawingml/2006/main" x="609600" y="1809750"/>
          <a:ext xmlns:a="http://schemas.openxmlformats.org/drawingml/2006/main" cx="10972800" cy="4000500"/>
        </p:xfrm>
        <a:graphic xmlns:a="http://schemas.openxmlformats.org/drawingml/2006/main">
          <a:graphicData uri="http://schemas.openxmlformats.org/drawingml/2006/table">
            <a:tbl>
              <a:tblPr/>
              <a:tblGrid>
                <a:gridCol w="1905000"/>
                <a:gridCol w="4572000"/>
                <a:gridCol w="4495800"/>
              </a:tblGrid>
              <a:tr h="800100">
                <a:tc>
                  <a:txBody>
                    <a:bodyPr/>
                    <a:lstStyle/>
                    <a:p>
                      <a:r>
                        <a:rPr sz="1800" b="1">
                          <a:solidFill>
                            <a:srgbClr val="FFFFFF"/>
                          </a:solidFill>
                          <a:latin typeface="Arial"/>
                          <a:ea typeface="Arial"/>
                          <a:cs typeface="Arial"/>
                        </a:rPr>
                        <a:t>Caller</a:t>
                      </a:r>
                    </a:p>
                  </a:txBody>
                  <a:tcPr marL="152400" marR="152400" marT="133350" marB="95250" anchor="ctr">
                    <a:lnL w="6191">
                      <a:solidFill>
                        <a:srgbClr val="C9D3DE"/>
                      </a:solidFill>
                      <a:prstDash val="solid"/>
                    </a:lnL>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c>
                  <a:txBody>
                    <a:bodyPr/>
                    <a:lstStyle/>
                    <a:p>
                      <a:r>
                        <a:rPr sz="1800" b="1">
                          <a:solidFill>
                            <a:srgbClr val="FFFFFF"/>
                          </a:solidFill>
                          <a:latin typeface="Arial"/>
                          <a:ea typeface="Arial"/>
                          <a:cs typeface="Arial"/>
                        </a:rPr>
                        <a:t>Permitted evidence</a:t>
                      </a:r>
                    </a:p>
                  </a:txBody>
                  <a:tcPr marL="152400" marR="152400" marT="133350" marB="95250" anchor="ctr">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c>
                  <a:txBody>
                    <a:bodyPr/>
                    <a:lstStyle/>
                    <a:p>
                      <a:r>
                        <a:rPr sz="1800" b="1">
                          <a:solidFill>
                            <a:srgbClr val="FFFFFF"/>
                          </a:solidFill>
                          <a:latin typeface="Arial"/>
                          <a:ea typeface="Arial"/>
                          <a:cs typeface="Arial"/>
                        </a:rPr>
                        <a:t>Excluded information</a:t>
                      </a:r>
                    </a:p>
                  </a:txBody>
                  <a:tcPr marL="152400" marR="152400" marT="133350" marB="95250" anchor="ctr">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r>
              <a:tr h="800100">
                <a:tc>
                  <a:txBody>
                    <a:bodyPr/>
                    <a:lstStyle/>
                    <a:p>
                      <a:r>
                        <a:rPr sz="1800">
                          <a:solidFill>
                            <a:srgbClr val="24374D"/>
                          </a:solidFill>
                          <a:latin typeface="Arial"/>
                          <a:ea typeface="Arial"/>
                          <a:cs typeface="Arial"/>
                        </a:rPr>
                        <a:t>Student</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Own enrollments, notes and grades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Other students and reference keys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800100">
                <a:tc>
                  <a:txBody>
                    <a:bodyPr/>
                    <a:lstStyle/>
                    <a:p>
                      <a:r>
                        <a:rPr sz="1800">
                          <a:solidFill>
                            <a:srgbClr val="24374D"/>
                          </a:solidFill>
                          <a:latin typeface="Arial"/>
                          <a:ea typeface="Arial"/>
                          <a:cs typeface="Arial"/>
                        </a:rPr>
                        <a:t>Instructor</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800">
                          <a:solidFill>
                            <a:srgbClr val="24374D"/>
                          </a:solidFill>
                          <a:latin typeface="Arial"/>
                          <a:ea typeface="Arial"/>
                          <a:cs typeface="Arial"/>
                        </a:rPr>
                        <a:t>Owned course summaries</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c>
                  <a:txBody>
                    <a:bodyPr/>
                    <a:lstStyle/>
                    <a:p>
                      <a:r>
                        <a:rPr sz="1800">
                          <a:solidFill>
                            <a:srgbClr val="24374D"/>
                          </a:solidFill>
                          <a:latin typeface="Arial"/>
                          <a:ea typeface="Arial"/>
                          <a:cs typeface="Arial"/>
                        </a:rPr>
                        <a:t>Other instructors and private notes</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r h="800100">
                <a:tc>
                  <a:txBody>
                    <a:bodyPr/>
                    <a:lstStyle/>
                    <a:p>
                      <a:r>
                        <a:rPr sz="1800">
                          <a:solidFill>
                            <a:srgbClr val="24374D"/>
                          </a:solidFill>
                          <a:latin typeface="Arial"/>
                          <a:ea typeface="Arial"/>
                          <a:cs typeface="Arial"/>
                        </a:rPr>
                        <a:t>Admin</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Admin workflows and totals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Secrets and answer keys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800100">
                <a:tc>
                  <a:txBody>
                    <a:bodyPr/>
                    <a:lstStyle/>
                    <a:p>
                      <a:r>
                        <a:rPr sz="1800">
                          <a:solidFill>
                            <a:srgbClr val="24374D"/>
                          </a:solidFill>
                          <a:latin typeface="Arial"/>
                          <a:ea typeface="Arial"/>
                          <a:cs typeface="Arial"/>
                        </a:rPr>
                        <a:t>Anonymous</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800">
                          <a:solidFill>
                            <a:srgbClr val="24374D"/>
                          </a:solidFill>
                          <a:latin typeface="Arial"/>
                          <a:ea typeface="Arial"/>
                          <a:cs typeface="Arial"/>
                        </a:rPr>
                        <a:t>No private assistant access</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c>
                  <a:txBody>
                    <a:bodyPr/>
                    <a:lstStyle/>
                    <a:p>
                      <a:r>
                        <a:rPr sz="1800">
                          <a:solidFill>
                            <a:srgbClr val="24374D"/>
                          </a:solidFill>
                          <a:latin typeface="Arial"/>
                          <a:ea typeface="Arial"/>
                          <a:cs typeface="Arial"/>
                        </a:rPr>
                        <a:t>All private context</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bl>
          </a:graphicData>
        </a:graphic>
      </p:graphicFrame>
      <p:sp>
        <p:nvSpPr>
          <p:cNvPr id="5" name="text">
            <a:extLst xmlns:a="http://schemas.openxmlformats.org/drawingml/2006/main">
              <a:ext uri="{FF2B5EF4-FFF2-40B4-BE49-F238E27FC236}">
                <a16:creationId xmlns:a16="http://schemas.microsoft.com/office/drawing/2014/main" id="{DA04C279-A372-4F3D-9014-26956AAE6694}"/>
              </a:ext>
            </a:extLst>
          </p:cNvPr>
          <p:cNvSpPr>
            <a:spLocks xmlns:a="http://schemas.openxmlformats.org/drawingml/2006/main" noGrp="1"/>
          </p:cNvSpPr>
          <p:nvPr/>
        </p:nvSpPr>
        <p:spPr>
          <a:xfrm xmlns:a="http://schemas.openxmlformats.org/drawingml/2006/main">
            <a:off x="628650" y="5953125"/>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F8C"/>
                </a:solidFill>
                <a:latin typeface="Arial"/>
                <a:ea typeface="Arial"/>
                <a:cs typeface="Arial"/>
              </a:defRPr>
            </a:defPPr>
          </a:lstStyle>
          <a:p xmlns:a="http://schemas.openxmlformats.org/drawingml/2006/main">
            <a:pPr algn="l">
              <a:defRPr sz="1875" b="1">
                <a:solidFill>
                  <a:srgbClr val="087F8C"/>
                </a:solidFill>
                <a:latin typeface="Arial"/>
                <a:ea typeface="Arial"/>
                <a:cs typeface="Arial"/>
              </a:defRPr>
            </a:pPr>
            <a:r>
              <a:rPr sz="1875" b="1">
                <a:solidFill>
                  <a:srgbClr val="087F8C"/>
                </a:solidFill>
                <a:latin typeface="Arial"/>
                <a:ea typeface="Arial"/>
                <a:cs typeface="Arial"/>
              </a:rPr>
              <a:t>Database predicates enforce access before the model sees any evidence.</a:t>
            </a:r>
          </a:p>
        </p:txBody>
      </p:sp>
    </p:spTree>
    <p:extLst>
      <p:ext uri="{BB962C8B-B14F-4D97-AF65-F5344CB8AC3E}">
        <p14:creationId xmlns:p14="http://schemas.microsoft.com/office/powerpoint/2010/main" val="1679836153"/>
      </p:ext>
    </p:extLst>
  </p:cSld>
</p:sld>
</file>

<file path=ppt/slides/slide20.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278D8D57-019E-4195-9FD4-F99A296A44B1}"/>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Security and reliability controls</a:t>
            </a:r>
          </a:p>
        </p:txBody>
      </p:sp>
      <p:sp>
        <p:nvSpPr>
          <p:cNvPr id="2" name="footer">
            <a:extLst xmlns:a="http://schemas.openxmlformats.org/drawingml/2006/main">
              <a:ext uri="{FF2B5EF4-FFF2-40B4-BE49-F238E27FC236}">
                <a16:creationId xmlns:a16="http://schemas.microsoft.com/office/drawing/2014/main" id="{A92A0D5F-ED52-49AC-B26D-738A6C571496}"/>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E3C291B7-A372-40F6-AD4E-D9F309507697}"/>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20</a:t>
            </a:r>
          </a:p>
        </p:txBody>
      </p:sp>
      <p:sp>
        <p:nvSpPr>
          <p:cNvPr id="4" name="text">
            <a:extLst xmlns:a="http://schemas.openxmlformats.org/drawingml/2006/main">
              <a:ext uri="{FF2B5EF4-FFF2-40B4-BE49-F238E27FC236}">
                <a16:creationId xmlns:a16="http://schemas.microsoft.com/office/drawing/2014/main" id="{B8F756DD-0CC3-4ECB-8DCE-BB963330AA00}"/>
              </a:ext>
            </a:extLst>
          </p:cNvPr>
          <p:cNvSpPr>
            <a:spLocks xmlns:a="http://schemas.openxmlformats.org/drawingml/2006/main" noGrp="1"/>
          </p:cNvSpPr>
          <p:nvPr/>
        </p:nvSpPr>
        <p:spPr>
          <a:xfrm xmlns:a="http://schemas.openxmlformats.org/drawingml/2006/main">
            <a:off x="628650" y="18573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Identity and sessions</a:t>
            </a:r>
          </a:p>
        </p:txBody>
      </p:sp>
      <p:sp>
        <p:nvSpPr>
          <p:cNvPr id="5" name="text">
            <a:extLst xmlns:a="http://schemas.openxmlformats.org/drawingml/2006/main">
              <a:ext uri="{FF2B5EF4-FFF2-40B4-BE49-F238E27FC236}">
                <a16:creationId xmlns:a16="http://schemas.microsoft.com/office/drawing/2014/main" id="{B9EEFAB8-54B3-4D71-8BE5-575F169E4C1F}"/>
              </a:ext>
            </a:extLst>
          </p:cNvPr>
          <p:cNvSpPr>
            <a:spLocks xmlns:a="http://schemas.openxmlformats.org/drawingml/2006/main" noGrp="1"/>
          </p:cNvSpPr>
          <p:nvPr/>
        </p:nvSpPr>
        <p:spPr>
          <a:xfrm xmlns:a="http://schemas.openxmlformats.org/drawingml/2006/main">
            <a:off x="628650" y="23241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Private reset tokens and session revocation after password reset.</a:t>
            </a:r>
          </a:p>
        </p:txBody>
      </p:sp>
      <p:sp>
        <p:nvSpPr>
          <p:cNvPr id="6" name="text">
            <a:extLst xmlns:a="http://schemas.openxmlformats.org/drawingml/2006/main">
              <a:ext uri="{FF2B5EF4-FFF2-40B4-BE49-F238E27FC236}">
                <a16:creationId xmlns:a16="http://schemas.microsoft.com/office/drawing/2014/main" id="{CF52FB78-338B-40F5-8F08-BAD9B2E613DC}"/>
              </a:ext>
            </a:extLst>
          </p:cNvPr>
          <p:cNvSpPr>
            <a:spLocks xmlns:a="http://schemas.openxmlformats.org/drawingml/2006/main" noGrp="1"/>
          </p:cNvSpPr>
          <p:nvPr/>
        </p:nvSpPr>
        <p:spPr>
          <a:xfrm xmlns:a="http://schemas.openxmlformats.org/drawingml/2006/main">
            <a:off x="6572250" y="18573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Record permissions</a:t>
            </a:r>
          </a:p>
        </p:txBody>
      </p:sp>
      <p:sp>
        <p:nvSpPr>
          <p:cNvPr id="7" name="text">
            <a:extLst xmlns:a="http://schemas.openxmlformats.org/drawingml/2006/main">
              <a:ext uri="{FF2B5EF4-FFF2-40B4-BE49-F238E27FC236}">
                <a16:creationId xmlns:a16="http://schemas.microsoft.com/office/drawing/2014/main" id="{BC2C8B4F-C7E0-443F-B47F-5374BFDD7EB7}"/>
              </a:ext>
            </a:extLst>
          </p:cNvPr>
          <p:cNvSpPr>
            <a:spLocks xmlns:a="http://schemas.openxmlformats.org/drawingml/2006/main" noGrp="1"/>
          </p:cNvSpPr>
          <p:nvPr/>
        </p:nvSpPr>
        <p:spPr>
          <a:xfrm xmlns:a="http://schemas.openxmlformats.org/drawingml/2006/main">
            <a:off x="6572250" y="23241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Current role, ownership, enrollment and course status checks.</a:t>
            </a:r>
          </a:p>
        </p:txBody>
      </p:sp>
      <p:sp>
        <p:nvSpPr>
          <p:cNvPr id="8" name="text">
            <a:extLst xmlns:a="http://schemas.openxmlformats.org/drawingml/2006/main">
              <a:ext uri="{FF2B5EF4-FFF2-40B4-BE49-F238E27FC236}">
                <a16:creationId xmlns:a16="http://schemas.microsoft.com/office/drawing/2014/main" id="{079A4882-9A68-437D-9544-0D02DFC9BB0B}"/>
              </a:ext>
            </a:extLst>
          </p:cNvPr>
          <p:cNvSpPr>
            <a:spLocks xmlns:a="http://schemas.openxmlformats.org/drawingml/2006/main" noGrp="1"/>
          </p:cNvSpPr>
          <p:nvPr/>
        </p:nvSpPr>
        <p:spPr>
          <a:xfrm xmlns:a="http://schemas.openxmlformats.org/drawingml/2006/main">
            <a:off x="628650" y="37338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Validated operations</a:t>
            </a:r>
          </a:p>
        </p:txBody>
      </p:sp>
      <p:sp>
        <p:nvSpPr>
          <p:cNvPr id="9" name="text">
            <a:extLst xmlns:a="http://schemas.openxmlformats.org/drawingml/2006/main">
              <a:ext uri="{FF2B5EF4-FFF2-40B4-BE49-F238E27FC236}">
                <a16:creationId xmlns:a16="http://schemas.microsoft.com/office/drawing/2014/main" id="{90BED791-570F-447A-948D-707D7A17D885}"/>
              </a:ext>
            </a:extLst>
          </p:cNvPr>
          <p:cNvSpPr>
            <a:spLocks xmlns:a="http://schemas.openxmlformats.org/drawingml/2006/main" noGrp="1"/>
          </p:cNvSpPr>
          <p:nvPr/>
        </p:nvSpPr>
        <p:spPr>
          <a:xfrm xmlns:a="http://schemas.openxmlformats.org/drawingml/2006/main">
            <a:off x="628650" y="42005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Allowed fields, numeric ranges, deadlines and persistent attempts.</a:t>
            </a:r>
          </a:p>
        </p:txBody>
      </p:sp>
      <p:sp>
        <p:nvSpPr>
          <p:cNvPr id="10" name="text">
            <a:extLst xmlns:a="http://schemas.openxmlformats.org/drawingml/2006/main">
              <a:ext uri="{FF2B5EF4-FFF2-40B4-BE49-F238E27FC236}">
                <a16:creationId xmlns:a16="http://schemas.microsoft.com/office/drawing/2014/main" id="{36565D54-80D3-428A-A41D-AABF86BCE21D}"/>
              </a:ext>
            </a:extLst>
          </p:cNvPr>
          <p:cNvSpPr>
            <a:spLocks xmlns:a="http://schemas.openxmlformats.org/drawingml/2006/main" noGrp="1"/>
          </p:cNvSpPr>
          <p:nvPr/>
        </p:nvSpPr>
        <p:spPr>
          <a:xfrm xmlns:a="http://schemas.openxmlformats.org/drawingml/2006/main">
            <a:off x="6572250" y="37338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Bounded processing</a:t>
            </a:r>
          </a:p>
        </p:txBody>
      </p:sp>
      <p:sp>
        <p:nvSpPr>
          <p:cNvPr id="11" name="text">
            <a:extLst xmlns:a="http://schemas.openxmlformats.org/drawingml/2006/main">
              <a:ext uri="{FF2B5EF4-FFF2-40B4-BE49-F238E27FC236}">
                <a16:creationId xmlns:a16="http://schemas.microsoft.com/office/drawing/2014/main" id="{5F060A4B-048E-44EF-BE6C-F6009613C215}"/>
              </a:ext>
            </a:extLst>
          </p:cNvPr>
          <p:cNvSpPr>
            <a:spLocks xmlns:a="http://schemas.openxmlformats.org/drawingml/2006/main" noGrp="1"/>
          </p:cNvSpPr>
          <p:nvPr/>
        </p:nvSpPr>
        <p:spPr>
          <a:xfrm xmlns:a="http://schemas.openxmlformats.org/drawingml/2006/main">
            <a:off x="6572250" y="42005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Request quotas, provider timeouts and clear failure handling.</a:t>
            </a:r>
          </a:p>
        </p:txBody>
      </p:sp>
      <p:sp>
        <p:nvSpPr>
          <p:cNvPr id="12" name="text">
            <a:extLst xmlns:a="http://schemas.openxmlformats.org/drawingml/2006/main">
              <a:ext uri="{FF2B5EF4-FFF2-40B4-BE49-F238E27FC236}">
                <a16:creationId xmlns:a16="http://schemas.microsoft.com/office/drawing/2014/main" id="{8077FDC6-E49E-43E0-8E9D-16A5F67432A3}"/>
              </a:ext>
            </a:extLst>
          </p:cNvPr>
          <p:cNvSpPr>
            <a:spLocks xmlns:a="http://schemas.openxmlformats.org/drawingml/2006/main" noGrp="1"/>
          </p:cNvSpPr>
          <p:nvPr/>
        </p:nvSpPr>
        <p:spPr>
          <a:xfrm xmlns:a="http://schemas.openxmlformats.org/drawingml/2006/main">
            <a:off x="628650" y="58864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87F8C"/>
                </a:solidFill>
                <a:latin typeface="Arial"/>
                <a:ea typeface="Arial"/>
                <a:cs typeface="Arial"/>
              </a:defRPr>
            </a:defPPr>
          </a:lstStyle>
          <a:p xmlns:a="http://schemas.openxmlformats.org/drawingml/2006/main">
            <a:pPr algn="l">
              <a:defRPr sz="1950" b="1">
                <a:solidFill>
                  <a:srgbClr val="087F8C"/>
                </a:solidFill>
                <a:latin typeface="Arial"/>
                <a:ea typeface="Arial"/>
                <a:cs typeface="Arial"/>
              </a:defRPr>
            </a:pPr>
            <a:r>
              <a:rPr sz="1950" b="1">
                <a:solidFill>
                  <a:srgbClr val="087F8C"/>
                </a:solidFill>
                <a:latin typeface="Arial"/>
                <a:ea typeface="Arial"/>
                <a:cs typeface="Arial"/>
              </a:rPr>
              <a:t>No public seed endpoint and no browser-visible provider keys.</a:t>
            </a:r>
          </a:p>
        </p:txBody>
      </p:sp>
    </p:spTree>
    <p:extLst>
      <p:ext uri="{BB962C8B-B14F-4D97-AF65-F5344CB8AC3E}">
        <p14:creationId xmlns:p14="http://schemas.microsoft.com/office/powerpoint/2010/main" val="503954250"/>
      </p:ext>
    </p:extLst>
  </p:cSld>
</p:sld>
</file>

<file path=ppt/slides/slide21.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0" name="slide-title">
            <a:extLst xmlns:a="http://schemas.openxmlformats.org/drawingml/2006/main">
              <a:ext uri="{FF2B5EF4-FFF2-40B4-BE49-F238E27FC236}">
                <a16:creationId xmlns:a16="http://schemas.microsoft.com/office/drawing/2014/main" id="{A836C5BC-5122-4F17-8A91-8D003FF7521B}"/>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Performance improvements</a:t>
            </a:r>
          </a:p>
        </p:txBody>
      </p:sp>
      <p:sp>
        <p:nvSpPr>
          <p:cNvPr id="2" name="footer">
            <a:extLst xmlns:a="http://schemas.openxmlformats.org/drawingml/2006/main">
              <a:ext uri="{FF2B5EF4-FFF2-40B4-BE49-F238E27FC236}">
                <a16:creationId xmlns:a16="http://schemas.microsoft.com/office/drawing/2014/main" id="{85ACBEED-B429-4E83-985E-E4302FB5E54F}"/>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FDDCFC27-9031-484E-9CCB-64B2BCA65509}"/>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21</a:t>
            </a:r>
          </a:p>
        </p:txBody>
      </p:sp>
      <p:graphicFrame>
        <p:nvGraphicFramePr>
          <p:cNvPr id="4" name="Chart">
            <a:extLst xmlns:a="http://schemas.openxmlformats.org/drawingml/2006/main">
              <a:ext uri="{FF2B5EF4-FFF2-40B4-BE49-F238E27FC236}">
                <a16:creationId xmlns:a16="http://schemas.microsoft.com/office/drawing/2014/main" id="{27B7BFB5-8296-4889-BFD5-1E7ED8E58B19}"/>
              </a:ext>
            </a:extLst>
          </p:cNvPr>
          <p:cNvGraphicFramePr/>
          <p:nvPr/>
        </p:nvGraphicFramePr>
        <p:xfrm>
          <a:off xmlns:a="http://schemas.openxmlformats.org/drawingml/2006/main" x="609600" y="1847850"/>
          <a:ext xmlns:a="http://schemas.openxmlformats.org/drawingml/2006/main" cx="7086600" cy="3676650"/>
        </p:xfrm>
        <a:graphic xmlns:a="http://schemas.openxmlformats.org/drawingml/2006/main">
          <a:graphicData uri="http://schemas.openxmlformats.org/drawingml/2006/chart">
            <c:chart xmlns:r="http://schemas.openxmlformats.org/officeDocument/2006/relationships" xmlns:c="http://schemas.openxmlformats.org/drawingml/2006/chart" r:id="R679c35c344a449e0"/>
          </a:graphicData>
        </a:graphic>
      </p:graphicFrame>
      <p:sp>
        <p:nvSpPr>
          <p:cNvPr id="5" name="text">
            <a:extLst xmlns:a="http://schemas.openxmlformats.org/drawingml/2006/main">
              <a:ext uri="{FF2B5EF4-FFF2-40B4-BE49-F238E27FC236}">
                <a16:creationId xmlns:a16="http://schemas.microsoft.com/office/drawing/2014/main" id="{EE5B5947-54AF-430A-857F-6B3C2C83B1AB}"/>
              </a:ext>
            </a:extLst>
          </p:cNvPr>
          <p:cNvSpPr>
            <a:spLocks xmlns:a="http://schemas.openxmlformats.org/drawingml/2006/main" noGrp="1"/>
          </p:cNvSpPr>
          <p:nvPr/>
        </p:nvSpPr>
        <p:spPr>
          <a:xfrm xmlns:a="http://schemas.openxmlformats.org/drawingml/2006/main">
            <a:off x="8210550" y="2066925"/>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Less startup work</a:t>
            </a:r>
          </a:p>
        </p:txBody>
      </p:sp>
      <p:sp>
        <p:nvSpPr>
          <p:cNvPr id="6" name="text">
            <a:extLst xmlns:a="http://schemas.openxmlformats.org/drawingml/2006/main">
              <a:ext uri="{FF2B5EF4-FFF2-40B4-BE49-F238E27FC236}">
                <a16:creationId xmlns:a16="http://schemas.microsoft.com/office/drawing/2014/main" id="{07178A45-6299-4638-86AB-40A9725B50B1}"/>
              </a:ext>
            </a:extLst>
          </p:cNvPr>
          <p:cNvSpPr>
            <a:spLocks xmlns:a="http://schemas.openxmlformats.org/drawingml/2006/main" noGrp="1"/>
          </p:cNvSpPr>
          <p:nvPr/>
        </p:nvSpPr>
        <p:spPr>
          <a:xfrm xmlns:a="http://schemas.openxmlformats.org/drawingml/2006/main">
            <a:off x="8210550" y="2533650"/>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4374D"/>
                </a:solidFill>
                <a:latin typeface="Arial"/>
                <a:ea typeface="Arial"/>
                <a:cs typeface="Arial"/>
              </a:defRPr>
            </a:defPPr>
          </a:lstStyle>
          <a:p xmlns:a="http://schemas.openxmlformats.org/drawingml/2006/main">
            <a:pPr algn="l">
              <a:defRPr sz="1800" b="0">
                <a:solidFill>
                  <a:srgbClr val="24374D"/>
                </a:solidFill>
                <a:latin typeface="Arial"/>
                <a:ea typeface="Arial"/>
                <a:cs typeface="Arial"/>
              </a:defRPr>
            </a:pPr>
            <a:r>
              <a:rPr sz="1800" b="0">
                <a:solidFill>
                  <a:srgbClr val="24374D"/>
                </a:solidFill>
                <a:latin typeface="Arial"/>
                <a:ea typeface="Arial"/>
                <a:cs typeface="Arial"/>
              </a:rPr>
              <a:t>Lazy tools and fewer global animations.</a:t>
            </a:r>
          </a:p>
        </p:txBody>
      </p:sp>
      <p:sp>
        <p:nvSpPr>
          <p:cNvPr id="7" name="text">
            <a:extLst xmlns:a="http://schemas.openxmlformats.org/drawingml/2006/main">
              <a:ext uri="{FF2B5EF4-FFF2-40B4-BE49-F238E27FC236}">
                <a16:creationId xmlns:a16="http://schemas.microsoft.com/office/drawing/2014/main" id="{B200518A-3E9A-4B77-96BC-C38B35652BF5}"/>
              </a:ext>
            </a:extLst>
          </p:cNvPr>
          <p:cNvSpPr>
            <a:spLocks xmlns:a="http://schemas.openxmlformats.org/drawingml/2006/main" noGrp="1"/>
          </p:cNvSpPr>
          <p:nvPr/>
        </p:nvSpPr>
        <p:spPr>
          <a:xfrm xmlns:a="http://schemas.openxmlformats.org/drawingml/2006/main">
            <a:off x="8210550" y="3943350"/>
            <a:ext cx="3333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Bounded data requests</a:t>
            </a:r>
          </a:p>
        </p:txBody>
      </p:sp>
      <p:sp>
        <p:nvSpPr>
          <p:cNvPr id="8" name="text">
            <a:extLst xmlns:a="http://schemas.openxmlformats.org/drawingml/2006/main">
              <a:ext uri="{FF2B5EF4-FFF2-40B4-BE49-F238E27FC236}">
                <a16:creationId xmlns:a16="http://schemas.microsoft.com/office/drawing/2014/main" id="{E37B5F85-7C77-4C4C-8182-97E48022608D}"/>
              </a:ext>
            </a:extLst>
          </p:cNvPr>
          <p:cNvSpPr>
            <a:spLocks xmlns:a="http://schemas.openxmlformats.org/drawingml/2006/main" noGrp="1"/>
          </p:cNvSpPr>
          <p:nvPr/>
        </p:nvSpPr>
        <p:spPr>
          <a:xfrm xmlns:a="http://schemas.openxmlformats.org/drawingml/2006/main">
            <a:off x="8210550" y="4410075"/>
            <a:ext cx="333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24374D"/>
                </a:solidFill>
                <a:latin typeface="Arial"/>
                <a:ea typeface="Arial"/>
                <a:cs typeface="Arial"/>
              </a:defRPr>
            </a:defPPr>
          </a:lstStyle>
          <a:p xmlns:a="http://schemas.openxmlformats.org/drawingml/2006/main">
            <a:pPr algn="l">
              <a:defRPr sz="1800" b="0">
                <a:solidFill>
                  <a:srgbClr val="24374D"/>
                </a:solidFill>
                <a:latin typeface="Arial"/>
                <a:ea typeface="Arial"/>
                <a:cs typeface="Arial"/>
              </a:defRPr>
            </a:pPr>
            <a:r>
              <a:rPr sz="1800" b="0">
                <a:solidFill>
                  <a:srgbClr val="24374D"/>
                </a:solidFill>
                <a:latin typeface="Arial"/>
                <a:ea typeface="Arial"/>
                <a:cs typeface="Arial"/>
              </a:rPr>
              <a:t>One student summary endpoint with ownership indexes.</a:t>
            </a:r>
          </a:p>
        </p:txBody>
      </p:sp>
      <p:sp>
        <p:nvSpPr>
          <p:cNvPr id="9" name="text">
            <a:extLst xmlns:a="http://schemas.openxmlformats.org/drawingml/2006/main">
              <a:ext uri="{FF2B5EF4-FFF2-40B4-BE49-F238E27FC236}">
                <a16:creationId xmlns:a16="http://schemas.microsoft.com/office/drawing/2014/main" id="{F2447C0B-9711-48F6-A4C1-7AAFFE2C39E8}"/>
              </a:ext>
            </a:extLst>
          </p:cNvPr>
          <p:cNvSpPr>
            <a:spLocks xmlns:a="http://schemas.openxmlformats.org/drawingml/2006/main" noGrp="1"/>
          </p:cNvSpPr>
          <p:nvPr/>
        </p:nvSpPr>
        <p:spPr>
          <a:xfrm xmlns:a="http://schemas.openxmlformats.org/drawingml/2006/main">
            <a:off x="628650" y="5934075"/>
            <a:ext cx="1090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26579"/>
                </a:solidFill>
                <a:latin typeface="Arial"/>
                <a:ea typeface="Arial"/>
                <a:cs typeface="Arial"/>
              </a:defRPr>
            </a:defPPr>
          </a:lstStyle>
          <a:p xmlns:a="http://schemas.openxmlformats.org/drawingml/2006/main">
            <a:pPr algn="l">
              <a:defRPr sz="1350" b="0">
                <a:solidFill>
                  <a:srgbClr val="526579"/>
                </a:solidFill>
                <a:latin typeface="Arial"/>
                <a:ea typeface="Arial"/>
                <a:cs typeface="Arial"/>
              </a:defRPr>
            </a:pPr>
            <a:r>
              <a:rPr sz="1350" b="0">
                <a:solidFill>
                  <a:srgbClr val="526579"/>
                </a:solidFill>
                <a:latin typeface="Arial"/>
                <a:ea typeface="Arial"/>
                <a:cs typeface="Arial"/>
              </a:rPr>
              <a:t>Local snapshot, 15 October 2026. Counts uncompressed HTML-referenced assets, not end-user loading time.</a:t>
            </a:r>
          </a:p>
        </p:txBody>
      </p:sp>
    </p:spTree>
    <p:extLst>
      <p:ext uri="{BB962C8B-B14F-4D97-AF65-F5344CB8AC3E}">
        <p14:creationId xmlns:p14="http://schemas.microsoft.com/office/powerpoint/2010/main" val="1680526139"/>
      </p:ext>
    </p:extLst>
  </p:cSld>
</p:sld>
</file>

<file path=ppt/slides/slide22.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68CF5F31-32FA-4886-AFF2-B0F8A894A1C0}"/>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Testing and QA results</a:t>
            </a:r>
          </a:p>
        </p:txBody>
      </p:sp>
      <p:sp>
        <p:nvSpPr>
          <p:cNvPr id="2" name="footer">
            <a:extLst xmlns:a="http://schemas.openxmlformats.org/drawingml/2006/main">
              <a:ext uri="{FF2B5EF4-FFF2-40B4-BE49-F238E27FC236}">
                <a16:creationId xmlns:a16="http://schemas.microsoft.com/office/drawing/2014/main" id="{D5A218DB-8410-4D55-8244-0772217CB4D2}"/>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53FBEBE4-9870-4308-BA50-2B75E12F5805}"/>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22</a:t>
            </a:r>
          </a:p>
        </p:txBody>
      </p:sp>
      <p:graphicFrame>
        <p:nvGraphicFramePr>
          <p:cNvPr id="4" name="">
            <a:extLst xmlns:a="http://schemas.openxmlformats.org/drawingml/2006/main">
              <a:ext uri="{FF2B5EF4-FFF2-40B4-BE49-F238E27FC236}">
                <a16:creationId xmlns:a16="http://schemas.microsoft.com/office/drawing/2014/main" id="{1EB5803A-FE21-46E8-8957-778B15AEEB91}"/>
              </a:ext>
            </a:extLst>
          </p:cNvPr>
          <p:cNvGraphicFramePr/>
          <p:nvPr/>
        </p:nvGraphicFramePr>
        <p:xfrm>
          <a:off xmlns:a="http://schemas.openxmlformats.org/drawingml/2006/main" x="609600" y="1809750"/>
          <a:ext xmlns:a="http://schemas.openxmlformats.org/drawingml/2006/main" cx="10972800" cy="4171950"/>
        </p:xfrm>
        <a:graphic xmlns:a="http://schemas.openxmlformats.org/drawingml/2006/main">
          <a:graphicData uri="http://schemas.openxmlformats.org/drawingml/2006/table">
            <a:tbl>
              <a:tblPr/>
              <a:tblGrid>
                <a:gridCol w="3905250"/>
                <a:gridCol w="7067550"/>
              </a:tblGrid>
              <a:tr h="695325">
                <a:tc>
                  <a:txBody>
                    <a:bodyPr/>
                    <a:lstStyle/>
                    <a:p>
                      <a:r>
                        <a:rPr sz="1800" b="1">
                          <a:solidFill>
                            <a:srgbClr val="FFFFFF"/>
                          </a:solidFill>
                          <a:latin typeface="Arial"/>
                          <a:ea typeface="Arial"/>
                          <a:cs typeface="Arial"/>
                        </a:rPr>
                        <a:t>Verification area</a:t>
                      </a:r>
                    </a:p>
                  </a:txBody>
                  <a:tcPr marL="152400" marR="152400" marT="133350" marB="95250" anchor="ctr">
                    <a:lnL w="6191">
                      <a:solidFill>
                        <a:srgbClr val="C9D3DE"/>
                      </a:solidFill>
                      <a:prstDash val="solid"/>
                    </a:lnL>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c>
                  <a:txBody>
                    <a:bodyPr/>
                    <a:lstStyle/>
                    <a:p>
                      <a:r>
                        <a:rPr sz="1800" b="1">
                          <a:solidFill>
                            <a:srgbClr val="FFFFFF"/>
                          </a:solidFill>
                          <a:latin typeface="Arial"/>
                          <a:ea typeface="Arial"/>
                          <a:cs typeface="Arial"/>
                        </a:rPr>
                        <a:t>Recorded result</a:t>
                      </a:r>
                    </a:p>
                  </a:txBody>
                  <a:tcPr marL="152400" marR="152400" marT="133350" marB="95250" anchor="ctr">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r>
              <a:tr h="695325">
                <a:tc>
                  <a:txBody>
                    <a:bodyPr/>
                    <a:lstStyle/>
                    <a:p>
                      <a:r>
                        <a:rPr sz="1800">
                          <a:solidFill>
                            <a:srgbClr val="24374D"/>
                          </a:solidFill>
                          <a:latin typeface="Arial"/>
                          <a:ea typeface="Arial"/>
                          <a:cs typeface="Arial"/>
                        </a:rPr>
                        <a:t>Backend regression</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115 passed, 0 failed, 0 skipped</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695325">
                <a:tc>
                  <a:txBody>
                    <a:bodyPr/>
                    <a:lstStyle/>
                    <a:p>
                      <a:r>
                        <a:rPr sz="1800">
                          <a:solidFill>
                            <a:srgbClr val="24374D"/>
                          </a:solidFill>
                          <a:latin typeface="Arial"/>
                          <a:ea typeface="Arial"/>
                          <a:cs typeface="Arial"/>
                        </a:rPr>
                        <a:t>Browser workflows</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800">
                          <a:solidFill>
                            <a:srgbClr val="24374D"/>
                          </a:solidFill>
                          <a:latin typeface="Arial"/>
                          <a:ea typeface="Arial"/>
                          <a:cs typeface="Arial"/>
                        </a:rPr>
                        <a:t>19 recorded checks</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r h="695325">
                <a:tc>
                  <a:txBody>
                    <a:bodyPr/>
                    <a:lstStyle/>
                    <a:p>
                      <a:r>
                        <a:rPr sz="1800">
                          <a:solidFill>
                            <a:srgbClr val="24374D"/>
                          </a:solidFill>
                          <a:latin typeface="Arial"/>
                          <a:ea typeface="Arial"/>
                          <a:cs typeface="Arial"/>
                        </a:rPr>
                        <a:t>Static and build checks</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Strict lint, TypeScript and production build passed</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695325">
                <a:tc>
                  <a:txBody>
                    <a:bodyPr/>
                    <a:lstStyle/>
                    <a:p>
                      <a:r>
                        <a:rPr sz="1800">
                          <a:solidFill>
                            <a:srgbClr val="24374D"/>
                          </a:solidFill>
                          <a:latin typeface="Arial"/>
                          <a:ea typeface="Arial"/>
                          <a:cs typeface="Arial"/>
                        </a:rPr>
                        <a:t>Dependency audit</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800">
                          <a:solidFill>
                            <a:srgbClr val="24374D"/>
                          </a:solidFill>
                          <a:latin typeface="Arial"/>
                          <a:ea typeface="Arial"/>
                          <a:cs typeface="Arial"/>
                        </a:rPr>
                        <a:t>0 advisories in both package snapshots</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r h="695325">
                <a:tc>
                  <a:txBody>
                    <a:bodyPr/>
                    <a:lstStyle/>
                    <a:p>
                      <a:r>
                        <a:rPr sz="1800">
                          <a:solidFill>
                            <a:srgbClr val="24374D"/>
                          </a:solidFill>
                          <a:latin typeface="Arial"/>
                          <a:ea typeface="Arial"/>
                          <a:cs typeface="Arial"/>
                        </a:rPr>
                        <a:t>Containers</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800">
                          <a:solidFill>
                            <a:srgbClr val="24374D"/>
                          </a:solidFill>
                          <a:latin typeface="Arial"/>
                          <a:ea typeface="Arial"/>
                          <a:cs typeface="Arial"/>
                        </a:rPr>
                        <a:t>Build, non-root startup and health checks passed</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bl>
          </a:graphicData>
        </a:graphic>
      </p:graphicFrame>
      <p:sp>
        <p:nvSpPr>
          <p:cNvPr id="5" name="text">
            <a:extLst xmlns:a="http://schemas.openxmlformats.org/drawingml/2006/main">
              <a:ext uri="{FF2B5EF4-FFF2-40B4-BE49-F238E27FC236}">
                <a16:creationId xmlns:a16="http://schemas.microsoft.com/office/drawing/2014/main" id="{45362521-3A9D-4CCB-9AFB-DDE836DF5B26}"/>
              </a:ext>
            </a:extLst>
          </p:cNvPr>
          <p:cNvSpPr>
            <a:spLocks xmlns:a="http://schemas.openxmlformats.org/drawingml/2006/main" noGrp="1"/>
          </p:cNvSpPr>
          <p:nvPr/>
        </p:nvSpPr>
        <p:spPr>
          <a:xfrm xmlns:a="http://schemas.openxmlformats.org/drawingml/2006/main">
            <a:off x="628650" y="60483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579"/>
                </a:solidFill>
                <a:latin typeface="Arial"/>
                <a:ea typeface="Arial"/>
                <a:cs typeface="Arial"/>
              </a:defRPr>
            </a:defPPr>
          </a:lstStyle>
          <a:p xmlns:a="http://schemas.openxmlformats.org/drawingml/2006/main">
            <a:pPr algn="l">
              <a:defRPr sz="1575" b="0">
                <a:solidFill>
                  <a:srgbClr val="526579"/>
                </a:solidFill>
                <a:latin typeface="Arial"/>
                <a:ea typeface="Arial"/>
                <a:cs typeface="Arial"/>
              </a:defRPr>
            </a:pPr>
            <a:r>
              <a:rPr sz="1575" b="0">
                <a:solidFill>
                  <a:srgbClr val="526579"/>
                </a:solidFill>
                <a:latin typeface="Arial"/>
                <a:ea typeface="Arial"/>
                <a:cs typeface="Arial"/>
              </a:rPr>
              <a:t>Local fixture evidence dated 15 October 2026.</a:t>
            </a:r>
          </a:p>
        </p:txBody>
      </p:sp>
    </p:spTree>
    <p:extLst>
      <p:ext uri="{BB962C8B-B14F-4D97-AF65-F5344CB8AC3E}">
        <p14:creationId xmlns:p14="http://schemas.microsoft.com/office/powerpoint/2010/main" val="1272150115"/>
      </p:ext>
    </p:extLst>
  </p:cSld>
</p:sld>
</file>

<file path=ppt/slides/slide23.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6" name="slide-title">
            <a:extLst xmlns:a="http://schemas.openxmlformats.org/drawingml/2006/main">
              <a:ext uri="{FF2B5EF4-FFF2-40B4-BE49-F238E27FC236}">
                <a16:creationId xmlns:a16="http://schemas.microsoft.com/office/drawing/2014/main" id="{72DA9ED6-7DF8-4736-AF06-57CE1422FDC8}"/>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Classroom demonstration sequence</a:t>
            </a:r>
          </a:p>
        </p:txBody>
      </p:sp>
      <p:sp>
        <p:nvSpPr>
          <p:cNvPr id="2" name="footer">
            <a:extLst xmlns:a="http://schemas.openxmlformats.org/drawingml/2006/main">
              <a:ext uri="{FF2B5EF4-FFF2-40B4-BE49-F238E27FC236}">
                <a16:creationId xmlns:a16="http://schemas.microsoft.com/office/drawing/2014/main" id="{121BFD2F-3903-4F1A-998C-A2822D9E9FDE}"/>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893523CF-5269-46BE-8059-DA3DA7EB1F37}"/>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23</a:t>
            </a:r>
          </a:p>
        </p:txBody>
      </p:sp>
      <p:sp>
        <p:nvSpPr>
          <p:cNvPr id="4" name="text">
            <a:extLst xmlns:a="http://schemas.openxmlformats.org/drawingml/2006/main">
              <a:ext uri="{FF2B5EF4-FFF2-40B4-BE49-F238E27FC236}">
                <a16:creationId xmlns:a16="http://schemas.microsoft.com/office/drawing/2014/main" id="{8F6523D2-6136-479F-89DE-C88987B219F1}"/>
              </a:ext>
            </a:extLst>
          </p:cNvPr>
          <p:cNvSpPr>
            <a:spLocks xmlns:a="http://schemas.openxmlformats.org/drawingml/2006/main" noGrp="1"/>
          </p:cNvSpPr>
          <p:nvPr/>
        </p:nvSpPr>
        <p:spPr>
          <a:xfrm xmlns:a="http://schemas.openxmlformats.org/drawingml/2006/main">
            <a:off x="628650" y="180975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F8C"/>
                </a:solidFill>
                <a:latin typeface="Arial"/>
                <a:ea typeface="Arial"/>
                <a:cs typeface="Arial"/>
              </a:defRPr>
            </a:defPPr>
          </a:lstStyle>
          <a:p xmlns:a="http://schemas.openxmlformats.org/drawingml/2006/main">
            <a:pPr algn="l">
              <a:defRPr sz="2400" b="1">
                <a:solidFill>
                  <a:srgbClr val="087F8C"/>
                </a:solidFill>
                <a:latin typeface="Arial"/>
                <a:ea typeface="Arial"/>
                <a:cs typeface="Arial"/>
              </a:defRPr>
            </a:pPr>
            <a:r>
              <a:rPr sz="2400" b="1">
                <a:solidFill>
                  <a:srgbClr val="087F8C"/>
                </a:solidFill>
                <a:latin typeface="Arial"/>
                <a:ea typeface="Arial"/>
                <a:cs typeface="Arial"/>
              </a:rPr>
              <a:t>01</a:t>
            </a:r>
          </a:p>
        </p:txBody>
      </p:sp>
      <p:sp>
        <p:nvSpPr>
          <p:cNvPr id="5" name="text">
            <a:extLst xmlns:a="http://schemas.openxmlformats.org/drawingml/2006/main">
              <a:ext uri="{FF2B5EF4-FFF2-40B4-BE49-F238E27FC236}">
                <a16:creationId xmlns:a16="http://schemas.microsoft.com/office/drawing/2014/main" id="{D353754D-8385-4FA3-B2A4-B29A9C38500C}"/>
              </a:ext>
            </a:extLst>
          </p:cNvPr>
          <p:cNvSpPr>
            <a:spLocks xmlns:a="http://schemas.openxmlformats.org/drawingml/2006/main" noGrp="1"/>
          </p:cNvSpPr>
          <p:nvPr/>
        </p:nvSpPr>
        <p:spPr>
          <a:xfrm xmlns:a="http://schemas.openxmlformats.org/drawingml/2006/main">
            <a:off x="1238250" y="1809750"/>
            <a:ext cx="986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Create and submit a course</a:t>
            </a:r>
          </a:p>
        </p:txBody>
      </p:sp>
      <p:sp>
        <p:nvSpPr>
          <p:cNvPr id="6" name="text">
            <a:extLst xmlns:a="http://schemas.openxmlformats.org/drawingml/2006/main">
              <a:ext uri="{FF2B5EF4-FFF2-40B4-BE49-F238E27FC236}">
                <a16:creationId xmlns:a16="http://schemas.microsoft.com/office/drawing/2014/main" id="{92970F4F-12CF-46B6-8AA2-BBE0B717559F}"/>
              </a:ext>
            </a:extLst>
          </p:cNvPr>
          <p:cNvSpPr>
            <a:spLocks xmlns:a="http://schemas.openxmlformats.org/drawingml/2006/main" noGrp="1"/>
          </p:cNvSpPr>
          <p:nvPr/>
        </p:nvSpPr>
        <p:spPr>
          <a:xfrm xmlns:a="http://schemas.openxmlformats.org/drawingml/2006/main">
            <a:off x="1238250" y="2238375"/>
            <a:ext cx="9867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Instructor adds curriculum and lesson media.</a:t>
            </a:r>
          </a:p>
        </p:txBody>
      </p:sp>
      <p:sp>
        <p:nvSpPr>
          <p:cNvPr id="7" name="text">
            <a:extLst xmlns:a="http://schemas.openxmlformats.org/drawingml/2006/main">
              <a:ext uri="{FF2B5EF4-FFF2-40B4-BE49-F238E27FC236}">
                <a16:creationId xmlns:a16="http://schemas.microsoft.com/office/drawing/2014/main" id="{3A82B0F7-91B5-4ADF-B6DA-3CAA9F1854DB}"/>
              </a:ext>
            </a:extLst>
          </p:cNvPr>
          <p:cNvSpPr>
            <a:spLocks xmlns:a="http://schemas.openxmlformats.org/drawingml/2006/main" noGrp="1"/>
          </p:cNvSpPr>
          <p:nvPr/>
        </p:nvSpPr>
        <p:spPr>
          <a:xfrm xmlns:a="http://schemas.openxmlformats.org/drawingml/2006/main">
            <a:off x="628650" y="287655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F8C"/>
                </a:solidFill>
                <a:latin typeface="Arial"/>
                <a:ea typeface="Arial"/>
                <a:cs typeface="Arial"/>
              </a:defRPr>
            </a:defPPr>
          </a:lstStyle>
          <a:p xmlns:a="http://schemas.openxmlformats.org/drawingml/2006/main">
            <a:pPr algn="l">
              <a:defRPr sz="2400" b="1">
                <a:solidFill>
                  <a:srgbClr val="087F8C"/>
                </a:solidFill>
                <a:latin typeface="Arial"/>
                <a:ea typeface="Arial"/>
                <a:cs typeface="Arial"/>
              </a:defRPr>
            </a:pPr>
            <a:r>
              <a:rPr sz="2400" b="1">
                <a:solidFill>
                  <a:srgbClr val="087F8C"/>
                </a:solidFill>
                <a:latin typeface="Arial"/>
                <a:ea typeface="Arial"/>
                <a:cs typeface="Arial"/>
              </a:rPr>
              <a:t>02</a:t>
            </a:r>
          </a:p>
        </p:txBody>
      </p:sp>
      <p:sp>
        <p:nvSpPr>
          <p:cNvPr id="8" name="text">
            <a:extLst xmlns:a="http://schemas.openxmlformats.org/drawingml/2006/main">
              <a:ext uri="{FF2B5EF4-FFF2-40B4-BE49-F238E27FC236}">
                <a16:creationId xmlns:a16="http://schemas.microsoft.com/office/drawing/2014/main" id="{1C39B0EC-AAF7-4D1C-84B8-605D84AEE2C8}"/>
              </a:ext>
            </a:extLst>
          </p:cNvPr>
          <p:cNvSpPr>
            <a:spLocks xmlns:a="http://schemas.openxmlformats.org/drawingml/2006/main" noGrp="1"/>
          </p:cNvSpPr>
          <p:nvPr/>
        </p:nvSpPr>
        <p:spPr>
          <a:xfrm xmlns:a="http://schemas.openxmlformats.org/drawingml/2006/main">
            <a:off x="1238250" y="2876550"/>
            <a:ext cx="986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Approve the curriculum</a:t>
            </a:r>
          </a:p>
        </p:txBody>
      </p:sp>
      <p:sp>
        <p:nvSpPr>
          <p:cNvPr id="9" name="text">
            <a:extLst xmlns:a="http://schemas.openxmlformats.org/drawingml/2006/main">
              <a:ext uri="{FF2B5EF4-FFF2-40B4-BE49-F238E27FC236}">
                <a16:creationId xmlns:a16="http://schemas.microsoft.com/office/drawing/2014/main" id="{7F993C4D-E86F-4393-A536-20DD8F1E74F2}"/>
              </a:ext>
            </a:extLst>
          </p:cNvPr>
          <p:cNvSpPr>
            <a:spLocks xmlns:a="http://schemas.openxmlformats.org/drawingml/2006/main" noGrp="1"/>
          </p:cNvSpPr>
          <p:nvPr/>
        </p:nvSpPr>
        <p:spPr>
          <a:xfrm xmlns:a="http://schemas.openxmlformats.org/drawingml/2006/main">
            <a:off x="1238250" y="3305175"/>
            <a:ext cx="9867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Admin reviews and publishes the submission.</a:t>
            </a:r>
          </a:p>
        </p:txBody>
      </p:sp>
      <p:sp>
        <p:nvSpPr>
          <p:cNvPr id="10" name="text">
            <a:extLst xmlns:a="http://schemas.openxmlformats.org/drawingml/2006/main">
              <a:ext uri="{FF2B5EF4-FFF2-40B4-BE49-F238E27FC236}">
                <a16:creationId xmlns:a16="http://schemas.microsoft.com/office/drawing/2014/main" id="{F82A80BC-EE63-45A6-9C53-6631F0CFA497}"/>
              </a:ext>
            </a:extLst>
          </p:cNvPr>
          <p:cNvSpPr>
            <a:spLocks xmlns:a="http://schemas.openxmlformats.org/drawingml/2006/main" noGrp="1"/>
          </p:cNvSpPr>
          <p:nvPr/>
        </p:nvSpPr>
        <p:spPr>
          <a:xfrm xmlns:a="http://schemas.openxmlformats.org/drawingml/2006/main">
            <a:off x="628650" y="394335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F8C"/>
                </a:solidFill>
                <a:latin typeface="Arial"/>
                <a:ea typeface="Arial"/>
                <a:cs typeface="Arial"/>
              </a:defRPr>
            </a:defPPr>
          </a:lstStyle>
          <a:p xmlns:a="http://schemas.openxmlformats.org/drawingml/2006/main">
            <a:pPr algn="l">
              <a:defRPr sz="2400" b="1">
                <a:solidFill>
                  <a:srgbClr val="087F8C"/>
                </a:solidFill>
                <a:latin typeface="Arial"/>
                <a:ea typeface="Arial"/>
                <a:cs typeface="Arial"/>
              </a:defRPr>
            </a:pPr>
            <a:r>
              <a:rPr sz="2400" b="1">
                <a:solidFill>
                  <a:srgbClr val="087F8C"/>
                </a:solidFill>
                <a:latin typeface="Arial"/>
                <a:ea typeface="Arial"/>
                <a:cs typeface="Arial"/>
              </a:rPr>
              <a:t>03</a:t>
            </a:r>
          </a:p>
        </p:txBody>
      </p:sp>
      <p:sp>
        <p:nvSpPr>
          <p:cNvPr id="11" name="text">
            <a:extLst xmlns:a="http://schemas.openxmlformats.org/drawingml/2006/main">
              <a:ext uri="{FF2B5EF4-FFF2-40B4-BE49-F238E27FC236}">
                <a16:creationId xmlns:a16="http://schemas.microsoft.com/office/drawing/2014/main" id="{CBC4B3E0-2A7A-4A2B-8F78-0D4DCE3EF8CD}"/>
              </a:ext>
            </a:extLst>
          </p:cNvPr>
          <p:cNvSpPr>
            <a:spLocks xmlns:a="http://schemas.openxmlformats.org/drawingml/2006/main" noGrp="1"/>
          </p:cNvSpPr>
          <p:nvPr/>
        </p:nvSpPr>
        <p:spPr>
          <a:xfrm xmlns:a="http://schemas.openxmlformats.org/drawingml/2006/main">
            <a:off x="1238250" y="3943350"/>
            <a:ext cx="986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Enroll and submit work</a:t>
            </a:r>
          </a:p>
        </p:txBody>
      </p:sp>
      <p:sp>
        <p:nvSpPr>
          <p:cNvPr id="12" name="text">
            <a:extLst xmlns:a="http://schemas.openxmlformats.org/drawingml/2006/main">
              <a:ext uri="{FF2B5EF4-FFF2-40B4-BE49-F238E27FC236}">
                <a16:creationId xmlns:a16="http://schemas.microsoft.com/office/drawing/2014/main" id="{856DCD2C-43D1-48DE-81FF-000617A043D6}"/>
              </a:ext>
            </a:extLst>
          </p:cNvPr>
          <p:cNvSpPr>
            <a:spLocks xmlns:a="http://schemas.openxmlformats.org/drawingml/2006/main" noGrp="1"/>
          </p:cNvSpPr>
          <p:nvPr/>
        </p:nvSpPr>
        <p:spPr>
          <a:xfrm xmlns:a="http://schemas.openxmlformats.org/drawingml/2006/main">
            <a:off x="1238250" y="4371975"/>
            <a:ext cx="9867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Student joins for free and answers the assignment.</a:t>
            </a:r>
          </a:p>
        </p:txBody>
      </p:sp>
      <p:sp>
        <p:nvSpPr>
          <p:cNvPr id="13" name="text">
            <a:extLst xmlns:a="http://schemas.openxmlformats.org/drawingml/2006/main">
              <a:ext uri="{FF2B5EF4-FFF2-40B4-BE49-F238E27FC236}">
                <a16:creationId xmlns:a16="http://schemas.microsoft.com/office/drawing/2014/main" id="{36EF9384-2009-44C2-9D26-F9845EFB87F7}"/>
              </a:ext>
            </a:extLst>
          </p:cNvPr>
          <p:cNvSpPr>
            <a:spLocks xmlns:a="http://schemas.openxmlformats.org/drawingml/2006/main" noGrp="1"/>
          </p:cNvSpPr>
          <p:nvPr/>
        </p:nvSpPr>
        <p:spPr>
          <a:xfrm xmlns:a="http://schemas.openxmlformats.org/drawingml/2006/main">
            <a:off x="628650" y="5010150"/>
            <a:ext cx="476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87F8C"/>
                </a:solidFill>
                <a:latin typeface="Arial"/>
                <a:ea typeface="Arial"/>
                <a:cs typeface="Arial"/>
              </a:defRPr>
            </a:defPPr>
          </a:lstStyle>
          <a:p xmlns:a="http://schemas.openxmlformats.org/drawingml/2006/main">
            <a:pPr algn="l">
              <a:defRPr sz="2400" b="1">
                <a:solidFill>
                  <a:srgbClr val="087F8C"/>
                </a:solidFill>
                <a:latin typeface="Arial"/>
                <a:ea typeface="Arial"/>
                <a:cs typeface="Arial"/>
              </a:defRPr>
            </a:pPr>
            <a:r>
              <a:rPr sz="2400" b="1">
                <a:solidFill>
                  <a:srgbClr val="087F8C"/>
                </a:solidFill>
                <a:latin typeface="Arial"/>
                <a:ea typeface="Arial"/>
                <a:cs typeface="Arial"/>
              </a:rPr>
              <a:t>04</a:t>
            </a:r>
          </a:p>
        </p:txBody>
      </p:sp>
      <p:sp>
        <p:nvSpPr>
          <p:cNvPr id="14" name="text">
            <a:extLst xmlns:a="http://schemas.openxmlformats.org/drawingml/2006/main">
              <a:ext uri="{FF2B5EF4-FFF2-40B4-BE49-F238E27FC236}">
                <a16:creationId xmlns:a16="http://schemas.microsoft.com/office/drawing/2014/main" id="{584885D6-F2E0-4A0A-9809-BBBA3F03DEC5}"/>
              </a:ext>
            </a:extLst>
          </p:cNvPr>
          <p:cNvSpPr>
            <a:spLocks xmlns:a="http://schemas.openxmlformats.org/drawingml/2006/main" noGrp="1"/>
          </p:cNvSpPr>
          <p:nvPr/>
        </p:nvSpPr>
        <p:spPr>
          <a:xfrm xmlns:a="http://schemas.openxmlformats.org/drawingml/2006/main">
            <a:off x="1238250" y="5010150"/>
            <a:ext cx="9867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Review the result</a:t>
            </a:r>
          </a:p>
        </p:txBody>
      </p:sp>
      <p:sp>
        <p:nvSpPr>
          <p:cNvPr id="15" name="text">
            <a:extLst xmlns:a="http://schemas.openxmlformats.org/drawingml/2006/main">
              <a:ext uri="{FF2B5EF4-FFF2-40B4-BE49-F238E27FC236}">
                <a16:creationId xmlns:a16="http://schemas.microsoft.com/office/drawing/2014/main" id="{31FCCCF4-BEEC-424E-842F-B0414D77B46D}"/>
              </a:ext>
            </a:extLst>
          </p:cNvPr>
          <p:cNvSpPr>
            <a:spLocks xmlns:a="http://schemas.openxmlformats.org/drawingml/2006/main" noGrp="1"/>
          </p:cNvSpPr>
          <p:nvPr/>
        </p:nvSpPr>
        <p:spPr>
          <a:xfrm xmlns:a="http://schemas.openxmlformats.org/drawingml/2006/main">
            <a:off x="1238250" y="5438775"/>
            <a:ext cx="98679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Instructor grades, then student views private feedback.</a:t>
            </a:r>
          </a:p>
        </p:txBody>
      </p:sp>
    </p:spTree>
    <p:extLst>
      <p:ext uri="{BB962C8B-B14F-4D97-AF65-F5344CB8AC3E}">
        <p14:creationId xmlns:p14="http://schemas.microsoft.com/office/powerpoint/2010/main" val="165141580"/>
      </p:ext>
    </p:extLst>
  </p:cSld>
</p:sld>
</file>

<file path=ppt/slides/slide24.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820986AE-3ECD-4DE3-948D-C2442A1FCA08}"/>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Current limitations and future scope</a:t>
            </a:r>
          </a:p>
        </p:txBody>
      </p:sp>
      <p:sp>
        <p:nvSpPr>
          <p:cNvPr id="2" name="footer">
            <a:extLst xmlns:a="http://schemas.openxmlformats.org/drawingml/2006/main">
              <a:ext uri="{FF2B5EF4-FFF2-40B4-BE49-F238E27FC236}">
                <a16:creationId xmlns:a16="http://schemas.microsoft.com/office/drawing/2014/main" id="{A182C458-9E0A-48DD-990D-7AD9A827590E}"/>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7F3B8684-6327-457A-B0C3-DBAAB7B6C304}"/>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24</a:t>
            </a:r>
          </a:p>
        </p:txBody>
      </p:sp>
      <p:sp>
        <p:nvSpPr>
          <p:cNvPr id="4" name="text">
            <a:extLst xmlns:a="http://schemas.openxmlformats.org/drawingml/2006/main">
              <a:ext uri="{FF2B5EF4-FFF2-40B4-BE49-F238E27FC236}">
                <a16:creationId xmlns:a16="http://schemas.microsoft.com/office/drawing/2014/main" id="{ED666171-5DBB-4F9A-ACA9-C05203383C17}"/>
              </a:ext>
            </a:extLst>
          </p:cNvPr>
          <p:cNvSpPr>
            <a:spLocks xmlns:a="http://schemas.openxmlformats.org/drawingml/2006/main" noGrp="1"/>
          </p:cNvSpPr>
          <p:nvPr/>
        </p:nvSpPr>
        <p:spPr>
          <a:xfrm xmlns:a="http://schemas.openxmlformats.org/drawingml/2006/main">
            <a:off x="628650" y="1971675"/>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Current limitations</a:t>
            </a:r>
          </a:p>
        </p:txBody>
      </p:sp>
      <p:sp>
        <p:nvSpPr>
          <p:cNvPr id="5" name="text">
            <a:extLst xmlns:a="http://schemas.openxmlformats.org/drawingml/2006/main">
              <a:ext uri="{FF2B5EF4-FFF2-40B4-BE49-F238E27FC236}">
                <a16:creationId xmlns:a16="http://schemas.microsoft.com/office/drawing/2014/main" id="{27B8B4E9-CACA-497E-8496-B72896201301}"/>
              </a:ext>
            </a:extLst>
          </p:cNvPr>
          <p:cNvSpPr>
            <a:spLocks xmlns:a="http://schemas.openxmlformats.org/drawingml/2006/main" noGrp="1"/>
          </p:cNvSpPr>
          <p:nvPr/>
        </p:nvSpPr>
        <p:spPr>
          <a:xfrm xmlns:a="http://schemas.openxmlformats.org/drawingml/2006/main">
            <a:off x="628650" y="2438400"/>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Live LLM quality, SMTP inbox delivery and Cloudinary uploads need credentials.</a:t>
            </a:r>
          </a:p>
        </p:txBody>
      </p:sp>
      <p:sp>
        <p:nvSpPr>
          <p:cNvPr id="6" name="text">
            <a:extLst xmlns:a="http://schemas.openxmlformats.org/drawingml/2006/main">
              <a:ext uri="{FF2B5EF4-FFF2-40B4-BE49-F238E27FC236}">
                <a16:creationId xmlns:a16="http://schemas.microsoft.com/office/drawing/2014/main" id="{3865F364-2E61-42FD-A050-BED61D964040}"/>
              </a:ext>
            </a:extLst>
          </p:cNvPr>
          <p:cNvSpPr>
            <a:spLocks xmlns:a="http://schemas.openxmlformats.org/drawingml/2006/main" noGrp="1"/>
          </p:cNvSpPr>
          <p:nvPr/>
        </p:nvSpPr>
        <p:spPr>
          <a:xfrm xmlns:a="http://schemas.openxmlformats.org/drawingml/2006/main">
            <a:off x="6572250" y="19716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Validation still needed</a:t>
            </a:r>
          </a:p>
        </p:txBody>
      </p:sp>
      <p:sp>
        <p:nvSpPr>
          <p:cNvPr id="7" name="text">
            <a:extLst xmlns:a="http://schemas.openxmlformats.org/drawingml/2006/main">
              <a:ext uri="{FF2B5EF4-FFF2-40B4-BE49-F238E27FC236}">
                <a16:creationId xmlns:a16="http://schemas.microsoft.com/office/drawing/2014/main" id="{8640ADD9-8143-4757-968F-AB727F5ADFD5}"/>
              </a:ext>
            </a:extLst>
          </p:cNvPr>
          <p:cNvSpPr>
            <a:spLocks xmlns:a="http://schemas.openxmlformats.org/drawingml/2006/main" noGrp="1"/>
          </p:cNvSpPr>
          <p:nvPr/>
        </p:nvSpPr>
        <p:spPr>
          <a:xfrm xmlns:a="http://schemas.openxmlformats.org/drawingml/2006/main">
            <a:off x="6572250" y="2438400"/>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Public hosting, production load, wider browser testing and accessibility review.</a:t>
            </a:r>
          </a:p>
        </p:txBody>
      </p:sp>
      <p:sp>
        <p:nvSpPr>
          <p:cNvPr id="8" name="text">
            <a:extLst xmlns:a="http://schemas.openxmlformats.org/drawingml/2006/main">
              <a:ext uri="{FF2B5EF4-FFF2-40B4-BE49-F238E27FC236}">
                <a16:creationId xmlns:a16="http://schemas.microsoft.com/office/drawing/2014/main" id="{250E9ED8-6700-4124-AB88-2864EE415A8E}"/>
              </a:ext>
            </a:extLst>
          </p:cNvPr>
          <p:cNvSpPr>
            <a:spLocks xmlns:a="http://schemas.openxmlformats.org/drawingml/2006/main" noGrp="1"/>
          </p:cNvSpPr>
          <p:nvPr/>
        </p:nvSpPr>
        <p:spPr>
          <a:xfrm xmlns:a="http://schemas.openxmlformats.org/drawingml/2006/main">
            <a:off x="628650" y="401955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Next implementation work</a:t>
            </a:r>
          </a:p>
        </p:txBody>
      </p:sp>
      <p:sp>
        <p:nvSpPr>
          <p:cNvPr id="9" name="text">
            <a:extLst xmlns:a="http://schemas.openxmlformats.org/drawingml/2006/main">
              <a:ext uri="{FF2B5EF4-FFF2-40B4-BE49-F238E27FC236}">
                <a16:creationId xmlns:a16="http://schemas.microsoft.com/office/drawing/2014/main" id="{D27FF99D-6FEF-431F-9FF0-EE2BEE71E6AC}"/>
              </a:ext>
            </a:extLst>
          </p:cNvPr>
          <p:cNvSpPr>
            <a:spLocks xmlns:a="http://schemas.openxmlformats.org/drawingml/2006/main" noGrp="1"/>
          </p:cNvSpPr>
          <p:nvPr/>
        </p:nvSpPr>
        <p:spPr>
          <a:xfrm xmlns:a="http://schemas.openxmlformats.org/drawingml/2006/main">
            <a:off x="628650" y="448627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Reviewed question banks, richer course content and optional scanned-document OCR.</a:t>
            </a:r>
          </a:p>
        </p:txBody>
      </p:sp>
      <p:sp>
        <p:nvSpPr>
          <p:cNvPr id="10" name="text">
            <a:extLst xmlns:a="http://schemas.openxmlformats.org/drawingml/2006/main">
              <a:ext uri="{FF2B5EF4-FFF2-40B4-BE49-F238E27FC236}">
                <a16:creationId xmlns:a16="http://schemas.microsoft.com/office/drawing/2014/main" id="{B0B093F5-5DAA-4F26-83E0-71D76C0F8330}"/>
              </a:ext>
            </a:extLst>
          </p:cNvPr>
          <p:cNvSpPr>
            <a:spLocks xmlns:a="http://schemas.openxmlformats.org/drawingml/2006/main" noGrp="1"/>
          </p:cNvSpPr>
          <p:nvPr/>
        </p:nvSpPr>
        <p:spPr>
          <a:xfrm xmlns:a="http://schemas.openxmlformats.org/drawingml/2006/main">
            <a:off x="6572250" y="40195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Next evaluation work</a:t>
            </a:r>
          </a:p>
        </p:txBody>
      </p:sp>
      <p:sp>
        <p:nvSpPr>
          <p:cNvPr id="11" name="text">
            <a:extLst xmlns:a="http://schemas.openxmlformats.org/drawingml/2006/main">
              <a:ext uri="{FF2B5EF4-FFF2-40B4-BE49-F238E27FC236}">
                <a16:creationId xmlns:a16="http://schemas.microsoft.com/office/drawing/2014/main" id="{6717D215-A34F-4F11-A4A2-AAA322815A1E}"/>
              </a:ext>
            </a:extLst>
          </p:cNvPr>
          <p:cNvSpPr>
            <a:spLocks xmlns:a="http://schemas.openxmlformats.org/drawingml/2006/main" noGrp="1"/>
          </p:cNvSpPr>
          <p:nvPr/>
        </p:nvSpPr>
        <p:spPr>
          <a:xfrm xmlns:a="http://schemas.openxmlformats.org/drawingml/2006/main">
            <a:off x="6572250" y="44862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Language and RAG evaluations with realistic classroom questions.</a:t>
            </a:r>
          </a:p>
        </p:txBody>
      </p:sp>
    </p:spTree>
    <p:extLst>
      <p:ext uri="{BB962C8B-B14F-4D97-AF65-F5344CB8AC3E}">
        <p14:creationId xmlns:p14="http://schemas.microsoft.com/office/powerpoint/2010/main" val="276240548"/>
      </p:ext>
    </p:extLst>
  </p:cSld>
</p:sld>
</file>

<file path=ppt/slides/slide25.xml><?xml version="1.0" encoding="utf-8"?>
<p:sld xmlns:p="http://schemas.openxmlformats.org/presentationml/2006/main">
  <p:cSld>
    <p:bg>
      <p:bgPr>
        <a:solidFill xmlns:a="http://schemas.openxmlformats.org/drawingml/2006/main">
          <a:srgbClr val="10233F"/>
        </a:solidFill>
      </p:bgPr>
    </p:bg>
    <p:spTree>
      <p:nvGrpSpPr>
        <p:cNvPr id="1" name=""/>
        <p:cNvGrpSpPr/>
        <p:nvPr/>
      </p:nvGrpSpPr>
      <p:grpSpPr>
        <a:xfrm xmlns:a="http://schemas.openxmlformats.org/drawingml/2006/main"/>
      </p:grpSpPr>
      <p:sp>
        <p:nvSpPr>
          <p:cNvPr id="8" name="slide-title">
            <a:extLst xmlns:a="http://schemas.openxmlformats.org/drawingml/2006/main">
              <a:ext uri="{FF2B5EF4-FFF2-40B4-BE49-F238E27FC236}">
                <a16:creationId xmlns:a16="http://schemas.microsoft.com/office/drawing/2014/main" id="{7B043368-D07F-41D4-A9F4-3B269AFDFC36}"/>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Project outcomes and questions</a:t>
            </a:r>
          </a:p>
        </p:txBody>
      </p:sp>
      <p:sp>
        <p:nvSpPr>
          <p:cNvPr id="2" name="footer">
            <a:extLst xmlns:a="http://schemas.openxmlformats.org/drawingml/2006/main">
              <a:ext uri="{FF2B5EF4-FFF2-40B4-BE49-F238E27FC236}">
                <a16:creationId xmlns:a16="http://schemas.microsoft.com/office/drawing/2014/main" id="{E0173833-634D-4DA0-AA72-667BD85E4566}"/>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A9BECF"/>
                </a:solidFill>
                <a:latin typeface="Arial"/>
                <a:ea typeface="Arial"/>
                <a:cs typeface="Arial"/>
              </a:defRPr>
            </a:defPPr>
          </a:lstStyle>
          <a:p xmlns:a="http://schemas.openxmlformats.org/drawingml/2006/main">
            <a:pPr algn="l">
              <a:defRPr sz="975" b="0">
                <a:solidFill>
                  <a:srgbClr val="A9BECF"/>
                </a:solidFill>
                <a:latin typeface="Arial"/>
                <a:ea typeface="Arial"/>
                <a:cs typeface="Arial"/>
              </a:defRPr>
            </a:pPr>
            <a:r>
              <a:rPr sz="975" b="0">
                <a:solidFill>
                  <a:srgbClr val="A9BECF"/>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2C7D119B-5EDA-4CEB-9696-6F42D3418648}"/>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A9BECF"/>
                </a:solidFill>
                <a:latin typeface="Arial"/>
                <a:ea typeface="Arial"/>
                <a:cs typeface="Arial"/>
              </a:defRPr>
            </a:defPPr>
          </a:lstStyle>
          <a:p xmlns:a="http://schemas.openxmlformats.org/drawingml/2006/main">
            <a:pPr algn="r">
              <a:defRPr sz="1125" b="0">
                <a:solidFill>
                  <a:srgbClr val="A9BECF"/>
                </a:solidFill>
                <a:latin typeface="Arial"/>
                <a:ea typeface="Arial"/>
                <a:cs typeface="Arial"/>
              </a:defRPr>
            </a:pPr>
            <a:r>
              <a:rPr sz="1125" b="0">
                <a:solidFill>
                  <a:srgbClr val="A9BECF"/>
                </a:solidFill>
                <a:latin typeface="Arial"/>
                <a:ea typeface="Arial"/>
                <a:cs typeface="Arial"/>
              </a:rPr>
              <a:t>25</a:t>
            </a:r>
          </a:p>
        </p:txBody>
      </p:sp>
      <p:sp>
        <p:nvSpPr>
          <p:cNvPr id="4" name="text">
            <a:extLst xmlns:a="http://schemas.openxmlformats.org/drawingml/2006/main">
              <a:ext uri="{FF2B5EF4-FFF2-40B4-BE49-F238E27FC236}">
                <a16:creationId xmlns:a16="http://schemas.microsoft.com/office/drawing/2014/main" id="{E397A80F-3F7A-4A18-A185-9303D08329B1}"/>
              </a:ext>
            </a:extLst>
          </p:cNvPr>
          <p:cNvSpPr>
            <a:spLocks xmlns:a="http://schemas.openxmlformats.org/drawingml/2006/main" noGrp="1"/>
          </p:cNvSpPr>
          <p:nvPr/>
        </p:nvSpPr>
        <p:spPr>
          <a:xfrm xmlns:a="http://schemas.openxmlformats.org/drawingml/2006/main">
            <a:off x="628650" y="1924050"/>
            <a:ext cx="10763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FFFFFF"/>
                </a:solidFill>
                <a:latin typeface="Arial"/>
                <a:ea typeface="Arial"/>
                <a:cs typeface="Arial"/>
              </a:defRPr>
            </a:defPPr>
          </a:lstStyle>
          <a:p xmlns:a="http://schemas.openxmlformats.org/drawingml/2006/main">
            <a:pPr algn="l">
              <a:defRPr sz="3150" b="1">
                <a:solidFill>
                  <a:srgbClr val="FFFFFF"/>
                </a:solidFill>
                <a:latin typeface="Arial"/>
                <a:ea typeface="Arial"/>
                <a:cs typeface="Arial"/>
              </a:defRPr>
            </a:pPr>
            <a:r>
              <a:rPr sz="3150" b="1">
                <a:solidFill>
                  <a:srgbClr val="FFFFFF"/>
                </a:solidFill>
                <a:latin typeface="Arial"/>
                <a:ea typeface="Arial"/>
                <a:cs typeface="Arial"/>
              </a:rPr>
              <a:t>Free classroom access</a:t>
            </a:r>
          </a:p>
        </p:txBody>
      </p:sp>
      <p:sp>
        <p:nvSpPr>
          <p:cNvPr id="5" name="text">
            <a:extLst xmlns:a="http://schemas.openxmlformats.org/drawingml/2006/main">
              <a:ext uri="{FF2B5EF4-FFF2-40B4-BE49-F238E27FC236}">
                <a16:creationId xmlns:a16="http://schemas.microsoft.com/office/drawing/2014/main" id="{0021BD8D-2B04-417E-A4DA-9B7BF7E5F353}"/>
              </a:ext>
            </a:extLst>
          </p:cNvPr>
          <p:cNvSpPr>
            <a:spLocks xmlns:a="http://schemas.openxmlformats.org/drawingml/2006/main" noGrp="1"/>
          </p:cNvSpPr>
          <p:nvPr/>
        </p:nvSpPr>
        <p:spPr>
          <a:xfrm xmlns:a="http://schemas.openxmlformats.org/drawingml/2006/main">
            <a:off x="628650" y="26670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CFDFE9"/>
                </a:solidFill>
                <a:latin typeface="Arial"/>
                <a:ea typeface="Arial"/>
                <a:cs typeface="Arial"/>
              </a:defRPr>
            </a:defPPr>
          </a:lstStyle>
          <a:p xmlns:a="http://schemas.openxmlformats.org/drawingml/2006/main">
            <a:pPr algn="l">
              <a:defRPr sz="2625" b="0">
                <a:solidFill>
                  <a:srgbClr val="CFDFE9"/>
                </a:solidFill>
                <a:latin typeface="Arial"/>
                <a:ea typeface="Arial"/>
                <a:cs typeface="Arial"/>
              </a:defRPr>
            </a:pPr>
            <a:r>
              <a:rPr sz="2625" b="0">
                <a:solidFill>
                  <a:srgbClr val="CFDFE9"/>
                </a:solidFill>
                <a:latin typeface="Arial"/>
                <a:ea typeface="Arial"/>
                <a:cs typeface="Arial"/>
              </a:rPr>
              <a:t>Clear workflows for learning, teaching and administration</a:t>
            </a:r>
          </a:p>
        </p:txBody>
      </p:sp>
      <p:sp>
        <p:nvSpPr>
          <p:cNvPr id="6" name="text">
            <a:extLst xmlns:a="http://schemas.openxmlformats.org/drawingml/2006/main">
              <a:ext uri="{FF2B5EF4-FFF2-40B4-BE49-F238E27FC236}">
                <a16:creationId xmlns:a16="http://schemas.microsoft.com/office/drawing/2014/main" id="{2B32E9D3-21A3-466A-BA7B-D46D62A20D15}"/>
              </a:ext>
            </a:extLst>
          </p:cNvPr>
          <p:cNvSpPr>
            <a:spLocks xmlns:a="http://schemas.openxmlformats.org/drawingml/2006/main" noGrp="1"/>
          </p:cNvSpPr>
          <p:nvPr/>
        </p:nvSpPr>
        <p:spPr>
          <a:xfrm xmlns:a="http://schemas.openxmlformats.org/drawingml/2006/main">
            <a:off x="628650" y="3895725"/>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CFDFE9"/>
                </a:solidFill>
                <a:latin typeface="Arial"/>
                <a:ea typeface="Arial"/>
                <a:cs typeface="Arial"/>
              </a:defRPr>
            </a:defPPr>
          </a:lstStyle>
          <a:p xmlns:a="http://schemas.openxmlformats.org/drawingml/2006/main">
            <a:pPr algn="l">
              <a:defRPr sz="2625" b="0">
                <a:solidFill>
                  <a:srgbClr val="CFDFE9"/>
                </a:solidFill>
                <a:latin typeface="Arial"/>
                <a:ea typeface="Arial"/>
                <a:cs typeface="Arial"/>
              </a:defRPr>
            </a:pPr>
            <a:r>
              <a:rPr sz="2625" b="0">
                <a:solidFill>
                  <a:srgbClr val="CFDFE9"/>
                </a:solidFill>
                <a:latin typeface="Arial"/>
                <a:ea typeface="Arial"/>
                <a:cs typeface="Arial"/>
              </a:rPr>
              <a:t>Backend permissions and stored assessment evidence</a:t>
            </a:r>
          </a:p>
        </p:txBody>
      </p:sp>
      <p:sp>
        <p:nvSpPr>
          <p:cNvPr id="7" name="text">
            <a:extLst xmlns:a="http://schemas.openxmlformats.org/drawingml/2006/main">
              <a:ext uri="{FF2B5EF4-FFF2-40B4-BE49-F238E27FC236}">
                <a16:creationId xmlns:a16="http://schemas.microsoft.com/office/drawing/2014/main" id="{57479801-5BAF-4BB6-AC5E-BC8BCD828D81}"/>
              </a:ext>
            </a:extLst>
          </p:cNvPr>
          <p:cNvSpPr>
            <a:spLocks xmlns:a="http://schemas.openxmlformats.org/drawingml/2006/main" noGrp="1"/>
          </p:cNvSpPr>
          <p:nvPr/>
        </p:nvSpPr>
        <p:spPr>
          <a:xfrm xmlns:a="http://schemas.openxmlformats.org/drawingml/2006/main">
            <a:off x="628650" y="5429250"/>
            <a:ext cx="904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125" b="1">
                <a:solidFill>
                  <a:srgbClr val="76D4D7"/>
                </a:solidFill>
                <a:latin typeface="Arial"/>
                <a:ea typeface="Arial"/>
                <a:cs typeface="Arial"/>
              </a:defRPr>
            </a:defPPr>
          </a:lstStyle>
          <a:p xmlns:a="http://schemas.openxmlformats.org/drawingml/2006/main">
            <a:pPr algn="l">
              <a:defRPr sz="4125" b="1">
                <a:solidFill>
                  <a:srgbClr val="76D4D7"/>
                </a:solidFill>
                <a:latin typeface="Arial"/>
                <a:ea typeface="Arial"/>
                <a:cs typeface="Arial"/>
              </a:defRPr>
            </a:pPr>
            <a:r>
              <a:rPr sz="4125" b="1">
                <a:solidFill>
                  <a:srgbClr val="76D4D7"/>
                </a:solidFill>
                <a:latin typeface="Arial"/>
                <a:ea typeface="Arial"/>
                <a:cs typeface="Arial"/>
              </a:rPr>
              <a:t>Questions</a:t>
            </a:r>
          </a:p>
        </p:txBody>
      </p:sp>
    </p:spTree>
    <p:extLst>
      <p:ext uri="{BB962C8B-B14F-4D97-AF65-F5344CB8AC3E}">
        <p14:creationId xmlns:p14="http://schemas.microsoft.com/office/powerpoint/2010/main" val="783647085"/>
      </p:ext>
    </p:extLst>
  </p:cSld>
</p:sld>
</file>

<file path=ppt/slides/slide26.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67052E12-BB74-4549-9D5A-82236C7CE40D}"/>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Appendix: API modules</a:t>
            </a:r>
          </a:p>
        </p:txBody>
      </p:sp>
      <p:sp>
        <p:nvSpPr>
          <p:cNvPr id="2" name="footer">
            <a:extLst xmlns:a="http://schemas.openxmlformats.org/drawingml/2006/main">
              <a:ext uri="{FF2B5EF4-FFF2-40B4-BE49-F238E27FC236}">
                <a16:creationId xmlns:a16="http://schemas.microsoft.com/office/drawing/2014/main" id="{8EE212DF-CB24-4205-9FB9-DDAFE9FE3E6B}"/>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28BE6F64-409B-4489-BB0C-5E59A53F8492}"/>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26</a:t>
            </a:r>
          </a:p>
        </p:txBody>
      </p:sp>
      <p:graphicFrame>
        <p:nvGraphicFramePr>
          <p:cNvPr id="4" name="">
            <a:extLst xmlns:a="http://schemas.openxmlformats.org/drawingml/2006/main">
              <a:ext uri="{FF2B5EF4-FFF2-40B4-BE49-F238E27FC236}">
                <a16:creationId xmlns:a16="http://schemas.microsoft.com/office/drawing/2014/main" id="{6E46AF7B-8BA3-4729-A3C0-21FF535EE600}"/>
              </a:ext>
            </a:extLst>
          </p:cNvPr>
          <p:cNvGraphicFramePr/>
          <p:nvPr/>
        </p:nvGraphicFramePr>
        <p:xfrm>
          <a:off xmlns:a="http://schemas.openxmlformats.org/drawingml/2006/main" x="609600" y="1809750"/>
          <a:ext xmlns:a="http://schemas.openxmlformats.org/drawingml/2006/main" cx="10972800" cy="4191000"/>
        </p:xfrm>
        <a:graphic xmlns:a="http://schemas.openxmlformats.org/drawingml/2006/main">
          <a:graphicData uri="http://schemas.openxmlformats.org/drawingml/2006/table">
            <a:tbl>
              <a:tblPr/>
              <a:tblGrid>
                <a:gridCol w="2143125"/>
                <a:gridCol w="5524500"/>
                <a:gridCol w="3305175"/>
              </a:tblGrid>
              <a:tr h="698500">
                <a:tc>
                  <a:txBody>
                    <a:bodyPr/>
                    <a:lstStyle/>
                    <a:p>
                      <a:r>
                        <a:rPr sz="1725" b="1">
                          <a:solidFill>
                            <a:srgbClr val="FFFFFF"/>
                          </a:solidFill>
                          <a:latin typeface="Arial"/>
                          <a:ea typeface="Arial"/>
                          <a:cs typeface="Arial"/>
                        </a:rPr>
                        <a:t>Module</a:t>
                      </a:r>
                    </a:p>
                  </a:txBody>
                  <a:tcPr marL="152400" marR="152400" marT="133350" marB="95250" anchor="ctr">
                    <a:lnL w="6191">
                      <a:solidFill>
                        <a:srgbClr val="C9D3DE"/>
                      </a:solidFill>
                      <a:prstDash val="solid"/>
                    </a:lnL>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c>
                  <a:txBody>
                    <a:bodyPr/>
                    <a:lstStyle/>
                    <a:p>
                      <a:r>
                        <a:rPr sz="1725" b="1">
                          <a:solidFill>
                            <a:srgbClr val="FFFFFF"/>
                          </a:solidFill>
                          <a:latin typeface="Arial"/>
                          <a:ea typeface="Arial"/>
                          <a:cs typeface="Arial"/>
                        </a:rPr>
                        <a:t>Representative endpoint</a:t>
                      </a:r>
                    </a:p>
                  </a:txBody>
                  <a:tcPr marL="152400" marR="152400" marT="133350" marB="95250" anchor="ctr">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c>
                  <a:txBody>
                    <a:bodyPr/>
                    <a:lstStyle/>
                    <a:p>
                      <a:r>
                        <a:rPr sz="1725" b="1">
                          <a:solidFill>
                            <a:srgbClr val="FFFFFF"/>
                          </a:solidFill>
                          <a:latin typeface="Arial"/>
                          <a:ea typeface="Arial"/>
                          <a:cs typeface="Arial"/>
                        </a:rPr>
                        <a:t>Purpose</a:t>
                      </a:r>
                    </a:p>
                  </a:txBody>
                  <a:tcPr marL="152400" marR="152400" marT="133350" marB="95250" anchor="ctr">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r>
              <a:tr h="698500">
                <a:tc>
                  <a:txBody>
                    <a:bodyPr/>
                    <a:lstStyle/>
                    <a:p>
                      <a:r>
                        <a:rPr sz="1725">
                          <a:solidFill>
                            <a:srgbClr val="24374D"/>
                          </a:solidFill>
                          <a:latin typeface="Arial"/>
                          <a:ea typeface="Arial"/>
                          <a:cs typeface="Arial"/>
                        </a:rPr>
                        <a:t>Session</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725">
                          <a:solidFill>
                            <a:srgbClr val="24374D"/>
                          </a:solidFill>
                          <a:latin typeface="Arial"/>
                          <a:ea typeface="Arial"/>
                          <a:cs typeface="Arial"/>
                        </a:rPr>
                        <a:t>POST /api/auth/login</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c>
                  <a:txBody>
                    <a:bodyPr/>
                    <a:lstStyle/>
                    <a:p>
                      <a:r>
                        <a:rPr sz="1725">
                          <a:solidFill>
                            <a:srgbClr val="24374D"/>
                          </a:solidFill>
                          <a:latin typeface="Arial"/>
                          <a:ea typeface="Arial"/>
                          <a:cs typeface="Arial"/>
                        </a:rPr>
                        <a:t>Authenticate the current account</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698500">
                <a:tc>
                  <a:txBody>
                    <a:bodyPr/>
                    <a:lstStyle/>
                    <a:p>
                      <a:r>
                        <a:rPr sz="1725">
                          <a:solidFill>
                            <a:srgbClr val="24374D"/>
                          </a:solidFill>
                          <a:latin typeface="Arial"/>
                          <a:ea typeface="Arial"/>
                          <a:cs typeface="Arial"/>
                        </a:rPr>
                        <a:t>Student summary</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725">
                          <a:solidFill>
                            <a:srgbClr val="24374D"/>
                          </a:solidFill>
                          <a:latin typeface="Arial"/>
                          <a:ea typeface="Arial"/>
                          <a:cs typeface="Arial"/>
                        </a:rPr>
                        <a:t>GET /api/dashboard/student</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c>
                  <a:txBody>
                    <a:bodyPr/>
                    <a:lstStyle/>
                    <a:p>
                      <a:r>
                        <a:rPr sz="1725">
                          <a:solidFill>
                            <a:srgbClr val="24374D"/>
                          </a:solidFill>
                          <a:latin typeface="Arial"/>
                          <a:ea typeface="Arial"/>
                          <a:cs typeface="Arial"/>
                        </a:rPr>
                        <a:t>Own learning overview</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r h="698500">
                <a:tc>
                  <a:txBody>
                    <a:bodyPr/>
                    <a:lstStyle/>
                    <a:p>
                      <a:r>
                        <a:rPr sz="1725">
                          <a:solidFill>
                            <a:srgbClr val="24374D"/>
                          </a:solidFill>
                          <a:latin typeface="Arial"/>
                          <a:ea typeface="Arial"/>
                          <a:cs typeface="Arial"/>
                        </a:rPr>
                        <a:t>Free enrollment</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725">
                          <a:solidFill>
                            <a:srgbClr val="24374D"/>
                          </a:solidFill>
                          <a:latin typeface="Arial"/>
                          <a:ea typeface="Arial"/>
                          <a:cs typeface="Arial"/>
                        </a:rPr>
                        <a:t>POST /api/enrollments/:courseId</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c>
                  <a:txBody>
                    <a:bodyPr/>
                    <a:lstStyle/>
                    <a:p>
                      <a:r>
                        <a:rPr sz="1725">
                          <a:solidFill>
                            <a:srgbClr val="24374D"/>
                          </a:solidFill>
                          <a:latin typeface="Arial"/>
                          <a:ea typeface="Arial"/>
                          <a:cs typeface="Arial"/>
                        </a:rPr>
                        <a:t>Join a published course</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698500">
                <a:tc>
                  <a:txBody>
                    <a:bodyPr/>
                    <a:lstStyle/>
                    <a:p>
                      <a:r>
                        <a:rPr sz="1725">
                          <a:solidFill>
                            <a:srgbClr val="24374D"/>
                          </a:solidFill>
                          <a:latin typeface="Arial"/>
                          <a:ea typeface="Arial"/>
                          <a:cs typeface="Arial"/>
                        </a:rPr>
                        <a:t>Assignments</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725">
                          <a:solidFill>
                            <a:srgbClr val="24374D"/>
                          </a:solidFill>
                          <a:latin typeface="Arial"/>
                          <a:ea typeface="Arial"/>
                          <a:cs typeface="Arial"/>
                        </a:rPr>
                        <a:t>POST /api/assignments/:id/submit</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c>
                  <a:txBody>
                    <a:bodyPr/>
                    <a:lstStyle/>
                    <a:p>
                      <a:r>
                        <a:rPr sz="1725">
                          <a:solidFill>
                            <a:srgbClr val="24374D"/>
                          </a:solidFill>
                          <a:latin typeface="Arial"/>
                          <a:ea typeface="Arial"/>
                          <a:cs typeface="Arial"/>
                        </a:rPr>
                        <a:t>Submit permitted work</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r h="698500">
                <a:tc>
                  <a:txBody>
                    <a:bodyPr/>
                    <a:lstStyle/>
                    <a:p>
                      <a:r>
                        <a:rPr sz="1725">
                          <a:solidFill>
                            <a:srgbClr val="24374D"/>
                          </a:solidFill>
                          <a:latin typeface="Arial"/>
                          <a:ea typeface="Arial"/>
                          <a:cs typeface="Arial"/>
                        </a:rPr>
                        <a:t>Assistant</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725">
                          <a:solidFill>
                            <a:srgbClr val="24374D"/>
                          </a:solidFill>
                          <a:latin typeface="Arial"/>
                          <a:ea typeface="Arial"/>
                          <a:cs typeface="Arial"/>
                        </a:rPr>
                        <a:t>POST /api/ai/chat</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c>
                  <a:txBody>
                    <a:bodyPr/>
                    <a:lstStyle/>
                    <a:p>
                      <a:r>
                        <a:rPr sz="1725">
                          <a:solidFill>
                            <a:srgbClr val="24374D"/>
                          </a:solidFill>
                          <a:latin typeface="Arial"/>
                          <a:ea typeface="Arial"/>
                          <a:cs typeface="Arial"/>
                        </a:rPr>
                        <a:t>Role-filtered private conversation</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bl>
          </a:graphicData>
        </a:graphic>
      </p:graphicFrame>
    </p:spTree>
    <p:extLst>
      <p:ext uri="{BB962C8B-B14F-4D97-AF65-F5344CB8AC3E}">
        <p14:creationId xmlns:p14="http://schemas.microsoft.com/office/powerpoint/2010/main" val="276884060"/>
      </p:ext>
    </p:extLst>
  </p:cSld>
</p:sld>
</file>

<file path=ppt/slides/slide27.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3F06CE47-4886-4055-A4F1-63165B77C036}"/>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Appendix: persistent collections</a:t>
            </a:r>
          </a:p>
        </p:txBody>
      </p:sp>
      <p:sp>
        <p:nvSpPr>
          <p:cNvPr id="2" name="footer">
            <a:extLst xmlns:a="http://schemas.openxmlformats.org/drawingml/2006/main">
              <a:ext uri="{FF2B5EF4-FFF2-40B4-BE49-F238E27FC236}">
                <a16:creationId xmlns:a16="http://schemas.microsoft.com/office/drawing/2014/main" id="{BB18AC51-1AF0-49E6-82DD-A32F5018A7EA}"/>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6C821964-2F3C-4A44-8D49-FA02BA9E3F33}"/>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27</a:t>
            </a:r>
          </a:p>
        </p:txBody>
      </p:sp>
      <p:graphicFrame>
        <p:nvGraphicFramePr>
          <p:cNvPr id="4" name="">
            <a:extLst xmlns:a="http://schemas.openxmlformats.org/drawingml/2006/main">
              <a:ext uri="{FF2B5EF4-FFF2-40B4-BE49-F238E27FC236}">
                <a16:creationId xmlns:a16="http://schemas.microsoft.com/office/drawing/2014/main" id="{653D9B7E-B547-446C-AF39-C9A1D3902925}"/>
              </a:ext>
            </a:extLst>
          </p:cNvPr>
          <p:cNvGraphicFramePr/>
          <p:nvPr/>
        </p:nvGraphicFramePr>
        <p:xfrm>
          <a:off xmlns:a="http://schemas.openxmlformats.org/drawingml/2006/main" x="609600" y="1809750"/>
          <a:ext xmlns:a="http://schemas.openxmlformats.org/drawingml/2006/main" cx="10972800" cy="4191000"/>
        </p:xfrm>
        <a:graphic xmlns:a="http://schemas.openxmlformats.org/drawingml/2006/main">
          <a:graphicData uri="http://schemas.openxmlformats.org/drawingml/2006/table">
            <a:tbl>
              <a:tblPr/>
              <a:tblGrid>
                <a:gridCol w="2762250"/>
                <a:gridCol w="8210550"/>
              </a:tblGrid>
              <a:tr h="698500">
                <a:tc>
                  <a:txBody>
                    <a:bodyPr/>
                    <a:lstStyle/>
                    <a:p>
                      <a:r>
                        <a:rPr sz="1725" b="1">
                          <a:solidFill>
                            <a:srgbClr val="FFFFFF"/>
                          </a:solidFill>
                          <a:latin typeface="Arial"/>
                          <a:ea typeface="Arial"/>
                          <a:cs typeface="Arial"/>
                        </a:rPr>
                        <a:t>Collection</a:t>
                      </a:r>
                    </a:p>
                  </a:txBody>
                  <a:tcPr marL="152400" marR="152400" marT="133350" marB="95250" anchor="ctr">
                    <a:lnL w="6191">
                      <a:solidFill>
                        <a:srgbClr val="C9D3DE"/>
                      </a:solidFill>
                      <a:prstDash val="solid"/>
                    </a:lnL>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c>
                  <a:txBody>
                    <a:bodyPr/>
                    <a:lstStyle/>
                    <a:p>
                      <a:r>
                        <a:rPr sz="1725" b="1">
                          <a:solidFill>
                            <a:srgbClr val="FFFFFF"/>
                          </a:solidFill>
                          <a:latin typeface="Arial"/>
                          <a:ea typeface="Arial"/>
                          <a:cs typeface="Arial"/>
                        </a:rPr>
                        <a:t>Important stored fields</a:t>
                      </a:r>
                    </a:p>
                  </a:txBody>
                  <a:tcPr marL="152400" marR="152400" marT="133350" marB="95250" anchor="ctr">
                    <a:lnR w="6191">
                      <a:solidFill>
                        <a:srgbClr val="C9D3DE"/>
                      </a:solidFill>
                      <a:prstDash val="solid"/>
                    </a:lnR>
                    <a:lnT w="6191">
                      <a:solidFill>
                        <a:srgbClr val="C9D3DE"/>
                      </a:solidFill>
                      <a:prstDash val="solid"/>
                    </a:lnT>
                    <a:lnB w="6191">
                      <a:solidFill>
                        <a:srgbClr val="C9D3DE"/>
                      </a:solidFill>
                      <a:prstDash val="solid"/>
                    </a:lnB>
                    <a:solidFill>
                      <a:srgbClr val="10233F"/>
                    </a:solidFill>
                  </a:tcPr>
                </a:tc>
              </a:tr>
              <a:tr h="698500">
                <a:tc>
                  <a:txBody>
                    <a:bodyPr/>
                    <a:lstStyle/>
                    <a:p>
                      <a:r>
                        <a:rPr sz="1725">
                          <a:solidFill>
                            <a:srgbClr val="24374D"/>
                          </a:solidFill>
                          <a:latin typeface="Arial"/>
                          <a:ea typeface="Arial"/>
                          <a:cs typeface="Arial"/>
                        </a:rPr>
                        <a:t>Enrollment</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725">
                          <a:solidFill>
                            <a:srgbClr val="24374D"/>
                          </a:solidFill>
                          <a:latin typeface="Arial"/>
                          <a:ea typeface="Arial"/>
                          <a:cs typeface="Arial"/>
                        </a:rPr>
                        <a:t>student, course, completedLessons, watchSessions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698500">
                <a:tc>
                  <a:txBody>
                    <a:bodyPr/>
                    <a:lstStyle/>
                    <a:p>
                      <a:r>
                        <a:rPr sz="1725">
                          <a:solidFill>
                            <a:srgbClr val="24374D"/>
                          </a:solidFill>
                          <a:latin typeface="Arial"/>
                          <a:ea typeface="Arial"/>
                          <a:cs typeface="Arial"/>
                        </a:rPr>
                        <a:t>QuizAttempt</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725">
                          <a:solidFill>
                            <a:srgbClr val="24374D"/>
                          </a:solidFill>
                          <a:latin typeface="Arial"/>
                          <a:ea typeface="Arial"/>
                          <a:cs typeface="Arial"/>
                        </a:rPr>
                        <a:t>student, quiz, status, deadline and submitted result</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r h="698500">
                <a:tc>
                  <a:txBody>
                    <a:bodyPr/>
                    <a:lstStyle/>
                    <a:p>
                      <a:r>
                        <a:rPr sz="1725">
                          <a:solidFill>
                            <a:srgbClr val="24374D"/>
                          </a:solidFill>
                          <a:latin typeface="Arial"/>
                          <a:ea typeface="Arial"/>
                          <a:cs typeface="Arial"/>
                        </a:rPr>
                        <a:t>Assignment</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725">
                          <a:solidFill>
                            <a:srgbClr val="24374D"/>
                          </a:solidFill>
                          <a:latin typeface="Arial"/>
                          <a:ea typeface="Arial"/>
                          <a:cs typeface="Arial"/>
                        </a:rPr>
                        <a:t>course, instructor, dueDate and submissions</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r h="698500">
                <a:tc>
                  <a:txBody>
                    <a:bodyPr/>
                    <a:lstStyle/>
                    <a:p>
                      <a:r>
                        <a:rPr sz="1725">
                          <a:solidFill>
                            <a:srgbClr val="24374D"/>
                          </a:solidFill>
                          <a:latin typeface="Arial"/>
                          <a:ea typeface="Arial"/>
                          <a:cs typeface="Arial"/>
                        </a:rPr>
                        <a:t>Certificate</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E8F1F4"/>
                    </a:solidFill>
                  </a:tcPr>
                </a:tc>
                <a:tc>
                  <a:txBody>
                    <a:bodyPr/>
                    <a:lstStyle/>
                    <a:p>
                      <a:r>
                        <a:rPr sz="1725">
                          <a:solidFill>
                            <a:srgbClr val="24374D"/>
                          </a:solidFill>
                          <a:latin typeface="Arial"/>
                          <a:ea typeface="Arial"/>
                          <a:cs typeface="Arial"/>
                        </a:rPr>
                        <a:t>student, course, enrollment, assessmentAttempt</a:t>
                      </a:r>
                    </a:p>
                  </a:txBody>
                  <a:tcPr marL="152400" marR="152400" marT="133350" marB="95250" anchor="ctr">
                    <a:lnR w="6191">
                      <a:solidFill>
                        <a:srgbClr val="C9D3DE"/>
                      </a:solidFill>
                      <a:prstDash val="solid"/>
                    </a:lnR>
                    <a:lnB w="6191">
                      <a:solidFill>
                        <a:srgbClr val="C9D3DE"/>
                      </a:solidFill>
                      <a:prstDash val="solid"/>
                    </a:lnB>
                    <a:solidFill>
                      <a:srgbClr val="E8F1F4"/>
                    </a:solidFill>
                  </a:tcPr>
                </a:tc>
              </a:tr>
              <a:tr h="698500">
                <a:tc>
                  <a:txBody>
                    <a:bodyPr/>
                    <a:lstStyle/>
                    <a:p>
                      <a:r>
                        <a:rPr sz="1725">
                          <a:solidFill>
                            <a:srgbClr val="24374D"/>
                          </a:solidFill>
                          <a:latin typeface="Arial"/>
                          <a:ea typeface="Arial"/>
                          <a:cs typeface="Arial"/>
                        </a:rPr>
                        <a:t>Private tools</a:t>
                      </a:r>
                    </a:p>
                  </a:txBody>
                  <a:tcPr marL="152400" marR="152400" marT="133350" marB="95250" anchor="ctr">
                    <a:lnL w="6191">
                      <a:solidFill>
                        <a:srgbClr val="C9D3DE"/>
                      </a:solidFill>
                      <a:prstDash val="solid"/>
                    </a:lnL>
                    <a:lnR w="6191">
                      <a:solidFill>
                        <a:srgbClr val="C9D3DE"/>
                      </a:solidFill>
                      <a:prstDash val="solid"/>
                    </a:lnR>
                    <a:lnB w="6191">
                      <a:solidFill>
                        <a:srgbClr val="C9D3DE"/>
                      </a:solidFill>
                      <a:prstDash val="solid"/>
                    </a:lnB>
                    <a:solidFill>
                      <a:srgbClr val="FFFFFF"/>
                    </a:solidFill>
                  </a:tcPr>
                </a:tc>
                <a:tc>
                  <a:txBody>
                    <a:bodyPr/>
                    <a:lstStyle/>
                    <a:p>
                      <a:r>
                        <a:rPr sz="1725">
                          <a:solidFill>
                            <a:srgbClr val="24374D"/>
                          </a:solidFill>
                          <a:latin typeface="Arial"/>
                          <a:ea typeface="Arial"/>
                          <a:cs typeface="Arial"/>
                        </a:rPr>
                        <a:t>Owner reference plus note, review or conversation data</a:t>
                      </a:r>
                    </a:p>
                  </a:txBody>
                  <a:tcPr marL="152400" marR="152400" marT="133350" marB="95250" anchor="ctr">
                    <a:lnR w="6191">
                      <a:solidFill>
                        <a:srgbClr val="C9D3DE"/>
                      </a:solidFill>
                      <a:prstDash val="solid"/>
                    </a:lnR>
                    <a:lnB w="6191">
                      <a:solidFill>
                        <a:srgbClr val="C9D3DE"/>
                      </a:solidFill>
                      <a:prstDash val="solid"/>
                    </a:lnB>
                    <a:solidFill>
                      <a:srgbClr val="FFFFFF"/>
                    </a:solidFill>
                  </a:tcPr>
                </a:tc>
              </a:tr>
            </a:tbl>
          </a:graphicData>
        </a:graphic>
      </p:graphicFrame>
    </p:spTree>
    <p:extLst>
      <p:ext uri="{BB962C8B-B14F-4D97-AF65-F5344CB8AC3E}">
        <p14:creationId xmlns:p14="http://schemas.microsoft.com/office/powerpoint/2010/main" val="1548486596"/>
      </p:ext>
    </p:extLst>
  </p:cSld>
</p:sld>
</file>

<file path=ppt/slides/slide28.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B4C619B4-4F4A-44D9-BF9D-A5F6C4E4CE3F}"/>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Appendix: assessment and spaced repetition</a:t>
            </a:r>
          </a:p>
        </p:txBody>
      </p:sp>
      <p:sp>
        <p:nvSpPr>
          <p:cNvPr id="2" name="footer">
            <a:extLst xmlns:a="http://schemas.openxmlformats.org/drawingml/2006/main">
              <a:ext uri="{FF2B5EF4-FFF2-40B4-BE49-F238E27FC236}">
                <a16:creationId xmlns:a16="http://schemas.microsoft.com/office/drawing/2014/main" id="{E89BDF07-57BB-4FA0-BB39-908F96872CD3}"/>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40E6A2AB-18D4-4871-BE2F-3831F6922EF5}"/>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28</a:t>
            </a:r>
          </a:p>
        </p:txBody>
      </p:sp>
      <p:sp>
        <p:nvSpPr>
          <p:cNvPr id="4" name="text">
            <a:extLst xmlns:a="http://schemas.openxmlformats.org/drawingml/2006/main">
              <a:ext uri="{FF2B5EF4-FFF2-40B4-BE49-F238E27FC236}">
                <a16:creationId xmlns:a16="http://schemas.microsoft.com/office/drawing/2014/main" id="{05133F21-1DFA-4FB8-A894-8151DA69DC46}"/>
              </a:ext>
            </a:extLst>
          </p:cNvPr>
          <p:cNvSpPr>
            <a:spLocks xmlns:a="http://schemas.openxmlformats.org/drawingml/2006/main" noGrp="1"/>
          </p:cNvSpPr>
          <p:nvPr/>
        </p:nvSpPr>
        <p:spPr>
          <a:xfrm xmlns:a="http://schemas.openxmlformats.org/drawingml/2006/main">
            <a:off x="628650" y="188595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Assessment eligibility</a:t>
            </a:r>
          </a:p>
        </p:txBody>
      </p:sp>
      <p:sp>
        <p:nvSpPr>
          <p:cNvPr id="5" name="text">
            <a:extLst xmlns:a="http://schemas.openxmlformats.org/drawingml/2006/main">
              <a:ext uri="{FF2B5EF4-FFF2-40B4-BE49-F238E27FC236}">
                <a16:creationId xmlns:a16="http://schemas.microsoft.com/office/drawing/2014/main" id="{42C1A74A-B03F-4C4D-93D7-14FED652DBD0}"/>
              </a:ext>
            </a:extLst>
          </p:cNvPr>
          <p:cNvSpPr>
            <a:spLocks xmlns:a="http://schemas.openxmlformats.org/drawingml/2006/main" noGrp="1"/>
          </p:cNvSpPr>
          <p:nvPr/>
        </p:nvSpPr>
        <p:spPr>
          <a:xfrm xmlns:a="http://schemas.openxmlformats.org/drawingml/2006/main">
            <a:off x="628650" y="235267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Published course and membership checks precede the attempt.</a:t>
            </a:r>
          </a:p>
        </p:txBody>
      </p:sp>
      <p:sp>
        <p:nvSpPr>
          <p:cNvPr id="6" name="text">
            <a:extLst xmlns:a="http://schemas.openxmlformats.org/drawingml/2006/main">
              <a:ext uri="{FF2B5EF4-FFF2-40B4-BE49-F238E27FC236}">
                <a16:creationId xmlns:a16="http://schemas.microsoft.com/office/drawing/2014/main" id="{10AA5BA8-9DF2-4E1B-B5C4-070B36F9636F}"/>
              </a:ext>
            </a:extLst>
          </p:cNvPr>
          <p:cNvSpPr>
            <a:spLocks xmlns:a="http://schemas.openxmlformats.org/drawingml/2006/main" noGrp="1"/>
          </p:cNvSpPr>
          <p:nvPr/>
        </p:nvSpPr>
        <p:spPr>
          <a:xfrm xmlns:a="http://schemas.openxmlformats.org/drawingml/2006/main">
            <a:off x="6572250" y="18859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Review quality</a:t>
            </a:r>
          </a:p>
        </p:txBody>
      </p:sp>
      <p:sp>
        <p:nvSpPr>
          <p:cNvPr id="7" name="text">
            <a:extLst xmlns:a="http://schemas.openxmlformats.org/drawingml/2006/main">
              <a:ext uri="{FF2B5EF4-FFF2-40B4-BE49-F238E27FC236}">
                <a16:creationId xmlns:a16="http://schemas.microsoft.com/office/drawing/2014/main" id="{B17ECC98-7646-445E-B910-362B81427820}"/>
              </a:ext>
            </a:extLst>
          </p:cNvPr>
          <p:cNvSpPr>
            <a:spLocks xmlns:a="http://schemas.openxmlformats.org/drawingml/2006/main" noGrp="1"/>
          </p:cNvSpPr>
          <p:nvPr/>
        </p:nvSpPr>
        <p:spPr>
          <a:xfrm xmlns:a="http://schemas.openxmlformats.org/drawingml/2006/main">
            <a:off x="6572250" y="23526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Again 1, Hard 3, Good 4 and Easy 5</a:t>
            </a:r>
          </a:p>
        </p:txBody>
      </p:sp>
      <p:sp>
        <p:nvSpPr>
          <p:cNvPr id="8" name="text">
            <a:extLst xmlns:a="http://schemas.openxmlformats.org/drawingml/2006/main">
              <a:ext uri="{FF2B5EF4-FFF2-40B4-BE49-F238E27FC236}">
                <a16:creationId xmlns:a16="http://schemas.microsoft.com/office/drawing/2014/main" id="{130C0B1E-B4A5-4AB3-91FF-D717DA7684A1}"/>
              </a:ext>
            </a:extLst>
          </p:cNvPr>
          <p:cNvSpPr>
            <a:spLocks xmlns:a="http://schemas.openxmlformats.org/drawingml/2006/main" noGrp="1"/>
          </p:cNvSpPr>
          <p:nvPr/>
        </p:nvSpPr>
        <p:spPr>
          <a:xfrm xmlns:a="http://schemas.openxmlformats.org/drawingml/2006/main">
            <a:off x="628650" y="3886200"/>
            <a:ext cx="5048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Server scoring</a:t>
            </a:r>
          </a:p>
        </p:txBody>
      </p:sp>
      <p:sp>
        <p:nvSpPr>
          <p:cNvPr id="9" name="text">
            <a:extLst xmlns:a="http://schemas.openxmlformats.org/drawingml/2006/main">
              <a:ext uri="{FF2B5EF4-FFF2-40B4-BE49-F238E27FC236}">
                <a16:creationId xmlns:a16="http://schemas.microsoft.com/office/drawing/2014/main" id="{D693FF53-BC06-4836-AB3A-998C4226ED5B}"/>
              </a:ext>
            </a:extLst>
          </p:cNvPr>
          <p:cNvSpPr>
            <a:spLocks xmlns:a="http://schemas.openxmlformats.org/drawingml/2006/main" noGrp="1"/>
          </p:cNvSpPr>
          <p:nvPr/>
        </p:nvSpPr>
        <p:spPr>
          <a:xfrm xmlns:a="http://schemas.openxmlformats.org/drawingml/2006/main">
            <a:off x="628650" y="4352925"/>
            <a:ext cx="5048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Stored keys, deadlines and passed attempts support certificates.</a:t>
            </a:r>
          </a:p>
        </p:txBody>
      </p:sp>
      <p:sp>
        <p:nvSpPr>
          <p:cNvPr id="10" name="text">
            <a:extLst xmlns:a="http://schemas.openxmlformats.org/drawingml/2006/main">
              <a:ext uri="{FF2B5EF4-FFF2-40B4-BE49-F238E27FC236}">
                <a16:creationId xmlns:a16="http://schemas.microsoft.com/office/drawing/2014/main" id="{F8789D94-F45F-4F84-ACD4-C93ABFB3191E}"/>
              </a:ext>
            </a:extLst>
          </p:cNvPr>
          <p:cNvSpPr>
            <a:spLocks xmlns:a="http://schemas.openxmlformats.org/drawingml/2006/main" noGrp="1"/>
          </p:cNvSpPr>
          <p:nvPr/>
        </p:nvSpPr>
        <p:spPr>
          <a:xfrm xmlns:a="http://schemas.openxmlformats.org/drawingml/2006/main">
            <a:off x="6572250" y="38862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Next review date</a:t>
            </a:r>
          </a:p>
        </p:txBody>
      </p:sp>
      <p:sp>
        <p:nvSpPr>
          <p:cNvPr id="11" name="text">
            <a:extLst xmlns:a="http://schemas.openxmlformats.org/drawingml/2006/main">
              <a:ext uri="{FF2B5EF4-FFF2-40B4-BE49-F238E27FC236}">
                <a16:creationId xmlns:a16="http://schemas.microsoft.com/office/drawing/2014/main" id="{43E01C2E-E99A-4318-999C-F1E7C57E8AF2}"/>
              </a:ext>
            </a:extLst>
          </p:cNvPr>
          <p:cNvSpPr>
            <a:spLocks xmlns:a="http://schemas.openxmlformats.org/drawingml/2006/main" noGrp="1"/>
          </p:cNvSpPr>
          <p:nvPr/>
        </p:nvSpPr>
        <p:spPr>
          <a:xfrm xmlns:a="http://schemas.openxmlformats.org/drawingml/2006/main">
            <a:off x="6572250" y="435292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SM-2 updates repetitions, ease, interval and dueAt per student.</a:t>
            </a:r>
          </a:p>
        </p:txBody>
      </p:sp>
    </p:spTree>
    <p:extLst>
      <p:ext uri="{BB962C8B-B14F-4D97-AF65-F5344CB8AC3E}">
        <p14:creationId xmlns:p14="http://schemas.microsoft.com/office/powerpoint/2010/main" val="1848249924"/>
      </p:ext>
    </p:extLst>
  </p:cSld>
</p:sld>
</file>

<file path=ppt/slides/slide29.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2" name="slide-title">
            <a:extLst xmlns:a="http://schemas.openxmlformats.org/drawingml/2006/main">
              <a:ext uri="{FF2B5EF4-FFF2-40B4-BE49-F238E27FC236}">
                <a16:creationId xmlns:a16="http://schemas.microsoft.com/office/drawing/2014/main" id="{603C860D-7B80-4B95-B3C3-259008B4A3A8}"/>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Appendix: likely viva questions</a:t>
            </a:r>
          </a:p>
        </p:txBody>
      </p:sp>
      <p:sp>
        <p:nvSpPr>
          <p:cNvPr id="2" name="footer">
            <a:extLst xmlns:a="http://schemas.openxmlformats.org/drawingml/2006/main">
              <a:ext uri="{FF2B5EF4-FFF2-40B4-BE49-F238E27FC236}">
                <a16:creationId xmlns:a16="http://schemas.microsoft.com/office/drawing/2014/main" id="{AEA6D4C7-53F0-4512-9EE4-D3976CA5AC08}"/>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E9C40E37-1DE7-4D87-A3F1-84D9AFE49176}"/>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29</a:t>
            </a:r>
          </a:p>
        </p:txBody>
      </p:sp>
      <p:sp>
        <p:nvSpPr>
          <p:cNvPr id="4" name="text">
            <a:extLst xmlns:a="http://schemas.openxmlformats.org/drawingml/2006/main">
              <a:ext uri="{FF2B5EF4-FFF2-40B4-BE49-F238E27FC236}">
                <a16:creationId xmlns:a16="http://schemas.microsoft.com/office/drawing/2014/main" id="{33F9410B-D7D3-4F79-BBB5-73F8AD2867BD}"/>
              </a:ext>
            </a:extLst>
          </p:cNvPr>
          <p:cNvSpPr>
            <a:spLocks xmlns:a="http://schemas.openxmlformats.org/drawingml/2006/main" noGrp="1"/>
          </p:cNvSpPr>
          <p:nvPr/>
        </p:nvSpPr>
        <p:spPr>
          <a:xfrm xmlns:a="http://schemas.openxmlformats.org/drawingml/2006/main">
            <a:off x="628650" y="18097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Why check permissions on the backend?</a:t>
            </a:r>
          </a:p>
        </p:txBody>
      </p:sp>
      <p:sp>
        <p:nvSpPr>
          <p:cNvPr id="5" name="text">
            <a:extLst xmlns:a="http://schemas.openxmlformats.org/drawingml/2006/main">
              <a:ext uri="{FF2B5EF4-FFF2-40B4-BE49-F238E27FC236}">
                <a16:creationId xmlns:a16="http://schemas.microsoft.com/office/drawing/2014/main" id="{FEBA1F1E-2F21-4402-8169-EB92383810F9}"/>
              </a:ext>
            </a:extLst>
          </p:cNvPr>
          <p:cNvSpPr>
            <a:spLocks xmlns:a="http://schemas.openxmlformats.org/drawingml/2006/main" noGrp="1"/>
          </p:cNvSpPr>
          <p:nvPr/>
        </p:nvSpPr>
        <p:spPr>
          <a:xfrm xmlns:a="http://schemas.openxmlformats.org/drawingml/2006/main">
            <a:off x="628650" y="223837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A client can call an endpoint directly.</a:t>
            </a:r>
          </a:p>
        </p:txBody>
      </p:sp>
      <p:sp>
        <p:nvSpPr>
          <p:cNvPr id="6" name="text">
            <a:extLst xmlns:a="http://schemas.openxmlformats.org/drawingml/2006/main">
              <a:ext uri="{FF2B5EF4-FFF2-40B4-BE49-F238E27FC236}">
                <a16:creationId xmlns:a16="http://schemas.microsoft.com/office/drawing/2014/main" id="{B058449E-E1AF-4A9E-98A7-5CAA744BC486}"/>
              </a:ext>
            </a:extLst>
          </p:cNvPr>
          <p:cNvSpPr>
            <a:spLocks xmlns:a="http://schemas.openxmlformats.org/drawingml/2006/main" noGrp="1"/>
          </p:cNvSpPr>
          <p:nvPr/>
        </p:nvSpPr>
        <p:spPr>
          <a:xfrm xmlns:a="http://schemas.openxmlformats.org/drawingml/2006/main">
            <a:off x="628650" y="288607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What is RAG doing here?</a:t>
            </a:r>
          </a:p>
        </p:txBody>
      </p:sp>
      <p:sp>
        <p:nvSpPr>
          <p:cNvPr id="7" name="text">
            <a:extLst xmlns:a="http://schemas.openxmlformats.org/drawingml/2006/main">
              <a:ext uri="{FF2B5EF4-FFF2-40B4-BE49-F238E27FC236}">
                <a16:creationId xmlns:a16="http://schemas.microsoft.com/office/drawing/2014/main" id="{72668635-9613-491C-AAA1-A48135782D2D}"/>
              </a:ext>
            </a:extLst>
          </p:cNvPr>
          <p:cNvSpPr>
            <a:spLocks xmlns:a="http://schemas.openxmlformats.org/drawingml/2006/main" noGrp="1"/>
          </p:cNvSpPr>
          <p:nvPr/>
        </p:nvSpPr>
        <p:spPr>
          <a:xfrm xmlns:a="http://schemas.openxmlformats.org/drawingml/2006/main">
            <a:off x="628650" y="33147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It supplies relevant permitted evidence to the model.</a:t>
            </a:r>
          </a:p>
        </p:txBody>
      </p:sp>
      <p:sp>
        <p:nvSpPr>
          <p:cNvPr id="8" name="text">
            <a:extLst xmlns:a="http://schemas.openxmlformats.org/drawingml/2006/main">
              <a:ext uri="{FF2B5EF4-FFF2-40B4-BE49-F238E27FC236}">
                <a16:creationId xmlns:a16="http://schemas.microsoft.com/office/drawing/2014/main" id="{909E722D-0DA2-4CDB-A067-5BF7B9A9BCA7}"/>
              </a:ext>
            </a:extLst>
          </p:cNvPr>
          <p:cNvSpPr>
            <a:spLocks xmlns:a="http://schemas.openxmlformats.org/drawingml/2006/main" noGrp="1"/>
          </p:cNvSpPr>
          <p:nvPr/>
        </p:nvSpPr>
        <p:spPr>
          <a:xfrm xmlns:a="http://schemas.openxmlformats.org/drawingml/2006/main">
            <a:off x="628650" y="396240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How do old sessions become invalid?</a:t>
            </a:r>
          </a:p>
        </p:txBody>
      </p:sp>
      <p:sp>
        <p:nvSpPr>
          <p:cNvPr id="9" name="text">
            <a:extLst xmlns:a="http://schemas.openxmlformats.org/drawingml/2006/main">
              <a:ext uri="{FF2B5EF4-FFF2-40B4-BE49-F238E27FC236}">
                <a16:creationId xmlns:a16="http://schemas.microsoft.com/office/drawing/2014/main" id="{505C3DCD-C0E3-445C-A42F-0C77EB9599DD}"/>
              </a:ext>
            </a:extLst>
          </p:cNvPr>
          <p:cNvSpPr>
            <a:spLocks xmlns:a="http://schemas.openxmlformats.org/drawingml/2006/main" noGrp="1"/>
          </p:cNvSpPr>
          <p:nvPr/>
        </p:nvSpPr>
        <p:spPr>
          <a:xfrm xmlns:a="http://schemas.openxmlformats.org/drawingml/2006/main">
            <a:off x="628650" y="4391025"/>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The API checks the current account token version.</a:t>
            </a:r>
          </a:p>
        </p:txBody>
      </p:sp>
      <p:sp>
        <p:nvSpPr>
          <p:cNvPr id="10" name="text">
            <a:extLst xmlns:a="http://schemas.openxmlformats.org/drawingml/2006/main">
              <a:ext uri="{FF2B5EF4-FFF2-40B4-BE49-F238E27FC236}">
                <a16:creationId xmlns:a16="http://schemas.microsoft.com/office/drawing/2014/main" id="{EACBDFC4-48B1-4424-BF3D-7F28209241B7}"/>
              </a:ext>
            </a:extLst>
          </p:cNvPr>
          <p:cNvSpPr>
            <a:spLocks xmlns:a="http://schemas.openxmlformats.org/drawingml/2006/main" noGrp="1"/>
          </p:cNvSpPr>
          <p:nvPr/>
        </p:nvSpPr>
        <p:spPr>
          <a:xfrm xmlns:a="http://schemas.openxmlformats.org/drawingml/2006/main">
            <a:off x="628650" y="50387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0233F"/>
                </a:solidFill>
                <a:latin typeface="Arial"/>
                <a:ea typeface="Arial"/>
                <a:cs typeface="Arial"/>
              </a:defRPr>
            </a:defPPr>
          </a:lstStyle>
          <a:p xmlns:a="http://schemas.openxmlformats.org/drawingml/2006/main">
            <a:pPr algn="l">
              <a:defRPr sz="2100" b="1">
                <a:solidFill>
                  <a:srgbClr val="10233F"/>
                </a:solidFill>
                <a:latin typeface="Arial"/>
                <a:ea typeface="Arial"/>
                <a:cs typeface="Arial"/>
              </a:defRPr>
            </a:pPr>
            <a:r>
              <a:rPr sz="2100" b="1">
                <a:solidFill>
                  <a:srgbClr val="10233F"/>
                </a:solidFill>
                <a:latin typeface="Arial"/>
                <a:ea typeface="Arial"/>
                <a:cs typeface="Arial"/>
              </a:rPr>
              <a:t>What does the test suite prove?</a:t>
            </a:r>
          </a:p>
        </p:txBody>
      </p:sp>
      <p:sp>
        <p:nvSpPr>
          <p:cNvPr id="11" name="text">
            <a:extLst xmlns:a="http://schemas.openxmlformats.org/drawingml/2006/main">
              <a:ext uri="{FF2B5EF4-FFF2-40B4-BE49-F238E27FC236}">
                <a16:creationId xmlns:a16="http://schemas.microsoft.com/office/drawing/2014/main" id="{756B1D01-E622-46A0-AD9B-94CF16CCBA84}"/>
              </a:ext>
            </a:extLst>
          </p:cNvPr>
          <p:cNvSpPr>
            <a:spLocks xmlns:a="http://schemas.openxmlformats.org/drawingml/2006/main" noGrp="1"/>
          </p:cNvSpPr>
          <p:nvPr/>
        </p:nvSpPr>
        <p:spPr>
          <a:xfrm xmlns:a="http://schemas.openxmlformats.org/drawingml/2006/main">
            <a:off x="628650" y="54673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26579"/>
                </a:solidFill>
                <a:latin typeface="Arial"/>
                <a:ea typeface="Arial"/>
                <a:cs typeface="Arial"/>
              </a:defRPr>
            </a:defPPr>
          </a:lstStyle>
          <a:p xmlns:a="http://schemas.openxmlformats.org/drawingml/2006/main">
            <a:pPr algn="l">
              <a:defRPr sz="1800" b="0">
                <a:solidFill>
                  <a:srgbClr val="526579"/>
                </a:solidFill>
                <a:latin typeface="Arial"/>
                <a:ea typeface="Arial"/>
                <a:cs typeface="Arial"/>
              </a:defRPr>
            </a:pPr>
            <a:r>
              <a:rPr sz="1800" b="0">
                <a:solidFill>
                  <a:srgbClr val="526579"/>
                </a:solidFill>
                <a:latin typeface="Arial"/>
                <a:ea typeface="Arial"/>
                <a:cs typeface="Arial"/>
              </a:rPr>
              <a:t>Local behavior and boundaries, with live quality checks separate.</a:t>
            </a:r>
          </a:p>
        </p:txBody>
      </p:sp>
    </p:spTree>
    <p:extLst>
      <p:ext uri="{BB962C8B-B14F-4D97-AF65-F5344CB8AC3E}">
        <p14:creationId xmlns:p14="http://schemas.microsoft.com/office/powerpoint/2010/main" val="391548234"/>
      </p:ext>
    </p:extLst>
  </p:cSld>
</p:sld>
</file>

<file path=ppt/slides/slide30.xml><?xml version="1.0" encoding="utf-8"?>
<p:sld xmlns:p="http://schemas.openxmlformats.org/presentationml/2006/main">
  <p:cSld>
    <p:bg>
      <p:bgPr>
        <a:solidFill xmlns:a="http://schemas.openxmlformats.org/drawingml/2006/main">
          <a:srgbClr val="F6F8FB"/>
        </a:solidFill>
      </p:bgPr>
    </p:bg>
    <p:spTree>
      <p:nvGrpSpPr>
        <p:cNvPr id="1" name=""/>
        <p:cNvGrpSpPr/>
        <p:nvPr/>
      </p:nvGrpSpPr>
      <p:grpSpPr>
        <a:xfrm xmlns:a="http://schemas.openxmlformats.org/drawingml/2006/main"/>
      </p:grpSpPr>
      <p:sp>
        <p:nvSpPr>
          <p:cNvPr id="13" name="slide-title">
            <a:extLst xmlns:a="http://schemas.openxmlformats.org/drawingml/2006/main">
              <a:ext uri="{FF2B5EF4-FFF2-40B4-BE49-F238E27FC236}">
                <a16:creationId xmlns:a16="http://schemas.microsoft.com/office/drawing/2014/main" id="{88C4A997-B887-4E21-B282-B5579D1F213C}"/>
              </a:ext>
            </a:extLst>
          </p:cNvPr>
          <p:cNvSpPr>
            <a:spLocks xmlns:a="http://schemas.openxmlformats.org/drawingml/2006/main" noGrp="1"/>
          </p:cNvSpPr>
          <p:nvPr/>
        </p:nvSpPr>
        <p:spPr>
          <a:xfrm xmlns:a="http://schemas.openxmlformats.org/drawingml/2006/main">
            <a:off x="609600" y="438150"/>
            <a:ext cx="109347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0233F"/>
                </a:solidFill>
                <a:latin typeface="Arial"/>
                <a:ea typeface="Arial"/>
                <a:cs typeface="Arial"/>
              </a:defRPr>
            </a:defPPr>
          </a:lstStyle>
          <a:p xmlns:a="http://schemas.openxmlformats.org/drawingml/2006/main">
            <a:pPr algn="l">
              <a:defRPr sz="3300" b="1">
                <a:solidFill>
                  <a:srgbClr val="10233F"/>
                </a:solidFill>
                <a:latin typeface="Arial"/>
                <a:ea typeface="Arial"/>
                <a:cs typeface="Arial"/>
              </a:defRPr>
            </a:pPr>
            <a:r>
              <a:rPr sz="3300" b="1">
                <a:solidFill>
                  <a:srgbClr val="10233F"/>
                </a:solidFill>
                <a:latin typeface="Arial"/>
                <a:ea typeface="Arial"/>
                <a:cs typeface="Arial"/>
              </a:rPr>
              <a:t>Appendix: source code and local setup</a:t>
            </a:r>
          </a:p>
        </p:txBody>
      </p:sp>
      <p:sp>
        <p:nvSpPr>
          <p:cNvPr id="2" name="footer">
            <a:extLst xmlns:a="http://schemas.openxmlformats.org/drawingml/2006/main">
              <a:ext uri="{FF2B5EF4-FFF2-40B4-BE49-F238E27FC236}">
                <a16:creationId xmlns:a16="http://schemas.microsoft.com/office/drawing/2014/main" id="{504F1154-F7B1-4870-A0B1-95EE53E137DD}"/>
              </a:ext>
            </a:extLst>
          </p:cNvPr>
          <p:cNvSpPr>
            <a:spLocks xmlns:a="http://schemas.openxmlformats.org/drawingml/2006/main" noGrp="1"/>
          </p:cNvSpPr>
          <p:nvPr/>
        </p:nvSpPr>
        <p:spPr>
          <a:xfrm xmlns:a="http://schemas.openxmlformats.org/drawingml/2006/main">
            <a:off x="609600" y="6457950"/>
            <a:ext cx="5715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526579"/>
                </a:solidFill>
                <a:latin typeface="Arial"/>
                <a:ea typeface="Arial"/>
                <a:cs typeface="Arial"/>
              </a:defRPr>
            </a:defPPr>
          </a:lstStyle>
          <a:p xmlns:a="http://schemas.openxmlformats.org/drawingml/2006/main">
            <a:pPr algn="l">
              <a:defRPr sz="975" b="0">
                <a:solidFill>
                  <a:srgbClr val="526579"/>
                </a:solidFill>
                <a:latin typeface="Arial"/>
                <a:ea typeface="Arial"/>
                <a:cs typeface="Arial"/>
              </a:defRPr>
            </a:pPr>
            <a:r>
              <a:rPr sz="975" b="0">
                <a:solidFill>
                  <a:srgbClr val="526579"/>
                </a:solidFill>
                <a:latin typeface="Arial"/>
                <a:ea typeface="Arial"/>
                <a:cs typeface="Arial"/>
              </a:rPr>
              <a:t>GYANIX LEARNING PORTAL</a:t>
            </a:r>
          </a:p>
        </p:txBody>
      </p:sp>
      <p:sp>
        <p:nvSpPr>
          <p:cNvPr id="3" name="page-number">
            <a:extLst xmlns:a="http://schemas.openxmlformats.org/drawingml/2006/main">
              <a:ext uri="{FF2B5EF4-FFF2-40B4-BE49-F238E27FC236}">
                <a16:creationId xmlns:a16="http://schemas.microsoft.com/office/drawing/2014/main" id="{D948594B-75FA-47E7-B48D-3B2D09E23E6C}"/>
              </a:ext>
            </a:extLst>
          </p:cNvPr>
          <p:cNvSpPr>
            <a:spLocks xmlns:a="http://schemas.openxmlformats.org/drawingml/2006/main" noGrp="1"/>
          </p:cNvSpPr>
          <p:nvPr/>
        </p:nvSpPr>
        <p:spPr>
          <a:xfrm xmlns:a="http://schemas.openxmlformats.org/drawingml/2006/main">
            <a:off x="11049000" y="6438900"/>
            <a:ext cx="495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9"/>
                </a:solidFill>
                <a:latin typeface="Arial"/>
                <a:ea typeface="Arial"/>
                <a:cs typeface="Arial"/>
              </a:defRPr>
            </a:defPPr>
          </a:lstStyle>
          <a:p xmlns:a="http://schemas.openxmlformats.org/drawingml/2006/main">
            <a:pPr algn="r">
              <a:defRPr sz="1125" b="0">
                <a:solidFill>
                  <a:srgbClr val="526579"/>
                </a:solidFill>
                <a:latin typeface="Arial"/>
                <a:ea typeface="Arial"/>
                <a:cs typeface="Arial"/>
              </a:defRPr>
            </a:pPr>
            <a:r>
              <a:rPr sz="1125" b="0">
                <a:solidFill>
                  <a:srgbClr val="526579"/>
                </a:solidFill>
                <a:latin typeface="Arial"/>
                <a:ea typeface="Arial"/>
                <a:cs typeface="Arial"/>
              </a:rPr>
              <a:t>30</a:t>
            </a:r>
          </a:p>
        </p:txBody>
      </p:sp>
      <p:sp>
        <p:nvSpPr>
          <p:cNvPr id="4" name="text">
            <a:extLst xmlns:a="http://schemas.openxmlformats.org/drawingml/2006/main">
              <a:ext uri="{FF2B5EF4-FFF2-40B4-BE49-F238E27FC236}">
                <a16:creationId xmlns:a16="http://schemas.microsoft.com/office/drawing/2014/main" id="{FE9DB6A8-8BD7-48AD-A336-7C82AAD3A154}"/>
              </a:ext>
            </a:extLst>
          </p:cNvPr>
          <p:cNvSpPr>
            <a:spLocks xmlns:a="http://schemas.openxmlformats.org/drawingml/2006/main" noGrp="1"/>
          </p:cNvSpPr>
          <p:nvPr/>
        </p:nvSpPr>
        <p:spPr>
          <a:xfrm xmlns:a="http://schemas.openxmlformats.org/drawingml/2006/main">
            <a:off x="628650" y="17811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87F8C"/>
                </a:solidFill>
                <a:latin typeface="Arial"/>
                <a:ea typeface="Arial"/>
                <a:cs typeface="Arial"/>
              </a:defRPr>
            </a:defPPr>
          </a:lstStyle>
          <a:p xmlns:a="http://schemas.openxmlformats.org/drawingml/2006/main">
            <a:pPr algn="l">
              <a:defRPr sz="1875" b="1">
                <a:solidFill>
                  <a:srgbClr val="087F8C"/>
                </a:solidFill>
                <a:latin typeface="Arial"/>
                <a:ea typeface="Arial"/>
                <a:cs typeface="Arial"/>
              </a:defRPr>
            </a:pPr>
            <a:r>
              <a:rPr sz="1875" b="1">
                <a:solidFill>
                  <a:srgbClr val="087F8C"/>
                </a:solidFill>
                <a:latin typeface="Arial"/>
                <a:ea typeface="Arial"/>
                <a:cs typeface="Arial"/>
              </a:rPr>
              <a:t>https://github.com/Jainesh-8305/gyanix-learning-portal</a:t>
            </a:r>
          </a:p>
        </p:txBody>
      </p:sp>
      <p:sp>
        <p:nvSpPr>
          <p:cNvPr id="5" name="text">
            <a:extLst xmlns:a="http://schemas.openxmlformats.org/drawingml/2006/main">
              <a:ext uri="{FF2B5EF4-FFF2-40B4-BE49-F238E27FC236}">
                <a16:creationId xmlns:a16="http://schemas.microsoft.com/office/drawing/2014/main" id="{9F8D29FB-573A-49A5-8D22-1D4C94A3E9E7}"/>
              </a:ext>
            </a:extLst>
          </p:cNvPr>
          <p:cNvSpPr>
            <a:spLocks xmlns:a="http://schemas.openxmlformats.org/drawingml/2006/main" noGrp="1"/>
          </p:cNvSpPr>
          <p:nvPr/>
        </p:nvSpPr>
        <p:spPr>
          <a:xfrm xmlns:a="http://schemas.openxmlformats.org/drawingml/2006/main">
            <a:off x="628650" y="27241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Runtime</a:t>
            </a:r>
          </a:p>
        </p:txBody>
      </p:sp>
      <p:sp>
        <p:nvSpPr>
          <p:cNvPr id="6" name="text">
            <a:extLst xmlns:a="http://schemas.openxmlformats.org/drawingml/2006/main">
              <a:ext uri="{FF2B5EF4-FFF2-40B4-BE49-F238E27FC236}">
                <a16:creationId xmlns:a16="http://schemas.microsoft.com/office/drawing/2014/main" id="{8BADB145-458F-4F18-8EB6-7095F3C009A3}"/>
              </a:ext>
            </a:extLst>
          </p:cNvPr>
          <p:cNvSpPr>
            <a:spLocks xmlns:a="http://schemas.openxmlformats.org/drawingml/2006/main" noGrp="1"/>
          </p:cNvSpPr>
          <p:nvPr/>
        </p:nvSpPr>
        <p:spPr>
          <a:xfrm xmlns:a="http://schemas.openxmlformats.org/drawingml/2006/main">
            <a:off x="628650" y="31908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Node.js 22.22+ and MongoDB 7</a:t>
            </a:r>
          </a:p>
        </p:txBody>
      </p:sp>
      <p:sp>
        <p:nvSpPr>
          <p:cNvPr id="7" name="text">
            <a:extLst xmlns:a="http://schemas.openxmlformats.org/drawingml/2006/main">
              <a:ext uri="{FF2B5EF4-FFF2-40B4-BE49-F238E27FC236}">
                <a16:creationId xmlns:a16="http://schemas.microsoft.com/office/drawing/2014/main" id="{589C0ABA-FC3A-4C89-A07B-F9D0360DDF55}"/>
              </a:ext>
            </a:extLst>
          </p:cNvPr>
          <p:cNvSpPr>
            <a:spLocks xmlns:a="http://schemas.openxmlformats.org/drawingml/2006/main" noGrp="1"/>
          </p:cNvSpPr>
          <p:nvPr/>
        </p:nvSpPr>
        <p:spPr>
          <a:xfrm xmlns:a="http://schemas.openxmlformats.org/drawingml/2006/main">
            <a:off x="6572250" y="27241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Start the app</a:t>
            </a:r>
          </a:p>
        </p:txBody>
      </p:sp>
      <p:sp>
        <p:nvSpPr>
          <p:cNvPr id="8" name="text">
            <a:extLst xmlns:a="http://schemas.openxmlformats.org/drawingml/2006/main">
              <a:ext uri="{FF2B5EF4-FFF2-40B4-BE49-F238E27FC236}">
                <a16:creationId xmlns:a16="http://schemas.microsoft.com/office/drawing/2014/main" id="{2B4BFC95-4ACE-440D-9A03-7D074E7357E3}"/>
              </a:ext>
            </a:extLst>
          </p:cNvPr>
          <p:cNvSpPr>
            <a:spLocks xmlns:a="http://schemas.openxmlformats.org/drawingml/2006/main" noGrp="1"/>
          </p:cNvSpPr>
          <p:nvPr/>
        </p:nvSpPr>
        <p:spPr>
          <a:xfrm xmlns:a="http://schemas.openxmlformats.org/drawingml/2006/main">
            <a:off x="6572250" y="31908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Install each package, configure private env files, then start the API and frontend.</a:t>
            </a:r>
          </a:p>
        </p:txBody>
      </p:sp>
      <p:sp>
        <p:nvSpPr>
          <p:cNvPr id="9" name="text">
            <a:extLst xmlns:a="http://schemas.openxmlformats.org/drawingml/2006/main">
              <a:ext uri="{FF2B5EF4-FFF2-40B4-BE49-F238E27FC236}">
                <a16:creationId xmlns:a16="http://schemas.microsoft.com/office/drawing/2014/main" id="{38876C76-C205-452D-A86C-2EED69E5DBF9}"/>
              </a:ext>
            </a:extLst>
          </p:cNvPr>
          <p:cNvSpPr>
            <a:spLocks xmlns:a="http://schemas.openxmlformats.org/drawingml/2006/main" noGrp="1"/>
          </p:cNvSpPr>
          <p:nvPr/>
        </p:nvSpPr>
        <p:spPr>
          <a:xfrm xmlns:a="http://schemas.openxmlformats.org/drawingml/2006/main">
            <a:off x="628650" y="45529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Project documentation</a:t>
            </a:r>
          </a:p>
        </p:txBody>
      </p:sp>
      <p:sp>
        <p:nvSpPr>
          <p:cNvPr id="10" name="text">
            <a:extLst xmlns:a="http://schemas.openxmlformats.org/drawingml/2006/main">
              <a:ext uri="{FF2B5EF4-FFF2-40B4-BE49-F238E27FC236}">
                <a16:creationId xmlns:a16="http://schemas.microsoft.com/office/drawing/2014/main" id="{1B561F69-AB01-4948-B356-BCDEFD853D79}"/>
              </a:ext>
            </a:extLst>
          </p:cNvPr>
          <p:cNvSpPr>
            <a:spLocks xmlns:a="http://schemas.openxmlformats.org/drawingml/2006/main" noGrp="1"/>
          </p:cNvSpPr>
          <p:nvPr/>
        </p:nvSpPr>
        <p:spPr>
          <a:xfrm xmlns:a="http://schemas.openxmlformats.org/drawingml/2006/main">
            <a:off x="628650" y="50196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README, architecture and assistant security notes</a:t>
            </a:r>
          </a:p>
        </p:txBody>
      </p:sp>
      <p:sp>
        <p:nvSpPr>
          <p:cNvPr id="11" name="text">
            <a:extLst xmlns:a="http://schemas.openxmlformats.org/drawingml/2006/main">
              <a:ext uri="{FF2B5EF4-FFF2-40B4-BE49-F238E27FC236}">
                <a16:creationId xmlns:a16="http://schemas.microsoft.com/office/drawing/2014/main" id="{E902211C-BF2C-4F19-8A3E-CA663B7D7D60}"/>
              </a:ext>
            </a:extLst>
          </p:cNvPr>
          <p:cNvSpPr>
            <a:spLocks xmlns:a="http://schemas.openxmlformats.org/drawingml/2006/main" noGrp="1"/>
          </p:cNvSpPr>
          <p:nvPr/>
        </p:nvSpPr>
        <p:spPr>
          <a:xfrm xmlns:a="http://schemas.openxmlformats.org/drawingml/2006/main">
            <a:off x="6572250" y="455295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87F8C"/>
                </a:solidFill>
                <a:latin typeface="Arial"/>
                <a:ea typeface="Arial"/>
                <a:cs typeface="Arial"/>
              </a:defRPr>
            </a:defPPr>
          </a:lstStyle>
          <a:p xmlns:a="http://schemas.openxmlformats.org/drawingml/2006/main">
            <a:pPr algn="l">
              <a:defRPr sz="2175" b="1">
                <a:solidFill>
                  <a:srgbClr val="087F8C"/>
                </a:solidFill>
                <a:latin typeface="Arial"/>
                <a:ea typeface="Arial"/>
                <a:cs typeface="Arial"/>
              </a:defRPr>
            </a:pPr>
            <a:r>
              <a:rPr sz="2175" b="1">
                <a:solidFill>
                  <a:srgbClr val="087F8C"/>
                </a:solidFill>
                <a:latin typeface="Arial"/>
                <a:ea typeface="Arial"/>
                <a:cs typeface="Arial"/>
              </a:rPr>
              <a:t>Evidence</a:t>
            </a:r>
          </a:p>
        </p:txBody>
      </p:sp>
      <p:sp>
        <p:nvSpPr>
          <p:cNvPr id="12" name="text">
            <a:extLst xmlns:a="http://schemas.openxmlformats.org/drawingml/2006/main">
              <a:ext uri="{FF2B5EF4-FFF2-40B4-BE49-F238E27FC236}">
                <a16:creationId xmlns:a16="http://schemas.microsoft.com/office/drawing/2014/main" id="{07D72340-7D64-40FA-B3BC-FFB00C4C8EDA}"/>
              </a:ext>
            </a:extLst>
          </p:cNvPr>
          <p:cNvSpPr>
            <a:spLocks xmlns:a="http://schemas.openxmlformats.org/drawingml/2006/main" noGrp="1"/>
          </p:cNvSpPr>
          <p:nvPr/>
        </p:nvSpPr>
        <p:spPr>
          <a:xfrm xmlns:a="http://schemas.openxmlformats.org/drawingml/2006/main">
            <a:off x="6572250" y="5019675"/>
            <a:ext cx="4953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4374D"/>
                </a:solidFill>
                <a:latin typeface="Arial"/>
                <a:ea typeface="Arial"/>
                <a:cs typeface="Arial"/>
              </a:defRPr>
            </a:defPPr>
          </a:lstStyle>
          <a:p xmlns:a="http://schemas.openxmlformats.org/drawingml/2006/main">
            <a:pPr algn="l">
              <a:defRPr sz="1875" b="0">
                <a:solidFill>
                  <a:srgbClr val="24374D"/>
                </a:solidFill>
                <a:latin typeface="Arial"/>
                <a:ea typeface="Arial"/>
                <a:cs typeface="Arial"/>
              </a:defRPr>
            </a:pPr>
            <a:r>
              <a:rPr sz="1875" b="0">
                <a:solidFill>
                  <a:srgbClr val="24374D"/>
                </a:solidFill>
                <a:latin typeface="Arial"/>
                <a:ea typeface="Arial"/>
                <a:cs typeface="Arial"/>
              </a:rPr>
              <a:t>Final audit report and dated local QA records</a:t>
            </a:r>
          </a:p>
        </p:txBody>
      </p:sp>
    </p:spTree>
    <p:extLst>
      <p:ext uri="{BB962C8B-B14F-4D97-AF65-F5344CB8AC3E}">
        <p14:creationId xmlns:p14="http://schemas.microsoft.com/office/powerpoint/2010/main" val="141925461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2026-10-15T05:19:52.1110000Z</dcterms:created>
  <dcterms:modified xsi:type="dcterms:W3CDTF">2026-10-15T05:19:52.1110000Z</dcterms:modified>
</coreProperties>
</file>